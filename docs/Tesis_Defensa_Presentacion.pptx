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5" r:id="rId26"/>
    <p:sldId id="259" r:id="rId5"/>
    <p:sldId id="276" r:id="rId27"/>
    <p:sldId id="261" r:id="rId7"/>
    <p:sldId id="262" r:id="rId8"/>
    <p:sldId id="263" r:id="rId9"/>
    <p:sldId id="264" r:id="rId10"/>
    <p:sldId id="265" r:id="rId11"/>
    <p:sldId id="266" r:id="rId12"/>
    <p:sldId id="267" r:id="rId13"/>
    <p:sldId id="277" r:id="rId28"/>
    <p:sldId id="278" r:id="rId29"/>
    <p:sldId id="279" r:id="rId30"/>
    <p:sldId id="268" r:id="rId14"/>
    <p:sldId id="269" r:id="rId15"/>
    <p:sldId id="271" r:id="rId17"/>
    <p:sldId id="272" r:id="rId18"/>
    <p:sldId id="273" r:id="rId19"/>
    <p:sldId id="274" r:id="rId20"/>
    <p:sldId id="270" r:id="rId16"/>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Saludo a la mesa. Presentar el título y a los autores. Una frase: la tesis propone y valida un método de fusión de imágenes visibles e infrarrojas basado en morfología matemática de una sola escala, optimizado automáticamente.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 20 minutos: del problema al método, del método a la evidencia (calidad de imagen, estadística y detección), y de la evidencia a las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Motivar con la imagen: la misma escena en VIS, IR y fusionada. El problema práctico es la vigilancia nocturna: ni VIS ni IR bastan por separado.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objetivo general y cuatro específicos: formular, optimizar, comparar y evaluar en tarea. Cada específico se responde en una sección de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hipótesis: H1 sobre el operador, H2 sobre la optimización, H3 sobre la utilidad en tarea. Adelantar que H3 dará el resultado más matizado y honesto de la tesis.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intuitivamente: la apertura elimina lo claro pequeño; restarla de la imagen lo aísla (WTH). El dual con el cierre da BTH. La fusión clásica reinyecta ese detalle sobre la base promediada.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corazón de la tesis, leído sobre el flujograma: cinco elementos estructurantes (un disco + cuatro líneas de largo 2r+1) por fuente; las respuestas lineales se promedian y se SUMAN a la del disco — la suma acumula evidencia de ambas geometrías, el máximo solo elige una. Entre fuentes sí se toma el máximo, y la reconstrucción pondera con m. El PSO (caja punteada) calibra r y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 controla la escala de las estructuras que se extraen; m cuánto realce se reinyecta. La aptitud publicada F_o combina fidelidad estructural (SSIM), información (entropía) y baja distorsión (PSNR). El barrido replica el Cuadro 1 de la FPUNA: el óptimo global de F_o para este operador es r=25 con m pequeño (≈0,07), que extrae estructuras grandes pero las pondera suavemente.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evaluaciones complementarias: calidad de imagen (TNO, sin referencia) y utilidad en tarea (LLVIP, con verdad de campo). En LLVIP solo cambian los píxeles de entrada; las etiquetas son las mismas, así el mAP aísla el efecto de la fusión.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Escena representativa: la propuesta (recuadro rojo) integra la firma térmica de las personas con la textura de la casa y la vegetación, con menos halos y ruido que RP/DWT y más contraste local que el clásico.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Negritas = mejor por columna. No hay método universalmente dominante: la propuesta lidera SSIM, LP el contraste (SD) y la información mutua, el Top-Hat clásico la actividad (SF). El perfil de la propuesta es la fidelidad estructural.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evidencia estadística sostiene las ventajas donde la propuesta las reclama: limpieza y estructura, con significancia tras corregir por comparaciones múltiples. El ranking global es honesto: la propuesta no domina todo; domina su perfil.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hallazgo más matizado: fusionar aporta muchísimo frente al VIS, pero ninguna fusión supera al IR puro en esta tarea nocturna. Entre fusiones, las diferencias son pequeñas: la calidad de imagen no se traslada automáticamente al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experimento que delimita el valor de la fusión: un único YOLOv8n entrenado con VIS+IR mezcladas (4.000 imágenes, 40 épocas) e inferencia por método. Las personas solo se ven bien en IR y las luces solo en VIS; la fusión es la única entrada que detecta ambas a la vez. La propuesta es la mejor fusión del estudio en este escenario: detecta ambas clases complementarias en una sola imagen.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M3FD con la evidencia visual: dos escenas reales de la validación. En la primera, las personas están bajo el puente a contraluz: invisibles para el detector en VIS, obvias en IR y recuperadas por la fusión. En la segunda, el semáforo y las luces no emiten calor: el IR no los ve, la fusión sí — junto con las personas. Una sola imagen, ambas clases: eso es lo que la fusión compra.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H1 y H2 quedan sostenidas con evidencia estadística. H3 solo parcialmente: es el resultado más honesto del trabajo y anticipa la pregunta natural del tribunal — calidad de imagen y utilidad en tarea son criterios distintos.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conclusiones: método formulado, óptimo hallado, perfil de calidad validado, ventaja sobre el clásico demostrada, y la lección sobre calidad vs. tarea.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con la recomendación práctica: qué método elegir según el criterio operativo. Dejar claro que el pipeline completo es reproducible desde el repositorio.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Agradecer a la mesa y al orientador. Ofrecer el repositorio para cualquier verificación.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8229600" cy="548640"/>
          </a:xfrm>
          <a:prstGeom prst="rect">
            <a:avLst/>
          </a:prstGeom>
          <a:noFill/>
          <a:ln/>
        </p:spPr>
        <p:txBody>
          <a:bodyPr wrap="square" lIns="0" tIns="0" rIns="0" bIns="0" rtlCol="0" anchor="ctr"/>
          <a:lstStyle/>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UNIVERSIDAD COMUNERA</a:t>
            </a:r>
            <a:endParaRPr lang="en-US" sz="1200" dirty="0"/>
          </a:p>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FACULTAD DE CIENCIAS Y TECNOLOGÍA — MAESTRÍA EN CIENCIAS DE DATOS</a:t>
            </a:r>
            <a:endParaRPr lang="en-US" sz="1200" dirty="0"/>
          </a:p>
        </p:txBody>
      </p:sp>
      <p:sp>
        <p:nvSpPr>
          <p:cNvPr id="3" name="Text 1"/>
          <p:cNvSpPr/>
          <p:nvPr/>
        </p:nvSpPr>
        <p:spPr>
          <a:xfrm>
            <a:off x="457200" y="1234440"/>
            <a:ext cx="8229600" cy="1051560"/>
          </a:xfrm>
          <a:prstGeom prst="rect">
            <a:avLst/>
          </a:prstGeom>
          <a:noFill/>
          <a:ln/>
        </p:spPr>
        <p:txBody>
          <a:bodyPr wrap="square" lIns="0" tIns="0" rIns="0" bIns="0" rtlCol="0" anchor="ctr"/>
          <a:lstStyle/>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Fusión de Imágenes Infrarrojas y Visibles</a:t>
            </a:r>
            <a:endParaRPr lang="en-US" sz="2700" dirty="0"/>
          </a:p>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mediante Morfología Matemática</a:t>
            </a:r>
            <a:endParaRPr lang="en-US" sz="2700" dirty="0"/>
          </a:p>
        </p:txBody>
      </p:sp>
      <p:sp>
        <p:nvSpPr>
          <p:cNvPr id="4" name="Text 2"/>
          <p:cNvSpPr/>
          <p:nvPr/>
        </p:nvSpPr>
        <p:spPr>
          <a:xfrm>
            <a:off x="731520" y="2331720"/>
            <a:ext cx="7680960" cy="640080"/>
          </a:xfrm>
          <a:prstGeom prst="rect">
            <a:avLst/>
          </a:prstGeom>
          <a:noFill/>
          <a:ln/>
        </p:spPr>
        <p:txBody>
          <a:bodyPr wrap="square" lIns="0" tIns="0" rIns="0" bIns="0" rtlCol="0" anchor="ctr"/>
          <a:lstStyle/>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Una propuesta de Top-Hat/Bottom-Hat de una sola escala con elementos estructurantes</a:t>
            </a:r>
            <a:endParaRPr lang="en-US" sz="1400" dirty="0"/>
          </a:p>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de disco y lineales, optimizada por PSO</a:t>
            </a:r>
            <a:endParaRPr lang="en-US" sz="1400" dirty="0"/>
          </a:p>
        </p:txBody>
      </p:sp>
      <p:sp>
        <p:nvSpPr>
          <p:cNvPr id="5" name="Text 3"/>
          <p:cNvSpPr/>
          <p:nvPr/>
        </p:nvSpPr>
        <p:spPr>
          <a:xfrm>
            <a:off x="457200" y="3127248"/>
            <a:ext cx="8229600" cy="320040"/>
          </a:xfrm>
          <a:prstGeom prst="rect">
            <a:avLst/>
          </a:prstGeom>
          <a:noFill/>
          <a:ln/>
        </p:spPr>
        <p:txBody>
          <a:bodyPr wrap="square" lIns="0" tIns="0" rIns="0" bIns="0" rtlCol="0" anchor="ctr"/>
          <a:lstStyle/>
          <a:p>
            <a:pPr algn="ctr" indent="0" marL="0">
              <a:buNone/>
            </a:pPr>
            <a:r>
              <a:rPr lang="en-US" sz="1300" dirty="0">
                <a:solidFill>
                  <a:srgbClr val="8B1A1A"/>
                </a:solidFill>
                <a:latin typeface="Times New Roman" pitchFamily="34" charset="0"/>
                <a:ea typeface="Times New Roman" pitchFamily="34" charset="-122"/>
                <a:cs typeface="Times New Roman" pitchFamily="34" charset="-120"/>
              </a:rPr>
              <a:t>Defensa de Tesis de Maestría</a:t>
            </a:r>
            <a:endParaRPr lang="en-US" sz="1300" dirty="0"/>
          </a:p>
        </p:txBody>
      </p:sp>
      <p:sp>
        <p:nvSpPr>
          <p:cNvPr id="6" name="Text 4"/>
          <p:cNvSpPr/>
          <p:nvPr/>
        </p:nvSpPr>
        <p:spPr>
          <a:xfrm>
            <a:off x="457200" y="3611880"/>
            <a:ext cx="8229600" cy="594360"/>
          </a:xfrm>
          <a:prstGeom prst="rect">
            <a:avLst/>
          </a:prstGeom>
          <a:noFill/>
          <a:ln/>
        </p:spPr>
        <p:txBody>
          <a:bodyPr wrap="square" lIns="0" tIns="0" rIns="0" bIns="0" rtlCol="0" anchor="ctr"/>
          <a:lstStyle/>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Autores:  Lic. Juan Pablo Bazán   ·   Ing. Yan Bajac</a:t>
            </a:r>
            <a:endParaRPr lang="en-US" sz="1300" dirty="0"/>
          </a:p>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Orientador:  D.Sc. Julio César Mello</a:t>
            </a:r>
            <a:endParaRPr lang="en-US" sz="1300" dirty="0"/>
          </a:p>
        </p:txBody>
      </p:sp>
      <p:sp>
        <p:nvSpPr>
          <p:cNvPr id="7" name="Text 5"/>
          <p:cNvSpPr/>
          <p:nvPr/>
        </p:nvSpPr>
        <p:spPr>
          <a:xfrm>
            <a:off x="457200" y="4434840"/>
            <a:ext cx="8229600" cy="27432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Asunción – Paraguay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Contenido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 / 22</a:t>
            </a:r>
            <a:endParaRPr lang="en-US" sz="900" dirty="0"/>
          </a:p>
        </p:txBody>
      </p:sp>
      <p:sp>
        <p:nvSpPr>
          <p:cNvPr id="4" name="Text 2"/>
          <p:cNvSpPr/>
          <p:nvPr/>
        </p:nvSpPr>
        <p:spPr>
          <a:xfrm>
            <a:off x="457200" y="960120"/>
            <a:ext cx="8229600" cy="3657600"/>
          </a:xfrm>
          <a:prstGeom prst="rect">
            <a:avLst/>
          </a:prstGeom>
          <a:noFill/>
          <a:ln/>
        </p:spPr>
        <p:txBody>
          <a:bodyPr wrap="square" lIns="0" tIns="0" rIns="0" bIns="0" rtlCol="0" anchor="t"/>
          <a:lstStyle/>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  Problema: dos preguntas, no una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3.  Objetivos e hipótesis (cinco objetivos específicos, siete hipótesis)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5.  El operador: banco de cinco elementos estructurantes y suma de ramas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6.  Alcance real de la optimización por PSO</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7.  Diseño experimental</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8.  Resultados: el punto de operación del operador</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9.  Auditoría del protocolo de evaluación (tres controles)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10. Contraste externo: detección en LLVIP y M3FD</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11. Contraste de hipótesis, conclusiones y recomendaciones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1. Problema: dos preguntas, no una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3 / 22</a:t>
            </a:r>
            <a:endParaRPr lang="en-US" sz="900" dirty="0"/>
          </a:p>
        </p:txBody>
      </p:sp>
      <p:sp>
        <p:nvSpPr>
          <p:cNvPr id="4" name="Text 2"/>
          <p:cNvSpPr/>
          <p:nvPr/>
        </p:nvSpPr>
        <p:spPr>
          <a:xfrm>
            <a:off x="457200" y="868680"/>
            <a:ext cx="8229600" cy="192024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El sensor visible (VIS) aporta detalle y textura, pero se degrada en baja iluminación.</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El sensor infrarrojo (IR) capta la firma térmica (personas, vehículos), pero pierde el contexto de la escena.</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La fusión a nivel de píxel integra ambas fuentes en una sola imagen útil para vigilancia nocturna.</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Los métodos multiescala (pirámides, wavelets, curvelets) son efectivos pero pueden introducir artefactos.</a:t>
            </a:r>
            <a:endParaRPr lang="en-US" sz="1350" dirty="0"/>
          </a:p>
          <a:p>
            <a:pPr marL="177800" indent="-177800">
              <a:spcAft>
                <a:spcPts val="600"/>
              </a:spcAft>
              <a:buSzPct val="100000"/>
              <a:buChar char="•"/>
            </a:pPr>
            <a:r>
              <a:rPr lang="en-US" sz="1350" b="1" dirty="0">
                <a:solidFill>
                  <a:srgbClr val="1A1A1A"/>
                </a:solidFill>
                <a:latin typeface="Times New Roman" pitchFamily="34" charset="0"/>
                <a:ea typeface="Times New Roman" pitchFamily="34" charset="-122"/>
                <a:cs typeface="Times New Roman" pitchFamily="34" charset="-120"/>
              </a:rPr>
              <a:t xml:space="preserve">La morfología matemática ofrece un marco alternativo de una sola escala: interpretable, de bajo costo y con un realce direccional gobernado por un solo peso. El compromiso que introduce es actividad espacial contra fidelidad a las fuentes, no una ventaja en artefactos: en la única métrica del estudio que los mide (Nabf, menor es mejor) los dos operadores morfológicos son los más agresivos del benchmark —0,374 la propuesta y 0,586 el Top-Hat clásico, frente a 0,114 de la pirámide de Laplace—.</a:t>
            </a:r>
            <a:endParaRPr lang="en-US" sz="1350" dirty="0"/>
          </a:p>
        </p:txBody>
      </p:sp>
      <p:pic>
        <p:nvPicPr>
          <p:cNvPr id="5" name="Image 0" descr="C:/Users/Usuario/Documents/unv/mastertesis/tesis_mciencias_datos/docs/figures/ejemplo_modalidades.png">    </p:cNvPr>
          <p:cNvPicPr>
            <a:picLocks noChangeAspect="1"/>
          </p:cNvPicPr>
          <p:nvPr/>
        </p:nvPicPr>
        <p:blipFill>
          <a:blip r:embed="rId1"/>
          <a:stretch>
            <a:fillRect/>
          </a:stretch>
        </p:blipFill>
        <p:spPr>
          <a:xfrm>
            <a:off x="640080" y="3063240"/>
            <a:ext cx="7863840" cy="181051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3. Objetivos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5 / 22</a:t>
            </a:r>
            <a:endParaRPr lang="en-US" sz="900" dirty="0"/>
          </a:p>
        </p:txBody>
      </p:sp>
      <p:sp>
        <p:nvSpPr>
          <p:cNvPr id="4" name="Text 2"/>
          <p:cNvSpPr/>
          <p:nvPr/>
        </p:nvSpPr>
        <p:spPr>
          <a:xfrm>
            <a:off x="457200" y="86868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 general</a:t>
            </a:r>
            <a:endParaRPr lang="en-US" sz="1400" dirty="0"/>
          </a:p>
        </p:txBody>
      </p:sp>
      <p:sp>
        <p:nvSpPr>
          <p:cNvPr id="5" name="Text 3"/>
          <p:cNvSpPr/>
          <p:nvPr/>
        </p:nvSpPr>
        <p:spPr>
          <a:xfrm>
            <a:off x="457200" y="1170432"/>
            <a:ext cx="8229600" cy="777240"/>
          </a:xfrm>
          <a:prstGeom prst="rect">
            <a:avLst/>
          </a:prstGeom>
          <a:noFill/>
          <a:ln/>
        </p:spPr>
        <p:txBody>
          <a:bodyPr wrap="square" lIns="0" tIns="0" rIns="0" bIns="0" rtlCol="0" anchor="t"/>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 xml:space="preserve">Diseñar, implementar y caracterizar un operador de fusión VIS/IR basado en la transformada Top-Hat de una sola escala con un banco de cinco elementos estructurantes, determinando en qué dirección desplaza el punto de operación de la fusión frente a la metodología clásica y a cinco configuraciones de referencia sobre el TNO Image Fusion Dataset; y auditar, con ese mismo desarrollo como caso de estudio, la validez discriminativa del protocolo de evaluación empleado.</a:t>
            </a:r>
            <a:endParaRPr lang="en-US" sz="1350" dirty="0"/>
          </a:p>
        </p:txBody>
      </p:sp>
      <p:sp>
        <p:nvSpPr>
          <p:cNvPr id="6" name="Text 4"/>
          <p:cNvSpPr/>
          <p:nvPr/>
        </p:nvSpPr>
        <p:spPr>
          <a:xfrm>
            <a:off x="457200" y="210312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Objetivos específicos</a:t>
            </a:r>
            <a:endParaRPr lang="en-US" sz="1400" dirty="0"/>
          </a:p>
        </p:txBody>
      </p:sp>
      <p:sp>
        <p:nvSpPr>
          <p:cNvPr id="7" name="Text 5"/>
          <p:cNvSpPr/>
          <p:nvPr/>
        </p:nvSpPr>
        <p:spPr>
          <a:xfrm>
            <a:off x="457200" y="2423160"/>
            <a:ext cx="8229600" cy="2468880"/>
          </a:xfrm>
          <a:prstGeom prst="rect">
            <a:avLst/>
          </a:prstGeom>
          <a:noFill/>
          <a:ln/>
        </p:spPr>
        <p:txBody>
          <a:bodyPr wrap="square" lIns="0" tIns="0" rIns="0" bIns="0" rtlCol="0" anchor="t"/>
          <a:lstStyle/>
          <a:p>
            <a:pPr marL="177800" indent="-177800">
              <a:spcAft>
                <a:spcPts val="7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OE1. Formular e implementar el operador tal como efectivamente se evalúa —el promedio de las cuatro líneas se suma a la respuesta del disco; el máximo opera entre fuentes, no entre ramas— y aislar el aporte del banco mediante una ablación con hiperparámetros fijos.</a:t>
            </a:r>
            <a:endParaRPr lang="en-US" sz="1300" dirty="0"/>
          </a:p>
          <a:p>
            <a:pPr marL="177800" indent="-177800">
              <a:spcAft>
                <a:spcPts val="7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OE2. Delimitar el alcance real de la optimización por PSO: qué hiperparámetro determina la aptitud declarada, qué forma tiene esa aptitud, y con qué criterios independientes de ella se justifica el peso adoptado.</a:t>
            </a:r>
            <a:endParaRPr lang="en-US" sz="1300" dirty="0"/>
          </a:p>
          <a:p>
            <a:pPr marL="177800" indent="-177800">
              <a:spcAft>
                <a:spcPts val="7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OE3. Comparar con la metodología clásica y cinco configuraciones de referencia sobre nueve métricas (Friedman y Wilcoxon–Holm), organizando los resultados en bloques de actividad espacial y de fidelidad a las fuentes, y verificando la robustez frente a un ajuste simétrico de los comparativos.</a:t>
            </a:r>
            <a:endParaRPr lang="en-US" sz="1300" dirty="0"/>
          </a:p>
          <a:p>
            <a:pPr marL="177800" indent="-177800">
              <a:spcAft>
                <a:spcPts val="7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OE4. Evaluar si la batería empleada discrimina calidad de fusión, con tres pruebas: control negativo con degradaciones conocidas, redundancia interna entre métricas y sensibilidad del orden de mérito a la composición del conjunto.</a:t>
            </a:r>
            <a:endParaRPr lang="en-US" sz="1300" dirty="0"/>
          </a:p>
          <a:p>
            <a:pPr marL="177800" indent="-177800">
              <a:spcAft>
                <a:spcPts val="7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OE5. Medir el efecto de la fusión sobre la detección con dos experimentos independientes (LLVIP y M3FD) y contrastar el orden de mérito de las métricas con el de utilidad en la tarea, mediante un conteo por escena y no solo el mAP promedio.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7 / 22</a:t>
            </a:r>
            <a:endParaRPr lang="en-US" sz="900" dirty="0"/>
          </a:p>
        </p:txBody>
      </p:sp>
      <p:sp>
        <p:nvSpPr>
          <p:cNvPr id="4" name="Text 2"/>
          <p:cNvSpPr/>
          <p:nvPr/>
        </p:nvSpPr>
        <p:spPr>
          <a:xfrm>
            <a:off x="457200" y="868680"/>
            <a:ext cx="4572000" cy="310896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White Top-Hat (WTH): extrae las estructuras claras más pequeñas que el elemento estructurante B.</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Black Top-Hat (BTH): extrae las estructuras oscuras correspondientes.</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Fusión clásica: un único disco (r = 5), máximo entre fuentes y reconstrucción sin ponderación (m = 1).</a:t>
            </a:r>
            <a:endParaRPr lang="en-US" sz="1300" dirty="0"/>
          </a:p>
        </p:txBody>
      </p:sp>
      <p:pic>
        <p:nvPicPr>
          <p:cNvPr id="5" name="Image 0" descr="C:/Users/Usuario/Documents/unv/mastertesis/tesis_mciencias_datos/docs/figures/fig_morfologia_tophat.png">    </p:cNvPr>
          <p:cNvPicPr>
            <a:picLocks noChangeAspect="1"/>
          </p:cNvPicPr>
          <p:nvPr/>
        </p:nvPicPr>
        <p:blipFill>
          <a:blip r:embed="rId1"/>
          <a:stretch>
            <a:fillRect/>
          </a:stretch>
        </p:blipFill>
        <p:spPr>
          <a:xfrm>
            <a:off x="5120640" y="914400"/>
            <a:ext cx="3657600" cy="1792224"/>
          </a:xfrm>
          <a:prstGeom prst="rect">
            <a:avLst/>
          </a:prstGeom>
        </p:spPr>
      </p:pic>
      <p:pic>
        <p:nvPicPr>
          <p:cNvPr id="6" name="Image 1" descr="C:\Users\Usuario\AppData\Local\Temp\claude\C--Users-Usuario-Documents-unv-mastertesis\fa0a2acc-a0da-4701-a920-18b20c70d3b2\scratchpad\pptx_build/assets/f_tophat.png">    </p:cNvPr>
          <p:cNvPicPr>
            <a:picLocks noChangeAspect="1"/>
          </p:cNvPicPr>
          <p:nvPr/>
        </p:nvPicPr>
        <p:blipFill>
          <a:blip r:embed="rId2"/>
          <a:stretch>
            <a:fillRect/>
          </a:stretch>
        </p:blipFill>
        <p:spPr>
          <a:xfrm>
            <a:off x="5120640" y="2971800"/>
            <a:ext cx="3566160" cy="310896"/>
          </a:xfrm>
          <a:prstGeom prst="rect">
            <a:avLst/>
          </a:prstGeom>
        </p:spPr>
      </p:pic>
      <p:sp>
        <p:nvSpPr>
          <p:cNvPr id="7" name="Text 3"/>
          <p:cNvSpPr/>
          <p:nvPr/>
        </p:nvSpPr>
        <p:spPr>
          <a:xfrm>
            <a:off x="5120640" y="3429000"/>
            <a:ext cx="3657600" cy="320040"/>
          </a:xfrm>
          <a:prstGeom prst="rect">
            <a:avLst/>
          </a:prstGeom>
          <a:noFill/>
          <a:ln/>
        </p:spPr>
        <p:txBody>
          <a:bodyPr wrap="square" lIns="0" tIns="0" rIns="0" bIns="0" rtlCol="0" anchor="ctr"/>
          <a:lstStyle/>
          <a:p>
            <a:pPr indent="0" marL="0">
              <a:buNone/>
            </a:pPr>
            <a:r>
              <a:rPr lang="en-US" sz="1100" i="1" dirty="0">
                <a:solidFill>
                  <a:srgbClr val="666666"/>
                </a:solidFill>
                <a:latin typeface="Times New Roman" pitchFamily="34" charset="0"/>
                <a:ea typeface="Times New Roman" pitchFamily="34" charset="-122"/>
                <a:cs typeface="Times New Roman" pitchFamily="34" charset="-120"/>
              </a:rPr>
              <a:t>F = I_base + WTH_máx − BTH_máx      (apertura ∘, cierre •)</a:t>
            </a:r>
            <a:endParaRPr lang="en-US" sz="1100" dirty="0"/>
          </a:p>
        </p:txBody>
      </p:sp>
      <p:sp>
        <p:nvSpPr>
          <p:cNvPr id="8" name="Text 4"/>
          <p:cNvSpPr/>
          <p:nvPr/>
        </p:nvSpPr>
        <p:spPr>
          <a:xfrm>
            <a:off x="457200" y="4160520"/>
            <a:ext cx="8229600" cy="365760"/>
          </a:xfrm>
          <a:prstGeom prst="rect">
            <a:avLst/>
          </a:prstGeom>
          <a:noFill/>
          <a:ln/>
        </p:spPr>
        <p:txBody>
          <a:bodyPr wrap="square" lIns="0" tIns="0" rIns="0" bIns="0" rtlCol="0" anchor="ctr"/>
          <a:lstStyle/>
          <a:p>
            <a:pPr indent="0" marL="0">
              <a:buNone/>
            </a:pPr>
            <a:r>
              <a:rPr lang="en-US" sz="1200" i="1" dirty="0">
                <a:solidFill>
                  <a:srgbClr val="666666"/>
                </a:solidFill>
                <a:latin typeface="Times New Roman" pitchFamily="34" charset="0"/>
                <a:ea typeface="Times New Roman" pitchFamily="34" charset="-122"/>
                <a:cs typeface="Times New Roman" pitchFamily="34" charset="-120"/>
              </a:rPr>
              <a:t>La base I_base es el promedio de las fuentes; el detalle se reinyecta sobre ella.</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5. El operador: banco de cinco elementos estructurantes y suma de ramas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8 / 22</a:t>
            </a:r>
            <a:endParaRPr lang="en-US" sz="900" dirty="0"/>
          </a:p>
        </p:txBody>
      </p:sp>
      <p:pic>
        <p:nvPicPr>
          <p:cNvPr id="4" name="Image 0" descr="C:/Users/Usuario/Documents/unv/mastertesis/tesis_mciencias_datos/docs/figures/fig_flujo_propuesta.png">    </p:cNvPr>
          <p:cNvPicPr>
            <a:picLocks noChangeAspect="1"/>
          </p:cNvPicPr>
          <p:nvPr/>
        </p:nvPicPr>
        <p:blipFill>
          <a:blip r:embed="rId1"/>
          <a:stretch>
            <a:fillRect/>
          </a:stretch>
        </p:blipFill>
        <p:spPr>
          <a:xfrm>
            <a:off x="411480" y="777240"/>
            <a:ext cx="3246120" cy="4206240"/>
          </a:xfrm>
          <a:prstGeom prst="rect">
            <a:avLst/>
          </a:prstGeom>
        </p:spPr>
      </p:pic>
      <p:pic>
        <p:nvPicPr>
          <p:cNvPr id="5" name="Image 1" descr="C:/Users/Usuario/Documents/unv/mastertesis/tesis_mciencias_datos/docs/figures/fig_cinco_se.png">    </p:cNvPr>
          <p:cNvPicPr>
            <a:picLocks noChangeAspect="1"/>
          </p:cNvPicPr>
          <p:nvPr/>
        </p:nvPicPr>
        <p:blipFill>
          <a:blip r:embed="rId2"/>
          <a:stretch>
            <a:fillRect/>
          </a:stretch>
        </p:blipFill>
        <p:spPr>
          <a:xfrm>
            <a:off x="3977640" y="868680"/>
            <a:ext cx="4754880" cy="950976"/>
          </a:xfrm>
          <a:prstGeom prst="rect">
            <a:avLst/>
          </a:prstGeom>
        </p:spPr>
      </p:pic>
      <p:sp>
        <p:nvSpPr>
          <p:cNvPr id="6" name="Text 2"/>
          <p:cNvSpPr/>
          <p:nvPr/>
        </p:nvSpPr>
        <p:spPr>
          <a:xfrm>
            <a:off x="3977640" y="2057400"/>
            <a:ext cx="4754880" cy="201168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Una sola escala (sin cascada multiescala).</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Promedio de las 4 orientaciones lineales (ec. 7) + respuesta del disco (ec. 8).</a:t>
            </a:r>
            <a:endParaRPr lang="en-US" sz="1200" dirty="0"/>
          </a:p>
          <a:p>
            <a:pPr marL="177800" indent="-177800">
              <a:spcAft>
                <a:spcPts val="600"/>
              </a:spcAft>
              <a:buSzPct val="100000"/>
              <a:buChar char="•"/>
            </a:pPr>
            <a:r>
              <a:rPr lang="en-US" sz="1200" b="1" dirty="0">
                <a:solidFill>
                  <a:srgbClr val="1A1A1A"/>
                </a:solidFill>
                <a:latin typeface="Times New Roman" pitchFamily="34" charset="0"/>
                <a:ea typeface="Times New Roman" pitchFamily="34" charset="-122"/>
                <a:cs typeface="Times New Roman" pitchFamily="34" charset="-120"/>
              </a:rPr>
              <a:t>Novedad: suma de la rama lineal y la del disco (en lugar del máximo).</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Máximo entre fuentes (ec. 10) y reconstrucción ponderada con m (ec. 11).</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Esquema de Bala et al. (2024), trasladado del realce de fondo de ojo a la fusión VIS/IR.</a:t>
            </a:r>
            <a:endParaRPr lang="en-US" sz="1200" dirty="0"/>
          </a:p>
        </p:txBody>
      </p:sp>
      <p:pic>
        <p:nvPicPr>
          <p:cNvPr id="7" name="Image 2" descr="C:\Users\Usuario\AppData\Local\Temp\claude\C--Users-Usuario-Documents-unv-mastertesis\fa0a2acc-a0da-4701-a920-18b20c70d3b2\scratchpad\pptx_build/assets/f_suma.png">    </p:cNvPr>
          <p:cNvPicPr>
            <a:picLocks noChangeAspect="1"/>
          </p:cNvPicPr>
          <p:nvPr/>
        </p:nvPicPr>
        <p:blipFill>
          <a:blip r:embed="rId3"/>
          <a:stretch>
            <a:fillRect/>
          </a:stretch>
        </p:blipFill>
        <p:spPr>
          <a:xfrm>
            <a:off x="4114800" y="4343400"/>
            <a:ext cx="4480560" cy="32644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6. Alcance real de la optimización por PSO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9 / 22</a:t>
            </a:r>
            <a:endParaRPr lang="en-US" sz="900" dirty="0"/>
          </a:p>
        </p:txBody>
      </p:sp>
      <p:sp>
        <p:nvSpPr>
          <p:cNvPr id="4" name="Text 2"/>
          <p:cNvSpPr/>
          <p:nvPr/>
        </p:nvSpPr>
        <p:spPr>
          <a:xfrm>
            <a:off x="457200" y="868680"/>
            <a:ext cx="4754880" cy="13716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Se optimizan dos hiperparámetros: r (radio del disco y largo 2r+1 de las líneas) y m (peso del realce).</a:t>
            </a:r>
            <a:endParaRPr lang="en-US" sz="1300" dirty="0"/>
          </a:p>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Aptitud publicada de Ortega y Espinoza (2025), sin pesos arbitrarios:</a:t>
            </a:r>
            <a:endParaRPr lang="en-US" sz="1300" dirty="0"/>
          </a:p>
        </p:txBody>
      </p:sp>
      <p:pic>
        <p:nvPicPr>
          <p:cNvPr id="5" name="Image 0" descr="C:\Users\Usuario\AppData\Local\Temp\claude\C--Users-Usuario-Documents-unv-mastertesis\fa0a2acc-a0da-4701-a920-18b20c70d3b2\scratchpad\pptx_build/assets/f_aptitud.png">    </p:cNvPr>
          <p:cNvPicPr>
            <a:picLocks noChangeAspect="1"/>
          </p:cNvPicPr>
          <p:nvPr/>
        </p:nvPicPr>
        <p:blipFill>
          <a:blip r:embed="rId1"/>
          <a:stretch>
            <a:fillRect/>
          </a:stretch>
        </p:blipFill>
        <p:spPr>
          <a:xfrm>
            <a:off x="640080" y="2148840"/>
            <a:ext cx="3383280" cy="384048"/>
          </a:xfrm>
          <a:prstGeom prst="rect">
            <a:avLst/>
          </a:prstGeom>
        </p:spPr>
      </p:pic>
      <p:sp>
        <p:nvSpPr>
          <p:cNvPr id="6" name="Text 3"/>
          <p:cNvSpPr/>
          <p:nvPr/>
        </p:nvSpPr>
        <p:spPr>
          <a:xfrm>
            <a:off x="457200" y="2880360"/>
            <a:ext cx="4572000" cy="201168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Barrido de 25 configuraciones del enjambre: partículas 2–10 × iteraciones 10–50 (réplica de Ortega y Espinoza, 2025).</a:t>
            </a:r>
            <a:endParaRPr lang="en-US" sz="1300" dirty="0"/>
          </a:p>
          <a:p>
            <a:pPr marL="177800" indent="-177800">
              <a:spcAft>
                <a:spcPts val="800"/>
              </a:spcAft>
              <a:buSzPct val="100000"/>
              <a:buChar char="•"/>
            </a:pPr>
            <a:r>
              <a:rPr lang="en-US" sz="1300" b="1" dirty="0">
                <a:solidFill>
                  <a:srgbClr val="1A1A1A"/>
                </a:solidFill>
                <a:latin typeface="Times New Roman" pitchFamily="34" charset="0"/>
                <a:ea typeface="Times New Roman" pitchFamily="34" charset="-122"/>
                <a:cs typeface="Times New Roman" pitchFamily="34" charset="-120"/>
              </a:rPr>
              <a:t xml:space="preserve">Las 25 configuraciones convergen al mismo peso, m* = 0,30, porque es el piso del rango publicado: la aptitud decrece de forma monótona en m. Y el argmax del radio dentro de ese rango es r = 1 (Fo = 1,7350) —en 16 de las 25 configuraciones— y no r = 25 (Fo = 1,7057), que aparece en 8. La configuración adoptada, r = 25, la selecciona el bloque de actividad de la batería de evaluación, no la optimización.</a:t>
            </a:r>
            <a:endParaRPr lang="en-US" sz="1300" dirty="0"/>
          </a:p>
        </p:txBody>
      </p:sp>
      <p:pic>
        <p:nvPicPr>
          <p:cNvPr id="7" name="Image 1" descr="C:\Users\Usuario\AppData\Local\Temp\claude\C--Users-Usuario-Documents-unv-mastertesis\fa0a2acc-a0da-4701-a920-18b20c70d3b2\scratchpad\pptx_build/assets/pso_barrido.png">    </p:cNvPr>
          <p:cNvPicPr>
            <a:picLocks noChangeAspect="1"/>
          </p:cNvPicPr>
          <p:nvPr/>
        </p:nvPicPr>
        <p:blipFill>
          <a:blip r:embed="rId2"/>
          <a:stretch>
            <a:fillRect/>
          </a:stretch>
        </p:blipFill>
        <p:spPr>
          <a:xfrm>
            <a:off x="5029200" y="1234440"/>
            <a:ext cx="3657600" cy="2350008"/>
          </a:xfrm>
          <a:prstGeom prst="rect">
            <a:avLst/>
          </a:prstGeom>
        </p:spPr>
      </p:pic>
      <p:sp>
        <p:nvSpPr>
          <p:cNvPr id="8" name="Text 4"/>
          <p:cNvSpPr/>
          <p:nvPr/>
        </p:nvSpPr>
        <p:spPr>
          <a:xfrm>
            <a:off x="5029200" y="3749040"/>
            <a:ext cx="3657600" cy="320040"/>
          </a:xfrm>
          <a:prstGeom prst="rect">
            <a:avLst/>
          </a:prstGeom>
          <a:noFill/>
          <a:ln/>
        </p:spPr>
        <p:txBody>
          <a:bodyPr wrap="square" lIns="0" tIns="0" rIns="0" bIns="0" rtlCol="0" anchor="ctr"/>
          <a:lstStyle/>
          <a:p>
            <a:pPr algn="ctr" indent="0" marL="0">
              <a:buNone/>
            </a:pPr>
            <a:r>
              <a:rPr lang="en-US" sz="1100" i="1" dirty="0">
                <a:solidFill>
                  <a:srgbClr val="666666"/>
                </a:solidFill>
                <a:latin typeface="Times New Roman" pitchFamily="34" charset="0"/>
                <a:ea typeface="Times New Roman" pitchFamily="34" charset="-122"/>
                <a:cs typeface="Times New Roman" pitchFamily="34" charset="-120"/>
              </a:rPr>
              <a:t>ω: 0,9 → 0,4 · c₁ = c₂ = 1,5 · r ∈ [1, 25] · m ∈ [0,30; 2,00] (rango publicado)</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7. Diseño experimental</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10 / 22</a:t>
            </a:r>
            <a:endParaRPr lang="en-US" sz="900" dirty="0"/>
          </a:p>
        </p:txBody>
      </p:sp>
      <p:sp>
        <p:nvSpPr>
          <p:cNvPr id="4" name="Text 2"/>
          <p:cNvSpPr/>
          <p:nvPr/>
        </p:nvSpPr>
        <p:spPr>
          <a:xfrm>
            <a:off x="457200" y="868680"/>
            <a:ext cx="402336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Benchmark de calidad</a:t>
            </a:r>
            <a:endParaRPr lang="en-US" sz="1400" dirty="0"/>
          </a:p>
        </p:txBody>
      </p:sp>
      <p:sp>
        <p:nvSpPr>
          <p:cNvPr id="5" name="Text 3"/>
          <p:cNvSpPr/>
          <p:nvPr/>
        </p:nvSpPr>
        <p:spPr>
          <a:xfrm>
            <a:off x="457200" y="1188720"/>
            <a:ext cx="4023360" cy="329184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20 pares VIS/IR del dataset TNO (Toet, 2014).</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7 métodos: LP, RP, DWT, DTCWT, CVT (aprox. wavelet db4), Top-Hat clásico y Propuesta → 140 fusiones.</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Nueve métricas sin referencia (EN, SD, FE, MG, MI_vis, MI_ir, SF, SSIM, PSNR).</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Friedman global + Wilcoxon pareado con corrección de Holm (α = 0,05).</a:t>
            </a:r>
            <a:endParaRPr lang="en-US" sz="1250" dirty="0"/>
          </a:p>
        </p:txBody>
      </p:sp>
      <p:sp>
        <p:nvSpPr>
          <p:cNvPr id="6" name="Text 4"/>
          <p:cNvSpPr/>
          <p:nvPr/>
        </p:nvSpPr>
        <p:spPr>
          <a:xfrm>
            <a:off x="4846320" y="868680"/>
            <a:ext cx="384048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Evaluación orientada a tarea</a:t>
            </a:r>
            <a:endParaRPr lang="en-US" sz="1400" dirty="0"/>
          </a:p>
        </p:txBody>
      </p:sp>
      <p:sp>
        <p:nvSpPr>
          <p:cNvPr id="7" name="Text 5"/>
          <p:cNvSpPr/>
          <p:nvPr/>
        </p:nvSpPr>
        <p:spPr>
          <a:xfrm>
            <a:off x="4846320" y="1188720"/>
            <a:ext cx="3840480" cy="329184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Dataset etiquetado LLVIP (peatones nocturnos): 2.000 imágenes de entrenamiento y 500 de validación.</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YOLOv8n reentrenado por modalidad (40 épocas), 9 entradas: VIS, IR y las 7 fusiones.</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Etiquetas idénticas entre modalidades: la diferencia de mAP aísla el efecto del método de fusión.</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8. Resultados cualitativos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11 / 22</a:t>
            </a:r>
            <a:endParaRPr lang="en-US" sz="900" dirty="0"/>
          </a:p>
        </p:txBody>
      </p:sp>
      <p:pic>
        <p:nvPicPr>
          <p:cNvPr id="4" name="Image 0" descr="C:/Users/Usuario/Documents/unv/mastertesis/tesis_mciencias_datos/docs/figures/cualitativas/montaje_07.png">    </p:cNvPr>
          <p:cNvPicPr>
            <a:picLocks noChangeAspect="1"/>
          </p:cNvPicPr>
          <p:nvPr/>
        </p:nvPicPr>
        <p:blipFill>
          <a:blip r:embed="rId1"/>
          <a:stretch>
            <a:fillRect/>
          </a:stretch>
        </p:blipFill>
        <p:spPr>
          <a:xfrm>
            <a:off x="1764792" y="777240"/>
            <a:ext cx="5623560" cy="4005072"/>
          </a:xfrm>
          <a:prstGeom prst="rect">
            <a:avLst/>
          </a:prstGeom>
        </p:spPr>
      </p:pic>
      <p:sp>
        <p:nvSpPr>
          <p:cNvPr id="5" name="Text 2"/>
          <p:cNvSpPr/>
          <p:nvPr/>
        </p:nvSpPr>
        <p:spPr>
          <a:xfrm>
            <a:off x="457200" y="4828032"/>
            <a:ext cx="7680960" cy="274320"/>
          </a:xfrm>
          <a:prstGeom prst="rect">
            <a:avLst/>
          </a:prstGeom>
          <a:noFill/>
          <a:ln/>
        </p:spPr>
        <p:txBody>
          <a:bodyPr wrap="square" lIns="0" tIns="0" rIns="0" bIns="0" rtlCol="0" anchor="ctr"/>
          <a:lstStyle/>
          <a:p>
            <a:pPr indent="0" marL="0">
              <a:buNone/>
            </a:pPr>
            <a:r>
              <a:rPr lang="en-US" sz="1000" i="1" dirty="0">
                <a:solidFill>
                  <a:srgbClr val="666666"/>
                </a:solidFill>
                <a:latin typeface="Times New Roman" pitchFamily="34" charset="0"/>
                <a:ea typeface="Times New Roman" pitchFamily="34" charset="-122"/>
                <a:cs typeface="Times New Roman" pitchFamily="34" charset="-120"/>
              </a:rPr>
              <a:t>Los 20 montajes por escena están disponibles en el repositorio (docs/figures/cualitativas/).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Resultados cuantitativos por bloques — medias sobre 20 pares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12 / 22</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3017520"/>
                <a:gridCol w="1042416"/>
                <a:gridCol w="1042416"/>
                <a:gridCol w="1042416"/>
                <a:gridCol w="1042416"/>
                <a:gridCol w="1042416"/>
              </a:tblGrid>
              <a:tr h="310896">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Método</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EN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FE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SD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SF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SSIM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Pirámide de Laplace (LP)</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6,840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1,081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0,155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13,22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Ratio Pyramid (RP)</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6,810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1,077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0,127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13,62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Wavelet discreta (DWT)</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6,682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14,19</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DTCWT</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6,688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13,20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 xml:space="preserve">0,725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CVT (aprox. wavelet db4)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0,113</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13,34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0,716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Top-Hat clásico</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6,922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1,095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0,135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 xml:space="preserve">23,10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0,564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b="1" dirty="0">
                          <a:solidFill>
                            <a:srgbClr val="8B1A1A"/>
                          </a:solidFill>
                          <a:latin typeface="Times New Roman" pitchFamily="34" charset="0"/>
                          <a:ea typeface="Times New Roman" pitchFamily="34" charset="-122"/>
                          <a:cs typeface="Times New Roman" pitchFamily="34" charset="-120"/>
                        </a:rPr>
                        <a:t>Propuesta Novedosa (r=25; m=0,30)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8B1A1A"/>
                          </a:solidFill>
                          <a:latin typeface="Times New Roman" pitchFamily="34" charset="0"/>
                          <a:ea typeface="Times New Roman" pitchFamily="34" charset="-122"/>
                          <a:cs typeface="Times New Roman" pitchFamily="34" charset="-120"/>
                        </a:rPr>
                        <a:t xml:space="preserve">6,986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8B1A1A"/>
                          </a:solidFill>
                          <a:latin typeface="Times New Roman" pitchFamily="34" charset="0"/>
                          <a:ea typeface="Times New Roman" pitchFamily="34" charset="-122"/>
                          <a:cs typeface="Times New Roman" pitchFamily="34" charset="-120"/>
                        </a:rPr>
                        <a:t>1,105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17,44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0,658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5" name="Text 2"/>
          <p:cNvSpPr/>
          <p:nvPr/>
        </p:nvSpPr>
        <p:spPr>
          <a:xfrm>
            <a:off x="457200" y="3794760"/>
            <a:ext cx="8229600" cy="109728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La propuesta lidera la entropía (6,986) y con ella la eficiencia de fusión (1,105), que es esa misma entropía reescalada por una constante por escena y no una dimensión independiente; queda segunda en contraste (0,144), gradiente medio (0,0355) y frecuencia espacial (17,44), detrás del Top-Hat clásico en las dos últimas.</a:t>
            </a:r>
            <a:endParaRPr lang="en-US" sz="1250" dirty="0"/>
          </a:p>
          <a:p>
            <a:pPr marL="177800" indent="-177800">
              <a:spcAft>
                <a:spcPts val="5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Cede las cuatro métricas de fidelidad, lideradas por los multiescala: MI_vis y MI_ir por la pirámide de Laplace, SSIM (0,658) por DTCWT y PSNR por la aproximación CVT. No hay dominancia global: hay un punto de operación desplazado. En el ranking de rangos medios intra-bloque de las nueve métricas la propuesta es 1.ª de 7 (3,394), por delante de la pirámide de Laplace (3,911) y del Top-Hat clásico (3,944) — bajo este criterio.</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Análisis estadístico: el punto de operación se desplaza (H1)</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13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900"/>
              </a:spcAft>
              <a:buSzPct val="100000"/>
              <a:buChar char="•"/>
            </a:pPr>
            <a:r>
              <a:rPr lang="en-US" sz="1300" b="1" dirty="0">
                <a:solidFill>
                  <a:srgbClr val="1A1A1A"/>
                </a:solidFill>
                <a:latin typeface="Times New Roman" pitchFamily="34" charset="0"/>
                <a:ea typeface="Times New Roman" pitchFamily="34" charset="-122"/>
                <a:cs typeface="Times New Roman" pitchFamily="34" charset="-120"/>
              </a:rPr>
              <a:t>Friedman: diferencias significativas en las nueve métricas (p &lt; 0,001).</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Wilcoxon pareado con corrección de Holm, propuesta frente a las cinco configuraciones de referencia, leído por bloques:</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Bloque de ACTIVIDAD ESPACIAL (EN, SD, FE, MG, SF): 24 de 25 contrastes favorables y significativos, y ninguno adverso.</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Bloque de FIDELIDAD A LAS FUENTES (MI_vis, MI_ir, SSIM, PSNR): 17 de 20 adversos y significativos, uno solo favorable.</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Esa asimetría es H1: el operador no mejora de manera uniforme, desplaza el punto de operación de la fusión.</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Frente al Top-Hat clásico gana en 6 de las 9 métricas —entropía (6,986 frente a 6,922), contraste (0,144 frente a 0,135), eficiencia de fusión, ambas informaciones mutuas y SSIM (0,658 frente a 0,564)— con p_Holm ≤ 0,0002; pierde con significancia en gradiente medio (0,0355 frente a 0,0478) y frecuencia espacial (17,44 frente a 23,10); y empata en PSNR (p_Holm = 0,674).</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Ranking de rangos medios intra-bloque, nueve métricas: Propuesta 3,394 · LP 3,911 · TH clásico 3,944 · RP 3,983 · DTCWT 4,111 · DWT 4,211 · CVT 4,444 — la propuesta encabeza el benchmark, a 0,517 de la segunda.</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10. Contraste externo I — detección en LLVIP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17 / 22</a:t>
            </a:r>
            <a:endParaRPr lang="en-US" sz="900" dirty="0"/>
          </a:p>
        </p:txBody>
      </p:sp>
      <p:pic>
        <p:nvPicPr>
          <p:cNvPr id="4" name="Image 0" descr="C:\Users\Usuario\AppData\Local\Temp\claude\C--Users-Usuario-Documents-unv-mastertesis\fa0a2acc-a0da-4701-a920-18b20c70d3b2\scratchpad\pptx_build/assets/map_llvip.png">    </p:cNvPr>
          <p:cNvPicPr>
            <a:picLocks noChangeAspect="1"/>
          </p:cNvPicPr>
          <p:nvPr/>
        </p:nvPicPr>
        <p:blipFill>
          <a:blip r:embed="rId1"/>
          <a:stretch>
            <a:fillRect/>
          </a:stretch>
        </p:blipFill>
        <p:spPr>
          <a:xfrm>
            <a:off x="960120" y="822960"/>
            <a:ext cx="7223760" cy="2761488"/>
          </a:xfrm>
          <a:prstGeom prst="rect">
            <a:avLst/>
          </a:prstGeom>
        </p:spPr>
      </p:pic>
      <p:sp>
        <p:nvSpPr>
          <p:cNvPr id="5" name="Text 2"/>
          <p:cNvSpPr/>
          <p:nvPr/>
        </p:nvSpPr>
        <p:spPr>
          <a:xfrm>
            <a:off x="457200" y="3703320"/>
            <a:ext cx="8229600" cy="13258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Toda fusión supera al visible solo (mAP@0,5 de 0,813 a una banda de 0,906–0,952, es decir entre +0,09 y +0,14); el infrarrojo solo lidera (0,971): en peatones nocturnos domina la firma térmica.</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La Propuesta Novedosa queda en el extremo inferior de la banda de fusiones (0,906, a la par de la Ratio Pyramid): el realce que premian las métricas de actividad no ayuda al detector.</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El orden de calidad no predice el orden de utilidad: la correlación de Spearman entre el rango de las nueve métricas y el mAP es ρ = +0,214 con p = 0,645, sin asociación y con el signo contrario al esperado.</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Contraste externo II — M3FD: el conteo por escena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18 / 22</a:t>
            </a:r>
            <a:endParaRPr lang="en-US" sz="900" dirty="0"/>
          </a:p>
        </p:txBody>
      </p:sp>
      <p:pic>
        <p:nvPicPr>
          <p:cNvPr id="4" name="Image 0" descr="C:\Users\Usuario\AppData\Local\Temp\claude\C--Users-Usuario-Documents-unv-mastertesis\fa0a2acc-a0da-4701-a920-18b20c70d3b2\scratchpad\pptx_build/assets/m3fd_par.png">    </p:cNvPr>
          <p:cNvPicPr>
            <a:picLocks noChangeAspect="1"/>
          </p:cNvPicPr>
          <p:nvPr/>
        </p:nvPicPr>
        <p:blipFill>
          <a:blip r:embed="rId1"/>
          <a:stretch>
            <a:fillRect/>
          </a:stretch>
        </p:blipFill>
        <p:spPr>
          <a:xfrm>
            <a:off x="640080" y="868680"/>
            <a:ext cx="7863840" cy="2944368"/>
          </a:xfrm>
          <a:prstGeom prst="rect">
            <a:avLst/>
          </a:prstGeom>
        </p:spPr>
      </p:pic>
      <p:sp>
        <p:nvSpPr>
          <p:cNvPr id="5" name="Text 2"/>
          <p:cNvSpPr/>
          <p:nvPr/>
        </p:nvSpPr>
        <p:spPr>
          <a:xfrm>
            <a:off x="457200" y="3913632"/>
            <a:ext cx="8229600" cy="11430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 xml:space="preserve">Complementariedad real pero asimétrica: el infrarrojo domina en personas (AP@0,5 = 0,779 frente a 0,621 del visible) y se degrada en luces (0,348), mientras el visible sostiene ambas clases en un nivel parejo (0,621 y 0,616). No hay patrón espejo: ninguna modalidad es ciega, y el argumento a favor de fusionar es que ninguna es la mejor en las dos clases a la vez.</a:t>
            </a:r>
            <a:endParaRPr lang="en-US" sz="1150" dirty="0"/>
          </a:p>
          <a:p>
            <a:pPr marL="177800" indent="-177800">
              <a:spcAft>
                <a:spcPts val="400"/>
              </a:spcAft>
              <a:buSzPct val="100000"/>
              <a:buChar char="•"/>
            </a:pPr>
            <a:r>
              <a:rPr lang="en-US" sz="1150" b="1" dirty="0">
                <a:solidFill>
                  <a:srgbClr val="1A1A1A"/>
                </a:solidFill>
                <a:latin typeface="Times New Roman" pitchFamily="34" charset="0"/>
                <a:ea typeface="Times New Roman" pitchFamily="34" charset="-122"/>
                <a:cs typeface="Times New Roman" pitchFamily="34" charset="-120"/>
              </a:rPr>
              <a:t xml:space="preserve">Promedio del par complementario: la Ratio Pyramid es la única entrada que supera a ambas modalidades (0,622 frente a 0,618 del visible y 0,563 del infrarrojo). La propuesta alcanza 0,564 —7.ª de las nueve entradas—, por debajo del visible y a la par del infrarrojo; en mAP@0,5 global queda 5.ª de las siete fusiones (0,651 frente a 0,677 de RP).</a:t>
            </a:r>
            <a:endParaRPr lang="en-US" sz="1150" dirty="0"/>
          </a:p>
          <a:p>
            <a:pPr marL="177800" indent="-177800">
              <a:spcAft>
                <a:spcPts val="4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 xml:space="preserve">Conteo por escena sobre 232 escenas con ambas clases: el mejor caso es la pirámide de Laplace (57,8 %) y cuatro de las siete fusiones quedan por debajo del visible solo (53,0 %). La propuesta recupera ambas en el 50,0 %, con 8 escenas ganadas y 15 perdidas frente al visible (McNemar exacto p = 0,2100), y resuelve 2 de las 90 escenas críticas.</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La prueba visual: ambas clases en una sola imagen</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RESERVA</a:t>
            </a:r>
            <a:endParaRPr lang="en-US" sz="900" dirty="0"/>
          </a:p>
        </p:txBody>
      </p:sp>
      <p:pic>
        <p:nvPicPr>
          <p:cNvPr id="4" name="Image 0" descr="C:/Users/Usuario/Documents/unv/mastertesis/tesis_mciencias_datos/docs/figures/fig_m3fd_detecciones.png">    </p:cNvPr>
          <p:cNvPicPr>
            <a:picLocks noChangeAspect="1"/>
          </p:cNvPicPr>
          <p:nvPr/>
        </p:nvPicPr>
        <p:blipFill>
          <a:blip r:embed="rId1"/>
          <a:stretch>
            <a:fillRect/>
          </a:stretch>
        </p:blipFill>
        <p:spPr>
          <a:xfrm>
            <a:off x="1417320" y="822960"/>
            <a:ext cx="6309360" cy="4069080"/>
          </a:xfrm>
          <a:prstGeom prst="rect">
            <a:avLst/>
          </a:prstGeom>
        </p:spPr>
      </p:pic>
      <p:sp>
        <p:nvSpPr>
          <p:cNvPr id="5" name="Text 2"/>
          <p:cNvSpPr/>
          <p:nvPr/>
        </p:nvSpPr>
        <p:spPr>
          <a:xfrm>
            <a:off x="457200" y="4864608"/>
            <a:ext cx="7680960" cy="256032"/>
          </a:xfrm>
          <a:prstGeom prst="rect">
            <a:avLst/>
          </a:prstGeom>
          <a:noFill/>
          <a:ln/>
        </p:spPr>
        <p:txBody>
          <a:bodyPr wrap="square" lIns="0" tIns="0" rIns="0" bIns="0" rtlCol="0" anchor="ctr"/>
          <a:lstStyle/>
          <a:p>
            <a:pPr indent="0" marL="0">
              <a:buNone/>
            </a:pPr>
            <a:r>
              <a:rPr lang="en-US" sz="1050" i="1" dirty="0">
                <a:solidFill>
                  <a:srgbClr val="666666"/>
                </a:solidFill>
                <a:latin typeface="Times New Roman" pitchFamily="34" charset="0"/>
                <a:ea typeface="Times New Roman" pitchFamily="34" charset="-122"/>
                <a:cs typeface="Times New Roman" pitchFamily="34" charset="-120"/>
              </a:rPr>
              <a:t xml:space="preserve">Arriba (escena 00389): la fusión detecta 11 personas, frente a 3 del visible y 10 del infrarrojo. Abajo (escena 00231): conserva 7 luces y 8 personas, frente a 5 luces del visible y una sola del infrarrojo. El infrarrojo no es ciego a las luces; lo que la fusión aporta es sostener las dos clases a la vez.</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11. Contraste de las hipótesis del operador y del criterio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19 / 22</a:t>
            </a:r>
            <a:endParaRPr lang="en-US" sz="900" dirty="0"/>
          </a:p>
        </p:txBody>
      </p:sp>
      <p:sp>
        <p:nvSpPr>
          <p:cNvPr id="4" name="Text 2"/>
          <p:cNvSpPr/>
          <p:nvPr/>
        </p:nvSpPr>
        <p:spPr>
          <a:xfrm>
            <a:off x="457200" y="960120"/>
            <a:ext cx="640080" cy="411480"/>
          </a:xfrm>
          <a:prstGeom prst="rect">
            <a:avLst/>
          </a:prstGeom>
          <a:noFill/>
          <a:ln/>
        </p:spPr>
        <p:txBody>
          <a:bodyPr wrap="square" lIns="0" tIns="0" rIns="0" bIns="0" rtlCol="0" anchor="ctr"/>
          <a:lstStyle/>
          <a:p>
            <a:pPr indent="0" marL="0">
              <a:buNone/>
            </a:pPr>
            <a:r>
              <a:rPr lang="en-US" sz="1900" b="1" dirty="0">
                <a:solidFill>
                  <a:srgbClr val="1A1A1A"/>
                </a:solidFill>
                <a:latin typeface="Times New Roman" pitchFamily="34" charset="0"/>
                <a:ea typeface="Times New Roman" pitchFamily="34" charset="-122"/>
                <a:cs typeface="Times New Roman" pitchFamily="34" charset="-120"/>
              </a:rPr>
              <a:t xml:space="preserve">H1</a:t>
            </a:r>
            <a:endParaRPr lang="en-US" sz="1900" dirty="0"/>
          </a:p>
        </p:txBody>
      </p:sp>
      <p:sp>
        <p:nvSpPr>
          <p:cNvPr id="5" name="Text 3"/>
          <p:cNvSpPr/>
          <p:nvPr/>
        </p:nvSpPr>
        <p:spPr>
          <a:xfrm>
            <a:off x="1143000" y="996696"/>
            <a:ext cx="1417320" cy="365760"/>
          </a:xfrm>
          <a:prstGeom prst="rect">
            <a:avLst/>
          </a:prstGeom>
          <a:noFill/>
          <a:ln/>
        </p:spPr>
        <p:txBody>
          <a:bodyPr wrap="square" lIns="0" tIns="0" rIns="0" bIns="0" rtlCol="0" anchor="ctr"/>
          <a:lstStyle/>
          <a:p>
            <a:pPr indent="0" marL="0">
              <a:buNone/>
            </a:pPr>
            <a:r>
              <a:rPr lang="en-US" sz="1300" b="1" dirty="0">
                <a:solidFill>
                  <a:srgbClr val="1F5C2E"/>
                </a:solidFill>
                <a:latin typeface="Times New Roman" pitchFamily="34" charset="0"/>
                <a:ea typeface="Times New Roman" pitchFamily="34" charset="-122"/>
                <a:cs typeface="Times New Roman" pitchFamily="34" charset="-120"/>
              </a:rPr>
              <a:t xml:space="preserve">SE SOSTIENE</a:t>
            </a:r>
            <a:endParaRPr lang="en-US" sz="1300" dirty="0"/>
          </a:p>
        </p:txBody>
      </p:sp>
      <p:sp>
        <p:nvSpPr>
          <p:cNvPr id="6" name="Text 4"/>
          <p:cNvSpPr/>
          <p:nvPr/>
        </p:nvSpPr>
        <p:spPr>
          <a:xfrm>
            <a:off x="2697480" y="960120"/>
            <a:ext cx="5989320" cy="1143000"/>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 xml:space="preserve">El operador no mejora la fusión de manera uniforme: desplaza su punto de operación. En actividad espacial, 24 de 25 contrastes son favorables y ninguno adverso; en fidelidad a las fuentes, 17 de 20 son adversos (Wilcoxon–Holm).</a:t>
            </a:r>
            <a:endParaRPr lang="en-US" sz="1250" dirty="0"/>
          </a:p>
        </p:txBody>
      </p:sp>
      <p:sp>
        <p:nvSpPr>
          <p:cNvPr id="7" name="Text 5"/>
          <p:cNvSpPr/>
          <p:nvPr/>
        </p:nvSpPr>
        <p:spPr>
          <a:xfrm>
            <a:off x="457200" y="2258568"/>
            <a:ext cx="640080" cy="411480"/>
          </a:xfrm>
          <a:prstGeom prst="rect">
            <a:avLst/>
          </a:prstGeom>
          <a:noFill/>
          <a:ln/>
        </p:spPr>
        <p:txBody>
          <a:bodyPr wrap="square" lIns="0" tIns="0" rIns="0" bIns="0" rtlCol="0" anchor="ctr"/>
          <a:lstStyle/>
          <a:p>
            <a:pPr indent="0" marL="0">
              <a:buNone/>
            </a:pPr>
            <a:r>
              <a:rPr lang="en-US" sz="1900" b="1" dirty="0">
                <a:solidFill>
                  <a:srgbClr val="1A1A1A"/>
                </a:solidFill>
                <a:latin typeface="Times New Roman" pitchFamily="34" charset="0"/>
                <a:ea typeface="Times New Roman" pitchFamily="34" charset="-122"/>
                <a:cs typeface="Times New Roman" pitchFamily="34" charset="-120"/>
              </a:rPr>
              <a:t xml:space="preserve">H5</a:t>
            </a:r>
            <a:endParaRPr lang="en-US" sz="1900" dirty="0"/>
          </a:p>
        </p:txBody>
      </p:sp>
      <p:sp>
        <p:nvSpPr>
          <p:cNvPr id="8" name="Text 6"/>
          <p:cNvSpPr/>
          <p:nvPr/>
        </p:nvSpPr>
        <p:spPr>
          <a:xfrm>
            <a:off x="1143000" y="2295144"/>
            <a:ext cx="1417320" cy="365760"/>
          </a:xfrm>
          <a:prstGeom prst="rect">
            <a:avLst/>
          </a:prstGeom>
          <a:noFill/>
          <a:ln/>
        </p:spPr>
        <p:txBody>
          <a:bodyPr wrap="square" lIns="0" tIns="0" rIns="0" bIns="0" rtlCol="0" anchor="ctr"/>
          <a:lstStyle/>
          <a:p>
            <a:pPr indent="0" marL="0">
              <a:buNone/>
            </a:pPr>
            <a:r>
              <a:rPr lang="en-US" sz="1300" b="1" dirty="0">
                <a:solidFill>
                  <a:srgbClr val="1F5C2E"/>
                </a:solidFill>
                <a:latin typeface="Times New Roman" pitchFamily="34" charset="0"/>
                <a:ea typeface="Times New Roman" pitchFamily="34" charset="-122"/>
                <a:cs typeface="Times New Roman" pitchFamily="34" charset="-120"/>
              </a:rPr>
              <a:t xml:space="preserve">SE SOSTIENE</a:t>
            </a:r>
            <a:endParaRPr lang="en-US" sz="1300" dirty="0"/>
          </a:p>
        </p:txBody>
      </p:sp>
      <p:sp>
        <p:nvSpPr>
          <p:cNvPr id="9" name="Text 7"/>
          <p:cNvSpPr/>
          <p:nvPr/>
        </p:nvSpPr>
        <p:spPr>
          <a:xfrm>
            <a:off x="2697480" y="2258568"/>
            <a:ext cx="5989320" cy="1143000"/>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 xml:space="preserve">La optimización NO determina la configuración adoptada. El argmax de la aptitud publicada es r = 1 (Fo = 1,7350) en 16 de las 25 configuraciones, no r = 25 (1,7057); y m queda en 0,30 porque es el piso del rango. El radio lo elige la batería de evaluación y el peso se justifica por criterios independientes: equivalencia del realce y saturación del 0,73 % frente al 6,50 % que produciría m = 1.</a:t>
            </a:r>
            <a:endParaRPr lang="en-US" sz="1250" dirty="0"/>
          </a:p>
        </p:txBody>
      </p:sp>
      <p:sp>
        <p:nvSpPr>
          <p:cNvPr id="10" name="Text 8"/>
          <p:cNvSpPr/>
          <p:nvPr/>
        </p:nvSpPr>
        <p:spPr>
          <a:xfrm>
            <a:off x="457200" y="3557016"/>
            <a:ext cx="640080" cy="411480"/>
          </a:xfrm>
          <a:prstGeom prst="rect">
            <a:avLst/>
          </a:prstGeom>
          <a:noFill/>
          <a:ln/>
        </p:spPr>
        <p:txBody>
          <a:bodyPr wrap="square" lIns="0" tIns="0" rIns="0" bIns="0" rtlCol="0" anchor="ctr"/>
          <a:lstStyle/>
          <a:p>
            <a:pPr indent="0" marL="0">
              <a:buNone/>
            </a:pPr>
            <a:r>
              <a:rPr lang="en-US" sz="1900" b="1" dirty="0">
                <a:solidFill>
                  <a:srgbClr val="1A1A1A"/>
                </a:solidFill>
                <a:latin typeface="Times New Roman" pitchFamily="34" charset="0"/>
                <a:ea typeface="Times New Roman" pitchFamily="34" charset="-122"/>
                <a:cs typeface="Times New Roman" pitchFamily="34" charset="-120"/>
              </a:rPr>
              <a:t xml:space="preserve">H6</a:t>
            </a:r>
            <a:endParaRPr lang="en-US" sz="1900" dirty="0"/>
          </a:p>
        </p:txBody>
      </p:sp>
      <p:sp>
        <p:nvSpPr>
          <p:cNvPr id="11" name="Text 9"/>
          <p:cNvSpPr/>
          <p:nvPr/>
        </p:nvSpPr>
        <p:spPr>
          <a:xfrm>
            <a:off x="1143000" y="3593592"/>
            <a:ext cx="1417320" cy="365760"/>
          </a:xfrm>
          <a:prstGeom prst="rect">
            <a:avLst/>
          </a:prstGeom>
          <a:noFill/>
          <a:ln/>
        </p:spPr>
        <p:txBody>
          <a:bodyPr wrap="square" lIns="0" tIns="0" rIns="0" bIns="0" rtlCol="0" anchor="ctr"/>
          <a:lstStyle/>
          <a:p>
            <a:pPr indent="0" marL="0">
              <a:buNone/>
            </a:pPr>
            <a:r>
              <a:rPr lang="en-US" sz="1300" b="1" dirty="0">
                <a:solidFill>
                  <a:srgbClr val="8B1A1A"/>
                </a:solidFill>
                <a:latin typeface="Times New Roman" pitchFamily="34" charset="0"/>
                <a:ea typeface="Times New Roman" pitchFamily="34" charset="-122"/>
                <a:cs typeface="Times New Roman" pitchFamily="34" charset="-120"/>
              </a:rPr>
              <a:t xml:space="preserve">RECHAZADA</a:t>
            </a:r>
            <a:endParaRPr lang="en-US" sz="1300" dirty="0"/>
          </a:p>
        </p:txBody>
      </p:sp>
      <p:sp>
        <p:nvSpPr>
          <p:cNvPr id="12" name="Text 10"/>
          <p:cNvSpPr/>
          <p:nvPr/>
        </p:nvSpPr>
        <p:spPr>
          <a:xfrm>
            <a:off x="2697480" y="3557016"/>
            <a:ext cx="5989320" cy="1143000"/>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 xml:space="preserve">RECHAZADA con muestra suficiente. Ninguna fusión supera al infrarrojo solo en LLVIP, el orden de calidad no predice el mAP (ρ = +0,214; p = 0,645) y en el conteo por escena de M3FD la propuesta queda por debajo del visible (50,0 % frente a 53,0 %; McNemar p = 0,2100). La mejor calidad de imagen no se traslada a la tarea.</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Conclusiones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20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Se formuló e implementó de forma reproducible un operador Top-Hat de una sola escala con banco de disco + líneas orientadas y suma de ramas.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barrido de 25 configuraciones con la aptitud y el rango publicados converge a m* = 0,30 en todas ellas, el piso del rango; el argmax del radio es r = 1 y se adopta r = 25 por el criterio de evaluación, no por la optimización.</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propuesta lidera la entropía (6,986) y la eficiencia de fusión (1,105) del benchmark y encabeza el ranking agregado de rangos medios (3,394), por delante de la pirámide de Laplace (3,911) y del Top-Hat clásico (3,944).</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Frente a la metodología clásica Top-Hat, el banco de SE y el ajuste automático mejoran seis de las nueve métricas con significancia estadística, incluida la similitud estructural.</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evaluación orientada a tarea arroja el hallazgo metodológico central: la configuración que maximiza las métricas de actividad no es la que maximiza el desempeño de detección. En M3FD la mejor entrada del par complementario es la Ratio Pyramid (0,622) y la propuesta alcanza 0,564; en el conteo por escena queda por debajo del visible solo. Ambos criterios deben reportarse por separado.</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Recomendaciones y trabajo futuro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21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Extender la evaluación de detección a otros detectores y al conjunto completo de LLVIP.</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Explorar reglas de fusión adaptativas para la rama Black Top-Hat.</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Complementar las métricas objetivas con una validación perceptual por observadores.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Evaluar la transferencia a otros dominios (imágenes médicas, aéreas).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Para aplicaciones donde prima la riqueza informativa y el detalle, la propuesta es la opción recomendada; donde prima la fidelidad a las fuentes, los métodos multiescala (DTCWT, CVT) siguen siendo preferibles.</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828800"/>
            <a:ext cx="8229600" cy="731520"/>
          </a:xfrm>
          <a:prstGeom prst="rect">
            <a:avLst/>
          </a:prstGeom>
          <a:noFill/>
          <a:ln/>
        </p:spPr>
        <p:txBody>
          <a:bodyPr wrap="square" lIns="0" tIns="0" rIns="0" bIns="0" rtlCol="0" anchor="ctr"/>
          <a:lstStyle/>
          <a:p>
            <a:pPr algn="ctr" indent="0" marL="0">
              <a:buNone/>
            </a:pPr>
            <a:r>
              <a:rPr lang="en-US" sz="3400" b="1" dirty="0">
                <a:solidFill>
                  <a:srgbClr val="1A1A1A"/>
                </a:solidFill>
                <a:latin typeface="Times New Roman" pitchFamily="34" charset="0"/>
                <a:ea typeface="Times New Roman" pitchFamily="34" charset="-122"/>
                <a:cs typeface="Times New Roman" pitchFamily="34" charset="-120"/>
              </a:rPr>
              <a:t>Muchas gracias</a:t>
            </a:r>
            <a:endParaRPr lang="en-US" sz="3400" dirty="0"/>
          </a:p>
        </p:txBody>
      </p:sp>
      <p:sp>
        <p:nvSpPr>
          <p:cNvPr id="3" name="Text 1"/>
          <p:cNvSpPr/>
          <p:nvPr/>
        </p:nvSpPr>
        <p:spPr>
          <a:xfrm>
            <a:off x="457200" y="2606040"/>
            <a:ext cx="8229600" cy="365760"/>
          </a:xfrm>
          <a:prstGeom prst="rect">
            <a:avLst/>
          </a:prstGeom>
          <a:noFill/>
          <a:ln/>
        </p:spPr>
        <p:txBody>
          <a:bodyPr wrap="square" lIns="0" tIns="0" rIns="0" bIns="0" rtlCol="0" anchor="ctr"/>
          <a:lstStyle/>
          <a:p>
            <a:pPr algn="ctr" indent="0" marL="0">
              <a:buNone/>
            </a:pPr>
            <a:r>
              <a:rPr lang="en-US" sz="1500" i="1" dirty="0">
                <a:solidFill>
                  <a:srgbClr val="666666"/>
                </a:solidFill>
                <a:latin typeface="Times New Roman" pitchFamily="34" charset="0"/>
                <a:ea typeface="Times New Roman" pitchFamily="34" charset="-122"/>
                <a:cs typeface="Times New Roman" pitchFamily="34" charset="-120"/>
              </a:rPr>
              <a:t>Preguntas y comentarios</a:t>
            </a:r>
            <a:endParaRPr lang="en-US" sz="1500" dirty="0"/>
          </a:p>
        </p:txBody>
      </p:sp>
      <p:sp>
        <p:nvSpPr>
          <p:cNvPr id="4" name="Text 2"/>
          <p:cNvSpPr/>
          <p:nvPr/>
        </p:nvSpPr>
        <p:spPr>
          <a:xfrm>
            <a:off x="457200" y="3383280"/>
            <a:ext cx="8229600" cy="320040"/>
          </a:xfrm>
          <a:prstGeom prst="rect">
            <a:avLst/>
          </a:prstGeom>
          <a:noFill/>
          <a:ln/>
        </p:spPr>
        <p:txBody>
          <a:bodyPr wrap="square" lIns="0" tIns="0" rIns="0" bIns="0" rtlCol="0" anchor="ctr"/>
          <a:lstStyle/>
          <a:p>
            <a:pPr algn="ctr" indent="0" marL="0">
              <a:buNone/>
            </a:pPr>
            <a:r>
              <a:rPr lang="en-US" sz="1200" dirty="0">
                <a:solidFill>
                  <a:srgbClr val="8B1A1A"/>
                </a:solidFill>
                <a:latin typeface="Times New Roman" pitchFamily="34" charset="0"/>
                <a:ea typeface="Times New Roman" pitchFamily="34" charset="-122"/>
                <a:cs typeface="Times New Roman" pitchFamily="34" charset="-120"/>
              </a:rPr>
              <a:t>Código y experimentos reproducibles:  github.com/YanBajac/TFM_Fusion_Imagenes_Propuesta_Oficial</a:t>
            </a:r>
            <a:endParaRPr lang="en-US" sz="1200" dirty="0"/>
          </a:p>
        </p:txBody>
      </p:sp>
      <p:sp>
        <p:nvSpPr>
          <p:cNvPr id="5" name="Text 3"/>
          <p:cNvSpPr/>
          <p:nvPr/>
        </p:nvSpPr>
        <p:spPr>
          <a:xfrm>
            <a:off x="457200" y="3794760"/>
            <a:ext cx="8229600" cy="32004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Lic. Juan Pablo Bazán  ·  Ing. Yan Bajac  —  Orientador: D.Sc. Julio César Mello</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Aporte 1 — El operador y su caracterización: un Top-Hat/Bottom-Hat de una sola escala con banco de cinco elementos estructurantes (un disco de radio r y cuatro segmentos lineales a 0°, 45°, 90° y 135°), y la determinación de en qué dirección desplaza el punto de operación de la fusión frente a la metodología clásica y a cinco configuraciones de referencia.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Aporte 2 — La auditoría del protocolo de evaluación: ¿qué autoriza a concluir un criterio formado por nueve métricas sin referencia de tipo «mayor es mejor», con los hiperparámetros elegidos sobre esas mismas métricas y una validación en tarea posterior?</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el propio desarrollo como caso de estudio. Los tres controles —control negativo con degradaciones conocidas, ablación del banco con hiperparámetros igualados y ajuste simétrico de los comparativos— están corridos, versionados y son reproducibles.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tesis no sostiene que el método sea mejor. Sostiene que desplaza el punto de operación en una dirección determinada, y que el orden de mérito que lo corona es propiedad del criterio.</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Siete hipótesis de trabajo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(operador) — El banco de cinco elementos estructurantes no mejora la fusión de manera uniforme: desplaza su punto de operación hacia el realce de la actividad espacial, en contra de la fidelidad a las fuentes.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H2 (criterio) — El orden de mérito de los métodos no es una propiedad del operador, sino del criterio con que se lo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H3 (criterio) — La batería de nueve métricas de tipo «mayor es mejor» es insuficiente como criterio de calidad, porque sus métricas de actividad crecen monótonamente con la varianza inyectada.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H4 (criterio) — La batería contiene al menos una métrica que no aporta información independiente de las demás.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H5 (criterio) — La optimización no determina la configuración adoptada: ambos hiperparámetros son decisiones apoyadas en parte del mismo criterio con el que después se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H6 (criterio) — El orden de mérito de las métricas de imagen no predice el orden de utilidad en una tarea posterior, y ninguna fusión supera por un margen distinguible a la mejor modalidad individual.</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H7 (operador) — Con el radio y el peso igualados, el banco de cinco elementos produce un perfil distinto del disco único.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se contrasta en §5.4 y §5.6; H6 en §5.5; H2, H3, H4, H5 y H7 en §5.8. Las siete, con experimentos corridos y versionados.</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9. Auditoría I — ¿discrimina calidad la batería de nueve métricas? (H3, H4)</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Control negativo: al ranking se añadieron siete entradas degradadas junto a los siete métodos —la imagen base sin operador, cuatro fusiones artificiales de ruido gaussiano y dos desenfoques—.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fusión de ruido con σ = 0,20 queda 3.ª de 14 (rango 6,767): por delante de cinco de los seis métodos comparativos y de la imagen base.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Y su rango MEJORA al aumentar el ruido: 8,917 → 7,850 → 6,972 → 6,767 para σ = 0,02 / 0,05 / 0,10 / 0,20. La batería juzga mejor a la imagen cuanto más ruido se le inyecta.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fallo es específico de la varianza y no de la degradación en general: el desenfoque sí se penaliza, y el de 11 × 11 queda último (9,822).</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Basta una métrica que penalice artefactos para corregirlo: incorporando Nabf el ruido cae al 7.º puesto; con las diecisiete métricas, al último (10,138).</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Redundancia interna: FE es la entropía de la fusión sobre el promedio de las entropías de las fuentes, y ese denominador no depende del método. Rangos intra-bloque idénticos a EN en las 20 imágenes y el mismo χ² de Friedman (88,2857): las dimensiones efectivas son ocho, no nueve.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Excluyendo FE la propuesta sigue primera (3,631 frente a 3,994 de la pirámide de Laplace): la redundancia no explica su primer lugar.</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 — el orden de mérito es propiedad del criterio (H2)</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15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Mismo operador, las mismas 140 imágenes fusionadas, dos composiciones del criterio.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del trabajo de referencia la propuesta es 1.ª de 7 (3,394). Con las diecisiete que el MISMO evaluador ya calcula —nueve más Qabf, Nabf, SCD, VIF, FMI, Q0, QW y QE— desciende a 3.ª (3,459): el primer lugar pasa a la pirámide de Laplace (3,147), el segundo a DTCWT (3,259) y el Top-Hat clásico cae al último (5,000).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No cambió ninguna imagen fusionada. Cambió el conjunto de métricas. Todo orden agregado debe reportarse junto a la composición que lo produce.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Ajuste simétrico: el protocolo concede a la propuesta un paso de ajuste que no concede a los comparativos. Dándoselo también a ellos, ninguna de las cinco configuraciones de referencia la alcanza (RP 3,772 · LP 4,028 · DWT 4,167 · DTCWT 4,211 · CVT 4,717, frente a 3,583).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Top-Hat clásico la supera por 0,061 (3,522), pero con m = 1, más del triple del peso. Ejecutándolo con (r, m) = (25; 0,30) —los mismos valores de la propuesta— la propuesta conserva el primer lugar: 3,528 frente a 3,694. La ventaja del clásico proviene de su peso, no del operador.</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primer lugar es un resultado sólido DENTRO del criterio del trabajo de referencia, no una propiedad independiente del criterio.</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III — ¿cuánto aporta el banco? Ablación con (r, m) igualados (H7)</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comparación con el Top-Hat clásico no aísla el banco: aquel usa r = 5 y m = 1, de modo que la diferencia observada mezcla banco, radio y peso. Para aislarlo se fijaron r = 25 y m = 0,30 en seis brazos que comparten todo salvo la forma de combinar las respuestas morfológicas.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suma de ramas —la que adopta la propuesta— es la mejor de los seis (3,222), por delante del máximo (3,311) y del disco único (3,367); el promedio queda en 3,533 y las líneas solas y la imagen base empatan últimas (3,783).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Lectura prudente: al retirar FE —que duplica la entropía, justo donde la suma obtiene su mayor ventaja— los seis brazos se comprimen en una banda de 3,444 a 3,631 y la suma baja al 4.º lugar (3,500).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diecisiete métricas el orden se invierte: máximo 2,932 · disco 3,153 · promedio 3,179 · suma 3,621 · líneas 3,756 · base 4,359.</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suma duplica la tasa de artefactos del disco único (Nabf 0,374 frente a 0,185): la novedad desplaza el punto de operación hacia el realce, no lo mejora de forma uniforme.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Lo que queda firme en todas las composiciones: la imagen base sin operador es la peor de los seis brazos con las diecisiete métricas (4,359). El mérito no proviene de la base. Pero la dirección del aporte depende del criterio, exactamente como enuncia H2. Y r = 1 no desactiva el banco: los cinco elementos siguen activos en una vecindad de 3 × 3.</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2026-07-27T02:05:02Z</dcterms:created>
  <dcterms:modified xsi:type="dcterms:W3CDTF">2026-07-27T02:05:02Z</dcterms:modified>
</cp:coreProperties>
</file>