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de encuadre: la tesis tiene DOS aportes — un operador de fusión VIS/IR por morfología matemática de una sola escala, y una auditoría del protocolo de evaluación con que se lo juzga, usando el propio desarrollo como caso de estudio. No decir «valida»: la lámina 4 sostiene que el método desplaza el punto de operación, no que sea mejor.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CINCO específicos: formular, delimitar el alcance del PSO, comparar, auditar la batería de métricas y evaluar en tarea. Son cinco, no cuatro: el que se olvida es OE4, la auditoría de la batería, que es la mitad del segundo aporte. El general también tiene dos mitades —el operador y la auditoría del protocolo con que se lo juzga—, y esa segunda se reparte entre OE2, OE4 y OE5.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lámina que reencuadra la defensa. Declarar acá los dos aportes evita que la auditoría se lea después como autosabotaje: todo lo que sigue, resultados negativos incluidos, es parte del diseño. Adelantarse a la objeción —«¿son dos aportes o uno con los resultados malos rebautizados?»— con el reparto: de las siete hipótesis, dos son del operador (H1 y H7) y cinco del criterio (H2 a H6), y las siete se sostienen. Nombrar antes que la mesa las tres declaraciones que el propio libro ya hace, que son resultados y no concesiones: FE es la entropía reescalada dentro de cada par, así que la batería mide ocho dimensiones y no nueve (H4, §5.8.1); ninguna de las nueve penaliza artefactos, y la única que lo hace, Nabf, deja a la propuesta en 0,374 y al clásico en 0,586 contra 0,114 de la pirámide (conclusión 8); y la optimización no determina la configuración adoptada (H5, §5.8.5). No decir «circularidad del radio»: la palabra no está en el libro y H5 va sobre los DOS hiperparámetros. Lo que queda fijado por completo es el peso: m = 0,30 en 499 de las 500 corridas, el piso del rango heredado. El radio, a la lámina 9: no abrirlo acá ni adelantar el barrido con el peso libre.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primer aporte,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La caja punteada: la búsqueda recorre (r, m), pero solo el peso sale de ahí, m = 0,30, el piso del rango publicado. No decir que el PSO calibra r y m — el propio flujograma dice «el radio es decisión de diseño»—: r = 25 lo elige la batería de evaluación, y el alcance real de la optimización es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NO decir «menos halos y ruido que RP/DWT»: es al revés. En la media de los 20 pares la propuesta realza más —SD 0,144 contra 0,127 de RP y 0,117 de DWT; entropía 6,986 contra 6,810 y 6,682— y ese realce se paga en artefactos: Nabf 0,374 contra 0,224 y 0,241. Frente al Top-Hat clásico sí es más limpia (Nabf 0,374 contra 0,586) y con más contraste (0,144 contra 0,135). Es un punto de operación desplazado, no dominancia. El montaje trae ahora una décima entrada, la metodología de la referencia (recuadro azul): el mismo disco único con el (r, m) de su PSO, r = 25 y m = 0,30, los mismos que la propuesta. Los dos últimos paneles se diferencian solo en el operador, así que ahí se ve la ablación del banco a ojo. Nabf no está entre las nueve reportadas y el informe lo declara: conviene decirlo antes de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preguntan por la caída del SSIM: es el precio del realce, y la lámina 13 lo cuantifica — el bloque de fidelidad da 17 de 20 contrastes adversos y significativos, mientras el de actividad espacial da 24 de 25 favorables.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la estadística respalda es la ACTIVIDAD ESPACIAL, no la fidelidad: cuidado con decir «limpieza y estructura», que es justo el bloque donde la propuesta pierde. El recuento por bloques es lo que sostiene H1: 24 de 25 contrastes a favor en actividad —el único que no alcanza significancia es SD frente a la pirámide de Laplace, p_Holm = 0,231— y 17 de 20 en contra en fidelidad. La propuesta pierde SSIM contra los cinco métodos de referencia: su rango medio en SSIM es 5,9 de 7. Nombrar las dos derrotas contra el Top-Hat clásico antes de que las nombre la mesa: el clásico realza más (MG 0,0478 contra 0,0355 y SF 23,10 contra 17,44) y la propuesta preserva más estructura e información (SSIM 0,658 contra 0,564, y las dos informaciones mutuas). El ranking sale de promediar los rangos por métrica (3,394), no de rankear los promedios (3,556); poder explicarlo si lo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mucho frente al VIS —de 0,813 a la banda 0,906–0,952— pero ninguna fusión supera al IR puro (0,971) en esta tarea nocturna. NO decir que entre fusiones las diferencias son pequeñas: la propuesta queda 0,046 por debajo de la mejor fusión, la mitad de lo que la fusión le gana al visible. El instrumento que convierte la observación en resultado es la correlación de Spearman entre el rango de calidad y el mAP: sin asociación y con el signo contrario al esperado. Optimizar actividad y optimizar desempeño en tarea son objetivos distintos, y un protocolo de evaluación debe reportar los dos. Si preguntan por el orden entre fusiones: se usó el checkpoint final (last.pt) y una sola semilla, así que los 0,0001 que separan a la propuesta de la Ratio Pyramid no son distinguibles del ruido de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RESERVA: no se expone en secuencia, mostrarla solo si la mesa pide el caso visual. Aclarar de entrada que es una ilustración y no la evidencia: lo que sostiene H6 es el conteo sobre las 232 escenas de la lámina 18. Los números son DETECCIONES sobre el umbral (conf ≥ 0,30), no aciertos emparejados con la verdad de campo. En la primera (00389), calle nocturna a contraluz: el visible detecta 3 personas, el infrarrojo 10 y la fusión 11, sobre 10 reales. Decir los tres números, no que el visible no ve nada. Y adelantarse al contraejemplo: en esa misma escena la fusión pierde una lámpara, 1 contra las 2 del visible, que son las 2 reales. En la segunda (00231) el infrarrojo NO es ciego a las luces: detecta 1 de las 5, se degrada en esa clase (AP@0,5 Lamp = 0,348), pero las ve. Lo que la fusión compra es sostener las dos clases a la vez: 8 personas y 7 lámparas, contra 10 y 1 del infrarrojo y 4 y 5 del visible —verdad de campo, 12 personas y 5 lámparas—. Ese es el punto: no ver lo que ninguna modalidad ve, sino no perder una clase para ganar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Las siete hipótesis se sostienen, y cinco de ellas son hallazgos sobre el criterio, no sobre el operador. No usar la etiqueta «parcial» para H6: con ρ = +0,214, p = 0,645 y 232 escenas, el rechazo de la hipótesis de traslación es limpio y es un aporte. 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punto de operación adoptado; perfil de calidad validado; ventaja sobre el clásico demostrada; y la lección sobre calidad vs. tarea. No decir «óptimo hallado»: la optimización no lo fija, y eso es H5. Dentro del rango publicado el máximo de la aptitud está en r = 1 (1,7350) contra 1,7057 en r = 25, y el peso queda en el piso, m = 0,30, en 499 de las 500 corridas. El r = 25 lo elige la batería de evaluación.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recomendación práctica: qué método elegir según el criterio operativo. Dejar claro que el pipeline completo es reproducible desde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hipótesis, dos familias: dos del operador (H1 y H7) y CINCO del criterio (H2 a H6) — cinco, no cuatro. Es el corte de la lámina 4: H1 y H7, primer aporte; H2 a H6, segundo. No leer las siete: leer H1, H2 y H6 y remitir al último párrafo, que es el mapa — H1 en §5.4 y §5.6, H6 en §5.5, las otras cinco en §5.8, la auditoría; ahí cae también H7, del operador, por la ablación con (r, m) igualados. H1 afirma desplazamiento del punto de operación, no mejora uniforme: la prueba por bloques está en la lámina 13. Sostener H6 equivale a rechazar que la calidad se traslade a la detección: es un resultado, no una limitación — 232 escenas de M3FD, 50,0 % contra 53,0 % del visible, y ρ = +0,214 con p = 0,645 en LLVIP. Si preguntan por H5: la búsqueda no fija el radio —r = 25 en el 51,4 % de las 500 corridas, r = 1 en el 45,6 %— y el máximo dentro del rango está en r = 1; no decir «el PSO halló r = 25». Anunciar que las siete se sostienen; el contraste, en la 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más fuerte del segundo aporte: presentarlo antes de que la mesa lo encuentre en el repositorio. No decir que la propuesta es ruido: con las nueve la propuesta es 1.ª de 14 (6,383) y el ruido 3.º (6,767). El mensaje es otro: la batería mide actividad espacial, no calidad de fusión — nueve métricas todas «mayor es mejor», ninguna que penalice artefactos. Una consecuencia metodológica por hallazgo: métrica de dirección inversa (H3) y declarar la redundancia (H4).</a:t>
            </a:r>
          </a:p>
          <a:p>
            <a:r>
              <a:t>Scripts, si preguntan: el control negativo es run_control_negativo.py (control_negativo_ranking.csv); la redundancia de FE sale de run_stats_analysis.py —avg_rank_sin_FE de ranking_methods.csv y el χ² de friedman_results.csv—. NO decir que los dos salen de run_control_negativo.py.</a:t>
            </a:r>
          </a:p>
          <a:p>
            <a:r>
              <a:t>Adelantarse a dos objeciones. Una: al sumar Nabf la imagen base pasa a la propuesta, 6,690 contra 6,760; es el punto de operación desplazado hacia el realce, y pasa solo en esa composición — con las diecisiete la propuesta vuelve a pasarla, 5,344 contra 6,521. Dos: sin FE la propuesta sigue 1.ª, pero solo cuatro de las siete posiciones se conservan y el Top-Hat clásico cae del 3.º al 6.º (3,944 → 4,131).</a:t>
            </a:r>
          </a:p>
          <a:p>
            <a:r>
              <a:t>Libro: §5.8.2 el control negativo (H3), §5.8.1 la redundancia (H4, junto con H2).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segundo aporte, no un resultado del operador: H2. Las dos mitades contestan por adelantado dos objeciones: «eligió las métricas que le convienen» y «ajustó sus hiperparámetros y dejó a los comparativos por defecto». Las dos versionadas, por vías distintas: la de las diecisiete métricas sale de all_metrics.csv —el mismo evaluador ya las calcula; el ranking lo arma make_avances_report.py—; la del ajuste simétrico, de run_ajuste_comparativos.py. Si preguntan por qué cae con las diecisiete: las ocho añadidas pesan bordes y artefactos —Nabf 0,374 contra 0,114 de la pirámide de Laplace, su peor rango de las diecisiete—. Adelantarse a «¿y si ajustaban también la propuesta?»: el mismo criterio le vuelve a elegir r = 25 entre once radios, así que ese escenario da lo mismo, 3,583. El matiz que lo salva es el peso: el clásico ajustado conserva m = 1; a peso igualado la propuesta gana por 0,166 —3,528 frente a 3,694—. Dar la cifra, no decir «con holgura». De reserva, no está en la lámina: las diecisiete CON comparativos ajustados dan 3,821, tercera, detrás de LP 3,141 y DTCWT 3,362 — el libro ya lo dice así, no hay errata que declarar.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objeción previsible: «¿cuánto aporta el banco en sí?». No saltearla por tiempo: la lámina 4 prometió tres controles corridos y versionados, y este es uno — un control de la auditoría que contrasta una hipótesis del operador. Acá se cruzan los dos aportes.</a:t>
            </a:r>
          </a:p>
          <a:p>
            <a:r>
              <a:t>No pedir disculpas por el 4.º sin FE (3,500) ni por el 4.º con las diecisiete (3,621). H7 dice «perfil distinto del disco único», no «mejor»: es el desplazamiento que enuncia H1. El dato duro, si lo piden (ablacion_banco_contrastes.csv): la suma contra el disco con los mismos (r, m) gana con significancia en seis métricas —EN, SD, FE, MG, SF y VIF—, pierde en nueve, todas de fidelidad o de artefactos, y empata en dos.</a:t>
            </a:r>
          </a:p>
          <a:p>
            <a:r>
              <a:t>Si preguntan por r = 1: no leer la lámina, ya lo dice. La respuesta fuerte es otra — el argmax en r = 1 es artefacto del rango heredado del peso; con el peso libre el máximo de Fo es r = 25 (1,7715 con m = 0,07) y r = 1 pasa a ser el peor (1,7607).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el máximo de la aptitud dentro del rango está en r = 1 (1,7350) contra 1,7057 en r = 25. El r = 25 adoptado lo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2017).</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366630" y="868680"/>
            <a:ext cx="6410739" cy="2400300"/>
          </a:xfrm>
          <a:prstGeom prst="rect">
            <a:avLst/>
          </a:prstGeom>
        </p:spPr>
      </p:pic>
      <p:sp>
        <p:nvSpPr>
          <p:cNvPr id="5" name="Text 2"/>
          <p:cNvSpPr/>
          <p:nvPr/>
        </p:nvSpPr>
        <p:spPr>
          <a:xfrm>
            <a:off x="457200" y="33696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p:nvPr/>
        </p:nvSpPr>
        <p:spPr>
          <a:xfrm>
            <a:off x="457200" y="960120"/>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H1</a:t>
            </a:r>
            <a:endParaRPr lang="en-US" sz="1900" dirty="0"/>
          </a:p>
        </p:txBody>
      </p:sp>
      <p:sp>
        <p:nvSpPr>
          <p:cNvPr id="5" name="Text 3"/>
          <p:cNvSpPr/>
          <p:nvPr/>
        </p:nvSpPr>
        <p:spPr>
          <a:xfrm>
            <a:off x="1143000" y="996696"/>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6" name="Text 4"/>
          <p:cNvSpPr/>
          <p:nvPr/>
        </p:nvSpPr>
        <p:spPr>
          <a:xfrm>
            <a:off x="2697480" y="960120"/>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El operador no mejora la fusión de manera uniforme: desplaza su punto de operación. En actividad espacial, 24 de 25 contrastes son favorables y significativos y ninguno es adverso con significancia; en fidelidad a las fuentes, 17 de 20 son adversos y significativos (Wilcoxon–Holm).</a:t>
            </a:r>
            <a:endParaRPr lang="en-US" sz="1250" dirty="0"/>
          </a:p>
        </p:txBody>
      </p:sp>
      <p:sp>
        <p:nvSpPr>
          <p:cNvPr id="7" name="Text 5"/>
          <p:cNvSpPr/>
          <p:nvPr/>
        </p:nvSpPr>
        <p:spPr>
          <a:xfrm>
            <a:off x="457200" y="2258568"/>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H5</a:t>
            </a:r>
            <a:endParaRPr lang="en-US" sz="1900" dirty="0"/>
          </a:p>
        </p:txBody>
      </p:sp>
      <p:sp>
        <p:nvSpPr>
          <p:cNvPr id="8" name="Text 6"/>
          <p:cNvSpPr/>
          <p:nvPr/>
        </p:nvSpPr>
        <p:spPr>
          <a:xfrm>
            <a:off x="1143000" y="2295144"/>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9" name="Text 7"/>
          <p:cNvSpPr/>
          <p:nvPr/>
        </p:nvSpPr>
        <p:spPr>
          <a:xfrm>
            <a:off x="2697480" y="2258568"/>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La optimización NO determina la configuración adoptada. En 500 corridas la búsqueda no fija el radio: r = 25 en el 51,4 % y r = 1 en el 45,6 %; y el máximo de la aptitud publicada dentro del rango está en r = 1 (1,7350), no en r = 25 (1,7057). El peso queda en el piso 0,30 en 499 de 500. El radio lo elige la batería de evaluación y el peso, la saturación: 0,73 % contra el 6,50 % que produciría m = 1.</a:t>
            </a:r>
            <a:endParaRPr lang="en-US" sz="1250" dirty="0"/>
          </a:p>
        </p:txBody>
      </p:sp>
      <p:sp>
        <p:nvSpPr>
          <p:cNvPr id="10" name="Text 8"/>
          <p:cNvSpPr/>
          <p:nvPr/>
        </p:nvSpPr>
        <p:spPr>
          <a:xfrm>
            <a:off x="457200" y="3557016"/>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H6</a:t>
            </a:r>
            <a:endParaRPr lang="en-US" sz="1900" dirty="0"/>
          </a:p>
        </p:txBody>
      </p:sp>
      <p:sp>
        <p:nvSpPr>
          <p:cNvPr id="11" name="Text 9"/>
          <p:cNvSpPr/>
          <p:nvPr/>
        </p:nvSpPr>
        <p:spPr>
          <a:xfrm>
            <a:off x="1143000" y="3593592"/>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12" name="Text 10"/>
          <p:cNvSpPr/>
          <p:nvPr/>
        </p:nvSpPr>
        <p:spPr>
          <a:xfrm>
            <a:off x="2697480" y="3557016"/>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SE SOSTIENE con muestra suficiente: lo que queda rechazado es la traslación de la calidad a la tarea, no la hipótesis. Ninguna fusión supera al infrarrojo solo en LLVIP (0,971 frente a 0,952 de la mejor fusión), el orden de calidad no predice el mAP (ρ = +0,214; p = 0,645) y en el conteo por escena de M3FD la propuesta queda por debajo del visible (50,0 % frente a 53,0 %; McNemar exacto p = 0,2100; n = 232).</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con la aptitud y el rango publicados, repetido 20 veces por celda —500 corridas—, converge a m* = 0,30 en el 99,8 %, el piso del rango; el máximo de la aptitud está en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al Top-Hat clásico (r = 5; m = 1) la propuesta mejora seis de las nueve métricas con significancia (p_Holm ≤ 0,0002), incluida la similitud estructural (0,658 frente a 0,564), y pierde en gradiente medio y frecuencia espacial. Esa diferencia mezcla banco, radio y peso; el aporte del banco aislado con (r, m) = (25; 0,30) es 3,222 frente a 3,367 del disco único con las nueve métricas, y se invierte con las diecisiete.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Extender la evaluación de detección a otros detectores y al conjunto completo de LLVIP.</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Explorar reglas de fusión adaptativas para la rama Black Top-Hat.</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Complementar las métricas objetivas con una validación perceptual por observadores.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Evaluar la transferencia a otros dominios (imágenes médicas, aéreas).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Para aplicaciones donde prima la riqueza informativa y el detalle, la propuesta es la opción recomendada; donde prima la fidelidad a las fuentes, los métodos multiescala (DTCWT, CVT) siguen siendo preferibles.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