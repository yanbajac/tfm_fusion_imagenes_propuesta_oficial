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a la mesa. Presentar el título y a los autores. Una frase: la tesis propone y valida un método de fusión de imágenes visibles e infrarrojas basado en morfología matemática de una sola escala, optimizado automáticamente.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 20 minutos: del problema al método, del método a la evidencia (calidad de imagen, estadística y detección), y de la evidencia a las conclusiones.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Motivar con la imagen: la misma escena en VIS, IR y fusionada. El problema práctico es la vigilancia nocturna: ni VIS ni IR bastan por separado.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objetivo general y cuatro específicos: formular, optimizar, comparar y evaluar en tarea. Cada específico se responde en una sección de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hipótesis: H1 sobre el operador, H2 sobre la optimización, H3 sobre la utilidad en tarea. Adelantar que H3 dará el resultado más matizado y honesto de la tesis.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intuitivamente: la apertura elimina lo claro pequeño; restarla de la imagen lo aísla (WTH). El dual con el cierre da BTH. La fusión clásica reinyecta ese detalle sobre la base promediada.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corazón de la tesis, leído sobre el flujograma: cinco elementos estructurantes (un disco + cuatro líneas de largo 2r+1) por fuente; las respuestas lineales se promedian y se SUMAN a la del disco — la suma acumula evidencia de ambas geometrías, el máximo solo elige una. Entre fuentes sí se toma el máximo, y la reconstrucción pondera con m. El PSO (caja punteada) calibra r y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controla la escala de las estructuras que se extraen; m cuánto realce se reinyecta. La aptitud publicada F_o combina fidelidad estructural (SSIM), información (entropía) y baja distorsión (PSNR). El barrido replica el Cuadro 1 de la FPUNA: el óptimo global de F_o para este operador es r=25 con m pequeño (≈0,07), que extrae estructuras grandes pero las pondera suavemente.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evaluaciones complementarias: calidad de imagen (TNO, sin referencia) y utilidad en tarea (LLVIP, con verdad de campo). En LLVIP solo cambian los píxeles de entrada; las etiquetas son las mismas, así el mAP aísla el efecto de la fusión.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representativa: la propuesta (recuadro rojo) integra la firma térmica de las personas con la textura de la casa y la vegetación, con menos halos y ruido que RP/DWT y más contraste local que el clásico.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Negritas = mejor por columna. No hay método universalmente dominante: la propuesta lidera SSIM, LP el contraste (SD) y la información mutua, el Top-Hat clásico la actividad (SF). El perfil de la propuesta es la fidelidad estructural.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evidencia estadística sostiene las ventajas donde la propuesta las reclama: limpieza y estructura, con significancia tras corregir por comparaciones múltiples. El ranking global es honesto: la propuesta no domina todo; domina su perfil.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hallazgo más matizado: fusionar aporta muchísimo frente al VIS, pero ninguna fusión supera al IR puro en esta tarea nocturna. Entre fusiones, las diferencias son pequeñas: la calidad de imagen no se traslada automáticamente al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experimento que delimita el valor de la fusión: un único YOLOv8n entrenado con VIS+IR mezcladas (4.000 imágenes, 40 épocas) e inferencia por método. Las personas solo se ven bien en IR y las luces solo en VIS; la fusión es la única entrada que detecta ambas a la vez. La propuesta es la mejor fusión del estudio en este escenario: detecta ambas clases complementarias en una sola imagen.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M3FD con la evidencia visual: dos escenas reales de la validación. En la primera, las personas están bajo el puente a contraluz: invisibles para el detector en VIS, obvias en IR y recuperadas por la fusión. En la segunda, el semáforo y las luces no emiten calor: el IR no los ve, la fusión sí — junto con las personas. Una sola imagen, ambas clases: eso es lo que la fusión compra.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H1 y H2 quedan sostenidas con evidencia estadística. H3 solo parcialmente: es el resultado más honesto del trabajo y anticipa la pregunta natural del tribunal — calidad de imagen y utilidad en tarea son criterios distintos.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conclusiones: método formulado, óptimo hallado, perfil de calidad validado, ventaja sobre el clásico demostrada, y la lección sobre calidad vs. tarea.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recomendación práctica: qué método elegir según el criterio operativo. Dejar claro que el pipeline completo es reproducible desde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a la mesa y al orientador. Ofrecer el repositorio para cualquier verificación.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UNIVERSIDAD COMUNERA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FACULTAD DE CIENCIAS Y TECNOLOGÍA — MAESTRÍA EN CIENCIAS DE DATOS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de Imágenes Infrarrojas y Visibles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mediante Morfología Matemática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propuesta de Top-Hat/Bottom-Hat de una sola escala con elementos estructurantes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 disco y lineales, optimizada por PSO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127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Defensa de Tesis de Maestría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Autores:  Lic. Juan Pablo Bazán   ·   Ing. Yan Bajac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Orientador:  D.Sc. Julio César Mello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Asunción – Paraguay · Septiembre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Contenido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Problema y justificación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Objetivos e hipótesis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 Marco: la transformada Top-Hat y la fusión clásica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 Propuesta novedosa: banco de elementos estructurantes y suma de ramas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 Optimización de hiperparámetros por PSO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 Diseño experimental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 Resultados: cualitativos, cuantitativos y estadísticos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 Evaluación orientada a tarea: detección en LLVIP y M3FD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 Conclusiones y recomendaciones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Problema y justificación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visible (VIS) aporta detalle y textura, pero se degrada en baja iluminación.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infrarrojo (IR) capta la firma térmica (personas, vehículos), pero pierde el contexto de la escena.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fusión a nivel de píxel integra ambas fuentes en una sola imagen útil para vigilancia nocturna.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métodos multiescala (pirámides, wavelets, curvelets) son efectivos pero pueden introducir artefactos.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La morfología matemática ofrece un marco alternativo de una sola escala: interpretable, de bajo costo y con un realce direccional gobernado por un solo peso. El compromiso que introduce es actividad espacial contra fidelidad a las fuentes, no una ventaja en artefactos: en la única métrica del estudio que los mide (Nabf, menor es mejor) los dos operadores morfológicos son los más agresivos del benchmark —0,374 la propuesta y 0,586 el Top-Hat clásico, frente a 0,114 de la pirámide de Laplace—.</a:t>
            </a:r>
            <a:endParaRPr lang="en-US" sz="1350" dirty="0"/>
          </a:p>
        </p:txBody>
      </p:sp>
      <p:pic>
        <p:nvPicPr>
          <p:cNvPr id="5" name="Image 0" descr="C:/Users/Usuario/Documents/unv/mastertesis/tesis_mciencias_datos/docs/figures/ejemplo_modalida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63240"/>
            <a:ext cx="7863840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Objetivos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 general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Desarrollar y evaluar un método de fusión VIS/IR basado en transformadas Top-Hat de una sola escala, con un banco de elementos estructurantes de disco y líneas combinado por suma, optimizado por PSO, comparándolo con la metodología clásica Top-Hat y con métodos representativos del estado del arte.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Objetivos específicos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8229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Formular el operador: disco de radio r + cuatro líneas orientadas (0°, 45°, 90°, 135°), con las respuestas lineales promediadas y sumadas a la del disco.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Ajustar los hiperparámetros (r, m) mediante PSO, con un barrido de 25 configuraciones del enjambre (Ortega y Espinoza, 2025).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Comparar con la fusión Top-Hat clásica y cinco métodos del estado del arte (LP, RP, DWT, DTCWT, CVT) sobre nueve métricas, con pruebas de Friedman y Wilcoxon–Holm.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el efecto en detección de peatones (YOLOv8n reentrenado sobre LLVIP).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Hipótesis de trabajo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05156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combinación del disco con las líneas orientadas —promediadas y sumadas— mejora la actividad, el detalle y el contenido informativo (EN, FE, SD, MG, SF) frente a los métodos del estado del arte, y supera a la metodología clásica Top-Hat en seis de las nueve métricas.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2585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80160" y="2258568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optimización de (r, m) por PSO alcanza un desempeño superior al de la parametrización manual del operador clásico.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346557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3465576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mejor calidad de fusión se traduce en un mejor desempeño de detección de objetos (mAP) que el de las modalidades individuales.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La transformada Top-Hat y la fusión clásica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White Top-Hat (WTH): extrae las estructuras claras más pequeñas que el elemento estructurante B.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Black Top-Hat (BTH): extrae las estructuras oscuras correspondientes.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clásica: un único disco (r = 5), máximo entre fuentes y reconstrucción sin ponderación (m = 1).</a:t>
            </a:r>
            <a:endParaRPr lang="en-US" sz="1300" dirty="0"/>
          </a:p>
        </p:txBody>
      </p:sp>
      <p:pic>
        <p:nvPicPr>
          <p:cNvPr id="5" name="Image 0" descr="C:/Users/Usuario/Documents/unv/mastertesis/tesis_mciencias_datos/docs/figures/fig_morfologia_top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914400"/>
            <a:ext cx="3657600" cy="1792224"/>
          </a:xfrm>
          <a:prstGeom prst="rect">
            <a:avLst/>
          </a:prstGeom>
        </p:spPr>
      </p:pic>
      <p:pic>
        <p:nvPicPr>
          <p:cNvPr id="6" name="Image 1" descr="C:\Users\Usuario\AppData\Local\Temp\claude\C--Users-Usuario-Documents-unv-mastertesis\fa0a2acc-a0da-4701-a920-18b20c70d3b2\scratchpad\pptx_build/assets/f_top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971800"/>
            <a:ext cx="3566160" cy="31089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2064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 = I_base + WTH_máx − BTH_máx      (apertura ∘, cierre •)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base I_base es el promedio de las fuentes; el detalle se reinyecta sobre ella.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Propuesta novedosa: banco de SE y suma de ramas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/ 19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fig_flujo_propues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77240"/>
            <a:ext cx="3246120" cy="4206240"/>
          </a:xfrm>
          <a:prstGeom prst="rect">
            <a:avLst/>
          </a:prstGeom>
        </p:spPr>
      </p:pic>
      <p:pic>
        <p:nvPicPr>
          <p:cNvPr id="5" name="Image 1" descr="C:/Users/Usuario/Documents/unv/mastertesis/tesis_mciencias_datos/docs/figures/fig_cinco_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868680"/>
            <a:ext cx="4754880" cy="95097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977640" y="205740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sola escala (sin cascada multiescala).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Promedio de las 4 orientaciones lineales (ec. 7) + respuesta del disco (ec. 8).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Novedad: suma de la rama lineal y la del disco (en lugar del máximo).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Máximo entre fuentes (ec. 10) y reconstrucción ponderada con m (ec. 11).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Esquema de Bala et al. (2024), trasladado del realce de fondo de ojo a la fusión VIS/IR.</a:t>
            </a:r>
            <a:endParaRPr lang="en-US" sz="1200" dirty="0"/>
          </a:p>
        </p:txBody>
      </p:sp>
      <p:pic>
        <p:nvPicPr>
          <p:cNvPr id="7" name="Image 2" descr="C:\Users\Usuario\AppData\Local\Temp\claude\C--Users-Usuario-Documents-unv-mastertesis\fa0a2acc-a0da-4701-a920-18b20c70d3b2\scratchpad\pptx_build/assets/f_sum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343400"/>
            <a:ext cx="4480560" cy="3264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Optimización por enjambre de partículas (PSO)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optimizan dos hiperparámetros: r (radio del disco y largo 2r+1 de las líneas) y m (peso del realce).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Aptitud publicada de Ortega y Espinoza (2025), sin pesos arbitrarios:</a:t>
            </a:r>
            <a:endParaRPr lang="en-US" sz="1300" dirty="0"/>
          </a:p>
        </p:txBody>
      </p:sp>
      <p:pic>
        <p:nvPicPr>
          <p:cNvPr id="5" name="Image 0" descr="C:\Users\Usuario\AppData\Local\Temp\claude\C--Users-Usuario-Documents-unv-mastertesis\fa0a2acc-a0da-4701-a920-18b20c70d3b2\scratchpad\pptx_build/assets/f_aptit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8840"/>
            <a:ext cx="3383280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88036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Barrido de 25 configuraciones del enjambre: partículas 2–10 × iteraciones 10–50 (réplica de Ortega y Espinoza, 2025).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Las 25 configuraciones convergen al mismo peso, m* = 0,30, porque es el piso del rango publicado: la aptitud decrece de forma monótona en m. Y el argmax del radio dentro de ese rango es r = 1 (Fo = 1,7350) —en 16 de las 25 configuraciones— y no r = 25 (Fo = 1,7057), que aparece en 8. La configuración adoptada, r = 25, la selecciona el bloque de actividad de la batería de evaluación, no la optimización.</a:t>
            </a:r>
            <a:endParaRPr lang="en-US" sz="1300" dirty="0"/>
          </a:p>
        </p:txBody>
      </p:sp>
      <p:pic>
        <p:nvPicPr>
          <p:cNvPr id="7" name="Image 1" descr="C:\Users\Usuario\AppData\Local\Temp\claude\C--Users-Usuario-Documents-unv-mastertesis\fa0a2acc-a0da-4701-a920-18b20c70d3b2\scratchpad\pptx_build/assets/pso_barr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34440"/>
            <a:ext cx="3657600" cy="23500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2920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ω: 0,9 → 0,4 · c₁ = c₂ = 1,5 · r ∈ [1, 25] · m ∈ [0,30; 2,00] (rango publicado)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Diseño experimental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Benchmark de calidad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 pares VIS/IR del dataset TNO (Toet, 2014).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7 métodos: LP, RP, DWT, DTCWT, CVT (aprox. wavelet db4), Top-Hat clásico y Propuesta → 140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Nueve métricas sin referencia (EN, SD, FE, MG, MI_vis, MI_ir, SF, SSIM, PSNR).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 global + Wilcoxon pareado con corrección de Holm (α = 0,05).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Evaluación orientada a tarea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846320" y="118872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etiquetado LLVIP (peatones nocturnos): 2.000 imágenes de entrenamiento y 500 de validación.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YOLOv8n reentrenado por modalidad (40 épocas), 9 entradas: VIS, IR y las 7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Etiquetas idénticas entre modalidades: la diferencia de mAP aísla el efecto del método de fusión.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Resultados cualitativos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/ 19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cualitativas/montaje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4792" y="777240"/>
            <a:ext cx="5623560" cy="40050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2803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20 montajes por escena están disponibles en el repositorio (docs/figures/cualitativas/).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Resultados cuantitativos — medias sobre 20 pares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 / 19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42416"/>
                <a:gridCol w="1042416"/>
                <a:gridCol w="1042416"/>
                <a:gridCol w="1042416"/>
                <a:gridCol w="1042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Método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EN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SD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SF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SSIM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Pirámide de Laplace (LP)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6,840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1,081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0,155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13,22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0,706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Ratio Pyramid (RP)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6,810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1,077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0,127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13,62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0,705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Wavelet discreta (DWT)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6,682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1,057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0,117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14,19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0,701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DTCWT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6,688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1,058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0,117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13,20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0,725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CVT (aprox. wavelet db4)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6,644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1,051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0,113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13,34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0,716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Top-Hat clásico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6,922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1,095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0,135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23,10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0,564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Propuesta Novedosa (r=25; m=0,30)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6,986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1,105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0,144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17,44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 xml:space="preserve">0,658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947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La propuesta lidera la entropía (6,986) y con ella la eficiencia de fusión (1,105), que es esa misma entropía reescalada por una constante por escena y no una dimensión independiente; queda segunda en contraste (0,144), gradiente medio (0,0355) y frecuencia espacial (17,44), detrás del Top-Hat clásico en las dos últimas.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Cede las cuatro métricas de fidelidad, lideradas por los multiescala: MI_vis y MI_ir por la pirámide de Laplace, SSIM (0,658) por DTCWT y PSNR por la aproximación CVT. No hay dominancia global: hay un punto de operación desplazado. En el ranking de rangos medios intra-bloque de las nueve métricas la propuesta es 1.ª de 7 (3,394), por delante de la pirámide de Laplace (3,911) y del Top-Hat clásico (3,944) — bajo este criterio.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Análisis estadístico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Friedman: diferencias significativas en las nueve métricas (p &lt; 0,001).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Wilcoxon pareado con corrección de Holm, propuesta frente a las cinco configuraciones de referencia, leído por bloques: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Bloque de ACTIVIDAD ESPACIAL (EN, SD, FE, MG, SF): 24 de 25 contrastes favorables y significativos, y ninguno adverso.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Bloque de FIDELIDAD A LAS FUENTES (MI_vis, MI_ir, SSIM, PSNR): 17 de 20 adversos y significativos, uno solo favorable.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Esa asimetría es H1: el operador no mejora de manera uniforme, desplaza el punto de operación de la fusión.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Frente al Top-Hat clásico gana en 6 de las 9 métricas —entropía (6,986 frente a 6,922), contraste (0,144 frente a 0,135), eficiencia de fusión, ambas informaciones mutuas y SSIM (0,658 frente a 0,564)— con p_Holm ≤ 0,0002; pierde con significancia en gradiente medio (0,0355 frente a 0,0478) y frecuencia espacial (17,44 frente a 23,10); y empata en PSNR (p_Holm = 0,674).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Ranking de rangos medios intra-bloque, nueve métricas: Propuesta 3,394 · LP 3,911 · TH clásico 3,944 · RP 3,983 · DTCWT 4,111 · DWT 4,211 · CVT 4,444 — la propuesta encabeza el benchmark, a 0,517 de la segunda.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Detección en LLVIP — mAP@0,5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 / 19</a:t>
            </a:r>
            <a:endParaRPr lang="en-US" sz="900" dirty="0"/>
          </a:p>
        </p:txBody>
      </p:sp>
      <p:pic>
        <p:nvPicPr>
          <p:cNvPr id="4" name="Image 0" descr="C:\Users\Usuario\AppData\Local\Temp\claude\C--Users-Usuario-Documents-unv-mastertesis\fa0a2acc-a0da-4701-a920-18b20c70d3b2\scratchpad\pptx_build/assets/map_llv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822960"/>
            <a:ext cx="7223760" cy="2761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70332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Toda fusión supera al visible solo (mAP@0,5 de 0,813 a una banda de 0,906–0,952, es decir entre +0,09 y +0,14); el infrarrojo solo lidera (0,971): en peatones nocturnos domina la firma térmica.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La Propuesta Novedosa queda en el extremo inferior de la banda de fusiones (0,906, a la par de la Ratio Pyramid): el realce que premian las métricas de actividad no ayuda al detector.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El orden de calidad no predice el orden de utilidad: la correlación de Spearman entre el rango de las nueve métricas y el mAP es ρ = +0,214 con p = 0,645, sin asociación y con el signo contrario al esperado.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Clases complementarias en M3FD — un detector único VIS+IR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 / 19</a:t>
            </a:r>
            <a:endParaRPr lang="en-US" sz="900" dirty="0"/>
          </a:p>
        </p:txBody>
      </p:sp>
      <p:pic>
        <p:nvPicPr>
          <p:cNvPr id="4" name="Image 0" descr="C:\Users\Usuario\AppData\Local\Temp\claude\C--Users-Usuario-Documents-unv-mastertesis\fa0a2acc-a0da-4701-a920-18b20c70d3b2\scratchpad\pptx_build/assets/m3fd_p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68680"/>
            <a:ext cx="7863840" cy="29443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913632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Complementariedad real pero asimétrica: el infrarrojo domina en personas (AP@0,5 = 0,779 frente a 0,621 del visible) y se degrada en luces (0,348), mientras el visible sostiene ambas clases en un nivel parejo (0,621 y 0,616). No hay patrón espejo: ninguna modalidad es ciega, y el argumento a favor de fusionar es que ninguna es la mejor en las dos clases a la vez.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Promedio del par complementario: la Ratio Pyramid es la única entrada que supera a ambas modalidades (0,622 frente a 0,618 del visible y 0,563 del infrarrojo). La propuesta alcanza 0,564 —7.ª de las nueve entradas—, por debajo del visible y a la par del infrarrojo; en mAP@0,5 global queda 5.ª de las siete fusiones (0,651 frente a 0,677 de RP).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Conteo por escena sobre 232 escenas con ambas clases: el mejor caso es la pirámide de Laplace (57,8 %) y cuatro de las siete fusiones quedan por debajo del visible solo (53,0 %). La propuesta recupera ambas en el 50,0 %, con 8 escenas ganadas y 15 perdidas frente al visible (McNemar exacto p = 0,2100), y resuelve 2 de las 90 escenas críticas.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prueba visual: ambas clases en una sola imagen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 / 19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fig_m3fd_detecci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822960"/>
            <a:ext cx="6309360" cy="4069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Arriba (escena 00389): la fusión detecta 11 personas, frente a 3 del visible y 10 del infrarrojo. Abajo (escena 00231): conserva 7 luces y 8 personas, frente a 5 luces del visible y una sola del infrarrojo. El infrarrojo no es ciego a las luces; lo que la fusión aporta es sostener las dos clases a la vez.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Contraste de hipótesis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H1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3000" y="99669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SE SOSTIENE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697480" y="960120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El operador no mejora la fusión de manera uniforme: desplaza su punto de operación. En actividad espacial, 24 de 25 contrastes son favorables y ninguno adverso; en fidelidad a las fuentes, 17 de 20 son adversos (Wilcoxon–Holm).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2585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H5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43000" y="229514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SE SOSTIENE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697480" y="2258568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La optimización NO determina la configuración adoptada. El argmax de la aptitud publicada es r = 1 (Fo = 1,7350) en 16 de las 25 configuraciones, no r = 25 (1,7057); y m queda en 0,30 porque es el piso del rango. El radio lo elige la batería de evaluación y el peso se justifica por criterios independientes: equivalencia del realce y saturación del 0,73 % frente al 6,50 % que produciría m = 1.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35570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H6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143000" y="35935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RECHAZADA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97480" y="3557016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RECHAZADA con muestra suficiente. Ninguna fusión supera al infrarrojo solo en LLVIP, el orden de calidad no predice el mAP (ρ = +0,214; p = 0,645) y en el conteo por escena de M3FD la propuesta queda por debajo del visible (50,0 % frente a 53,0 %; McNemar p = 0,2100). La mejor calidad de imagen no se traslada a la tarea.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Conclusiones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formuló e implementó de forma reproducible un operador Top-Hat de una sola escala con banco de disco + líneas orientadas y suma de ramas.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El barrido de 25 configuraciones con la aptitud y el rango publicados converge a m* = 0,30 en todas ellas, el piso del rango; el argmax del radio es r = 1 y se adopta r = 25 por el criterio de evaluación, no por la optimización.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La propuesta lidera la entropía (6,986) y la eficiencia de fusión (1,105) del benchmark y encabeza el ranking agregado de rangos medios (3,394), por delante de la pirámide de Laplace (3,911) y del Top-Hat clásico (3,944).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Frente a la metodología clásica Top-Hat, el banco de SE y el ajuste automático mejoran seis de las nueve métricas con significancia estadística, incluida la similitud estructural.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 xml:space="preserve">La evaluación orientada a tarea arroja el hallazgo metodológico central: la configuración que maximiza las métricas de actividad no es la que maximiza el desempeño de detección. En M3FD la mejor entrada del par complementario es la Ratio Pyramid (0,622) y la propuesta alcanza 0,564; en el conteo por escena queda por debajo del visible solo. Ambos criterios deben reportarse por separado.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Recomendaciones y trabajo futuro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Extender la evaluación de detección a otros detectores y al conjunto completo de LLVIP.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Explorar reglas de fusión adaptativas para la rama Black Top-Hat.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Complementar las métricas objetivas con una validación perceptual por observadores.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la transferencia a otros dominios (imágenes médicas, aéreas).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 aplicaciones donde prima la riqueza informativa y el detalle, la propuesta es la opción recomendada; donde prima la fidelidad a las fuentes, los métodos multiescala (DTCWT, CVT) siguen siendo preferibles.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Muchas gracias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Preguntas y comentarios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Código y experimentos reproducibles:  github.com/YanBajac/TFM_Fusion_Imagenes_Propuesta_Oficial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Lic. Juan Pablo Bazán  ·  Ing. Yan Bajac  —  Orientador: D.Sc. Julio César Mello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2026-07-27T02:05:02Z</dcterms:created>
  <dcterms:modified xsi:type="dcterms:W3CDTF">2026-07-27T02:05:02Z</dcterms:modified>
</cp:coreProperties>
</file>