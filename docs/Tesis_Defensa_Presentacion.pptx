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5" r:id="rId26"/>
    <p:sldId id="259" r:id="rId5"/>
    <p:sldId id="276" r:id="rId27"/>
    <p:sldId id="261" r:id="rId7"/>
    <p:sldId id="262" r:id="rId8"/>
    <p:sldId id="263" r:id="rId9"/>
    <p:sldId id="264" r:id="rId10"/>
    <p:sldId id="265" r:id="rId11"/>
    <p:sldId id="266" r:id="rId12"/>
    <p:sldId id="267" r:id="rId13"/>
    <p:sldId id="277" r:id="rId28"/>
    <p:sldId id="278" r:id="rId29"/>
    <p:sldId id="279" r:id="rId30"/>
    <p:sldId id="268" r:id="rId14"/>
    <p:sldId id="269" r:id="rId15"/>
    <p:sldId id="271" r:id="rId17"/>
    <p:sldId id="272" r:id="rId18"/>
    <p:sldId id="273" r:id="rId19"/>
    <p:sldId id="274" r:id="rId20"/>
    <p:sldId id="270" r:id="rId16"/>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7.xml"/><Relationship Id="rId15" Type="http://schemas.openxmlformats.org/officeDocument/2006/relationships/slide" Target="slides/slide18.xml"/><Relationship Id="rId16" Type="http://schemas.openxmlformats.org/officeDocument/2006/relationships/slide" Target="slides/slide23.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4.xml"/><Relationship Id="rId27" Type="http://schemas.openxmlformats.org/officeDocument/2006/relationships/slide" Target="slides/slide6.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Saludo a la mesa. Presentar el título y a los autores. Una frase de encuadre: la tesis tiene DOS aportes — un operador de fusión VIS/IR por morfología matemática de una sola escala, y una auditoría del protocolo de evaluación con que se lo juzga, usando el propio desarrollo como caso de estudio. No decir «valida»: la lámina 4 sostiene que el método desplaza el punto de operación, no que sea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de 20 minutos. Señalar el corte: los puntos 1 a 8 son el primer aporte —el operador y su caracterización— y el punto 9 es el segundo, la auditoría del criterio con que se lo evaluó; el punto 10 alimenta a los dos. Los resultados negativos de los puntos 9 y 10 son parte del diseño del trabajo, no una concesión.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Motivar con la imagen: la misma escena en VIS, IR y fusionada. Ni VIS ni IR bastan por separado.</a:t>
            </a:r>
          </a:p>
          <a:p/>
          <a:p>
            <a:r>
              <a:t>Retirar acá la promesa de «pocos artefactos»: el trabajo no puede sostenerla. Ninguna de las nueve métricas reportadas penaliza artefactos, y la única que sí lo hace, Nabf, deja a los dos operadores morfológicos como los dos peores del benchmark: 0,374 la propuesta y 0,586 el clásico contra 0,114 de la pirámide de Laplace.</a:t>
            </a:r>
          </a:p>
          <a:p/>
          <a:p>
            <a:r>
              <a:t>Esa constatación es el arranque del segundo aporte, y el último párrafo la anuncia: son dos preguntas, no una.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objetivo general y CINCO específicos: formular, delimitar el alcance del PSO, comparar, auditar la batería de métricas y evaluar en tarea. Son cinco, no cuatro: el que se olvida es OE4, la auditoría de la batería, que es la mitad del segundo aporte. El general también tiene dos mitades —el operador y la auditoría del protocolo con que se lo juzga—, y esa segunda se reparte entre OE2, OE4 y OE5. Cada específico se responde en una sección de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lámina que reencuadra la defensa. Declarar acá los dos aportes evita que la auditoría se lea después como autosabotaje: todo lo que sigue, resultados negativos incluidos, es parte del diseño. Adelantarse a la objeción —«¿son dos aportes o uno con los resultados malos rebautizados?»— con el reparto: de las siete hipótesis, dos son del operador (H1 y H7) y cinco del criterio (H2 a H6), y las siete se sostienen. Nombrar antes que la mesa las tres declaraciones que el propio libro ya hace, que son resultados y no concesiones: FE es la entropía reescalada dentro de cada par, así que la batería mide ocho dimensiones y no nueve (H4, §5.8.1); ninguna de las nueve penaliza artefactos, y la única que lo hace, Nabf, deja a la propuesta en 0,374 y al clásico en 0,586 contra 0,114 de la pirámide (conclusión 8); y la optimización no determina la configuración adoptada (H5, §5.8.5). No decir «circularidad del radio»: la palabra no está en el libro y H5 va sobre los DOS hiperparámetros. Lo que queda fijado por completo es el peso: m = 0,30 en 499 de las 500 corridas, el piso del rango heredado. El radio, a la lámina 9: no abrirlo acá ni adelantar el barrido con el peso libre.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intuitivamente: la apertura elimina lo claro pequeño; restarla de la imagen lo aísla (WTH). El dual con el cierre da BTH. La fusión clásica reinyecta ese detalle sobre la base promediada.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corazón del primer aporte, leído sobre el flujograma: cinco elementos estructurantes (un disco + cuatro líneas de largo 2r+1) por fuente; las respuestas lineales se promedian y se SUMAN a la del disco — la suma acumula evidencia de ambas geometrías, el máximo solo elige una. Entre fuentes sí se toma el máximo, y la reconstrucción pondera con m. La caja punteada: la búsqueda recorre (r, m), pero solo el peso sale de ahí, m = 0,30, el piso del rango publicado. No decir que el PSO calibra r y m — el propio flujograma dice «el radio es decisión de diseño»—: r = 25 lo elige la batería de evaluación, y el alcance real de la optimización es la lámina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r controla la escala de las estructuras que se extraen; m cuánto realce se reinyecta. La aptitud publicada F_o combina fidelidad estructural (SSIM), información (entropía) y baja distorsión (PSNR), y el barrido replica el Cuadro 1 de la FPUNA. Precisión sobre el óptimo, por si preguntan: dentro del rango publicado (m ≥ 0,30) el argmax de F_o es r = 1 con 1,7350 frente a 1,7057 en r = 25; sin esa restricción el óptimo de F_o es r = 25 con m = 0,07 y 1,7715 —el radio que esta tesis adopta—, y ahí coincide con el de la aptitud paralela F_apt, que también pica en m ≈ 0,0703. Con 500 corridas el peso queda en el piso en 499 y el radio se reparte 51,4 % en r = 25 contra 45,6 % en r = 1: la búsqueda no fija el radio. Si preguntan por qué m = 0,30 y no un valor mayor: el banco extrae 4,21 veces la energía de detalle del disco, así que m = 0,30 aquí equivale a m ≈ 1,26 sobre un disco único. El barrido de Ortega y Espinoza —mismo rango, misma aptitud, disco único— selecciona pesos de 0,300 a 2,000 con mediana 0,695 sobre sus 125 corridas: su óptimo cae en el INTERIOR y solo una de sus cinco escenas se ancla en el piso. El anclaje al piso es entonces del operador, no de la aptitud. Y a ellas lo que se les apoya en la cota es el radio: r = 25 en 104 de sus 125 corridas. No decir que el PSO «halló» r = 25 como óptimo: lo devuelve en el 51,4 % de las corridas, pero el máximo dentro del rango está en r = 1; el radio lo fija la batería de evaluación.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Tres bloques, no dos: el benchmark de calidad, los cuatro controles de la auditoría y los dos experimentos de detección. Antes esta lámina proyectaba sólo dos, así que el segundo aporte que la lámina 4 promete no tenía diseño experimental a la vista.</a:t>
            </a:r>
          </a:p>
          <a:p/>
          <a:p>
            <a:r>
              <a:t>En LLVIP sólo cambian los píxeles de entrada; las etiquetas son las mismas, así el mAP atribuye el efecto a la fusión.</a:t>
            </a:r>
          </a:p>
          <a:p/>
          <a:p>
            <a:r>
              <a:t>Declarar de entrada las limitaciones del pie —CVT como wavelet db4, las series de tomas de la misma escena, la ausencia de partición de prueba y la única semilla— porque son las cuatro primeras preguntas previsibles de la mesa. Es mejor decirlas antes de que las pregunten.</a:t>
            </a:r>
          </a:p>
          <a:p/>
          <a:p>
            <a:r>
              <a:t>Si preguntan cuántas escenas distintas son: hay series de hasta tres tomas de la misma escena (APC 1, APC 3 y soldier behind smoke, tres cada una), y las dos de soldier in trench son sesiones de medición distintas. Según se cuenten esas dos, son 13 o 14 escenas. No se proyecta un número porque el criterio de agrupamiento no está versionado; lo que sí está verificado es que las conclusiones se sostienen agregando por escena.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Escena representativa: la propuesta (recuadro rojo) integra la firma térmica de las personas con la textura de la casa y la vegetación. NO decir «menos halos y ruido que RP/DWT»: es al revés. En la media de los 20 pares la propuesta realza más —SD 0,144 contra 0,127 de RP y 0,117 de DWT; entropía 6,986 contra 6,810 y 6,682— y ese realce se paga en artefactos: Nabf 0,374 contra 0,224 y 0,241. Frente al Top-Hat clásico sí es más limpia (Nabf 0,374 contra 0,586) y con más contraste (0,144 contra 0,135). Es un punto de operación desplazado, no dominancia. El montaje trae ahora una décima entrada, la metodología de la referencia (recuadro azul): el mismo disco único con el (r, m) de su PSO, r = 25 y m = 0,30, los mismos que la propuesta. Los dos últimos paneles se diferencian solo en el operador, así que ahí se ve la ablación del banco a ojo. Nabf no está entre las nueve reportadas y el informe lo declara: conviene decirlo antes de que lo pregunten.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Negritas = mejor por columna. No hay método universalmente dominante: la propuesta lidera la entropía y la eficiencia de fusión, LP el contraste (SD) y la información mutua, DTCWT la similitud estructural y el Top-Hat clásico la actividad bruta (MG y SF). El perfil de la propuesta es la actividad espacial, NO la fidelidad: su SSIM (0,658) es el penúltimo de los siete, solo por encima del Top-Hat clásico. Si preguntan por la caída del SSIM: es el precio del realce, y la lámina 13 lo cuantifica — el bloque de fidelidad da 17 de 20 contrastes adversos y significativos, mientras el de actividad espacial da 24 de 25 favorables.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la estadística respalda es la ACTIVIDAD ESPACIAL, no la fidelidad: cuidado con decir «limpieza y estructura», que es justo el bloque donde la propuesta pierde. El recuento por bloques es lo que sostiene H1: 24 de 25 contrastes a favor en actividad —el único que no alcanza significancia es SD frente a la pirámide de Laplace, p_Holm = 0,231— y 17 de 20 en contra en fidelidad. La propuesta pierde SSIM contra los cinco métodos de referencia: su rango medio en SSIM es 5,9 de 7. Nombrar las dos derrotas contra el Top-Hat clásico antes de que las nombre la mesa: el clásico realza más (MG 0,0478 contra 0,0355 y SF 23,10 contra 17,44) y la propuesta preserva más estructura e información (SSIM 0,658 contra 0,564, y las dos informaciones mutuas). El ranking sale de promediar los rangos por métrica (3,394), no de rankear los promedios (3,556); poder explicarlo si lo preguntan.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hallazgo más matizado: fusionar aporta mucho frente al VIS —de 0,813 a la banda 0,906–0,952— pero ninguna fusión supera al IR puro (0,971) en esta tarea nocturna. NO decir que entre fusiones las diferencias son pequeñas: la propuesta queda 0,046 por debajo de la mejor fusión, la mitad de lo que la fusión le gana al visible. El instrumento que convierte la observación en resultado es la correlación de Spearman entre el rango de calidad y el mAP: sin asociación y con el signo contrario al esperado. Optimizar actividad y optimizar desempeño en tarea son objetivos distintos, y un protocolo de evaluación debe reportar los dos. Si preguntan por el orden entre fusiones: se usó el checkpoint final (last.pt) y una sola semilla, así que los 0,0001 que separan a la propuesta de la Ratio Pyramid no son distinguibles del ruido de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único YOLOv8n entrenado con VIS+IR mezcladas e inferencia por método, sobre 232 escenas que contienen las dos clases. Corregir dos afirmaciones de la versión anterior: el infrarrojo NO es ciego a las luces (0,348) y la propuesta NO es la mejor fusión del estudio en este escenario. El resultado que sí aporta el experimento es el conteo por escena, que es la operacionalización que pide OE5: la propuesta queda por debajo del visible solo. Si la mesa pide el caso visual, está en la diapositiva de reserva, con sus conteos reales.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RESERVA: no se expone en secuencia, mostrarla solo si la mesa pide el caso visual. Aclarar de entrada que es una ilustración y no la evidencia: lo que sostiene H6 es el conteo sobre las 232 escenas de la lámina 18. Los números son DETECCIONES sobre el umbral (conf ≥ 0,30), no aciertos emparejados con la verdad de campo. En la primera (00389), calle nocturna a contraluz: el visible detecta 3 personas, el infrarrojo 10 y la fusión 11, sobre 10 reales. Decir los tres números, no que el visible no ve nada. Y adelantarse al contraejemplo: en esa misma escena la fusión pierde una lámpara, 1 contra las 2 del visible, que son las 2 reales. En la segunda (00231) el infrarrojo NO es ciego a las luces: detecta 1 de las 5, se degrada en esa clase (AP@0,5 Lamp = 0,348), pero las ve. Lo que la fusión compra es sostener las dos clases a la vez: 8 personas y 7 lámparas, contra 10 y 1 del infrarrojo y 4 y 5 del visible —verdad de campo, 12 personas y 5 lámparas—. Ese es el punto: no ver lo que ninguna modalidad ve, sino no perder una clase para ganar la otra.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 siete hipótesis se sostienen, y cinco de ellas son hallazgos sobre el criterio, no sobre el operador. Esta lámina proyectaba sólo tres: faltaban H2, H3, H4 y H7.</a:t>
            </a:r>
          </a:p>
          <a:p/>
          <a:p>
            <a:r>
              <a:t>No usar la etiqueta «parcial» para H6: con ρ = +0,214, p = 0,645 y 232 escenas, el rechazo de la hipótesis de traslación es limpio y es un aporte.</a:t>
            </a:r>
          </a:p>
          <a:p/>
          <a:p>
            <a:r>
              <a:t>Sobre H5, cuidado con el enunciado: la búsqueda NO fija el radio —r = 25 en el 51,4 % de las 500 corridas y r = 1 en el 45,6 %— y el máximo de la aptitud dentro del rango publicado está en r = 1. Eso es exactamente H5: el radio adoptado lo elige la batería de evaluación, no la optimización.</a:t>
            </a:r>
          </a:p>
          <a:p/>
          <a:p>
            <a:r>
              <a:t>SI PREGUNTAN POR LA CORRELACIÓN DE H6, hay una respuesta preparada y conviene darla antes de que la busquen. El ρ = +0,214 es con las nueve métricas reportadas sobre el mAP@0,5 de LLVIP, y ninguno de los cuatro contrastes con esas nueve alcanza significancia. Pero al repetir la correlación con el conjunto ampliado de diecisiete sobre el mAP@0,5:0,95 de M3FD, sí aparece asociación y en la dirección esperada: ρ = −0,8929 con p = 0,0068. Son doce contrastes sobre siete métodos, así que ese único hallazgo no sobrevive a la corrección por multiplicidad (Bonferroni 0,0816) y hay que presentarlo como una pista, no como un resultado. Lo que dice es lo mismo que el control negativo: la batería de nueve no predice la utilidad y la ampliada apunta a que sí. Lo calcula experiments/run_correlacion_calidad_deteccion.py.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Siete conclusiones: las tres primeras son el primer aporte —dirección del desplazamiento, primer lugar bajo el criterio de referencia y aporte del banco aislado— y las cuatro siguientes el segundo: el orden es del criterio, la batería no discrimina ruido, la optimización no determina la configuración y la calidad no predice la utilidad.</a:t>
            </a:r>
          </a:p>
          <a:p/>
          <a:p>
            <a:r>
              <a:t>No decir «óptimo hallado»: la optimización no lo fija, y eso es H5. Dentro del rango publicado el máximo de la aptitud está en r = 1 (1,7350) contra 1,7057 en r = 25, y el peso queda en el piso en 499 de las 500 corridas. El r = 25 lo elige la batería de evaluación.</a:t>
            </a:r>
          </a:p>
          <a:p/>
          <a:p>
            <a:r>
              <a:t>En la conclusión 2, cuidado con la cifra: a peso igualado son 3,528 frente a 3,694. El «gana por 0,683» que circuló en el plan del deck viene de un cálculo que metía al Top-Hat clásico dos veces en el pool y diluía los siete rangos. No usarlo.</a:t>
            </a:r>
          </a:p>
          <a:p/>
          <a:p>
            <a:r>
              <a:t>Cerrar con el aporte metodológico, que es lo único de esta tesis transferible a cualquier trabajo de fusión, y que es también el puente a la lámina siguiente.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Dos familias de recomendaciones, y la primera es la que trasciende el trabajo: cómo debería evaluarse la fusión VIS/IR. Antes esta lámina no mencionaba el protocolo en ninguna parte.</a:t>
            </a:r>
          </a:p>
          <a:p/>
          <a:p>
            <a:r>
              <a:t>Ojo con la primera recomendación, que es la que más se malinterpreta: Nabf NO arregla el control negativo por sí sola. Lo mejora —el brazo de ruido baja del 3.er al 7.º puesto de 14— pero sigue por delante de Curvelet y del Top-Hat clásico. Recién con las diecisiete métricas queda último. Ese es el argumento de la cuarta recomendación: el control negativo tiene que ser un requisito del benchmark, no se resuelve agregando una métrica.</a:t>
            </a:r>
          </a:p>
          <a:p/>
          <a:p>
            <a:r>
              <a:t>La recomendación de uso ya no dice «la propuesta es la opción recomendada» sin más: la acota al requisito de maximizar actividad y declara el costo, con el líder de cada métrica de fidelidad nombrado. Y agrega la advertencia que se desprende de los dos experimentos de detección: para alimentar un detector, ninguna fusión antes que la mejor modalidad sola.</a:t>
            </a:r>
          </a:p>
          <a:p/>
          <a:p>
            <a:r>
              <a:t>Cerrar recordando que el pipeline completo es reproducible desde el repositorio.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Agradecer a la mesa y al orientador. Ofrecer el repositorio para cualquier verificación.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Siete hipótesis, dos familias: dos del operador (H1 y H7) y CINCO del criterio (H2 a H6) — cinco, no cuatro. Es el corte de la lámina 4: H1 y H7, primer aporte; H2 a H6, segundo. No leer las siete: leer H1, H2 y H6 y remitir al último párrafo, que es el mapa — H1 en §5.4 y §5.6, H6 en §5.5, las otras cinco en §5.8, la auditoría; ahí cae también H7, del operador, por la ablación con (r, m) igualados. H1 afirma desplazamiento del punto de operación, no mejora uniforme: la prueba por bloques está en la lámina 13. Sostener H6 equivale a rechazar que la calidad se traslade a la detección: es un resultado, no una limitación — 232 escenas de M3FD, 50,0 % contra 53,0 % del visible, y ρ = +0,214 con p = 0,645 en LLVIP. Si preguntan por H5: la búsqueda no fija el radio —r = 25 en el 51,4 % de las 500 corridas, r = 1 en el 45,6 %— y el máximo dentro del rango está en r = 1; no decir «el PSO halló r = 25». Anunciar que las siete se sostienen; el contraste, en la 19.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resultado más fuerte del segundo aporte: presentarlo antes de que la mesa lo encuentre en el repositorio. No decir que la propuesta es ruido: con las nueve la propuesta es 1.ª de 14 (6,383) y el ruido 3.º (6,767). El mensaje es otro: la batería mide actividad espacial, no calidad de fusión — nueve métricas todas «mayor es mejor», ninguna que penalice artefactos. Una consecuencia metodológica por hallazgo: métrica de dirección inversa (H3) y declarar la redundancia (H4).</a:t>
            </a:r>
          </a:p>
          <a:p>
            <a:r>
              <a:t>Scripts, si preguntan: el control negativo es run_control_negativo.py (control_negativo_ranking.csv); la redundancia de FE sale de run_stats_analysis.py —avg_rank_sin_FE de ranking_methods.csv y el χ² de friedman_results.csv—. NO decir que los dos salen de run_control_negativo.py.</a:t>
            </a:r>
          </a:p>
          <a:p>
            <a:r>
              <a:t>Adelantarse a dos objeciones. Una: al sumar Nabf la imagen base pasa a la propuesta, 6,690 contra 6,760; es el punto de operación desplazado hacia el realce, y pasa solo en esa composición — con las diecisiete la propuesta vuelve a pasarla, 5,344 contra 6,521. Dos: sin FE la propuesta sigue 1.ª, pero solo cuatro de las siete posiciones se conservan y el Top-Hat clásico cae del 3.º al 6.º (3,944 → 4,131).</a:t>
            </a:r>
          </a:p>
          <a:p>
            <a:r>
              <a:t>Libro: §5.8.2 el control negativo (H3), §5.8.1 la redundancia (H4, junto con H2).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el segundo aporte, no un resultado del operador: H2. Las dos mitades contestan por adelantado dos objeciones: «eligió las métricas que le convienen» y «ajustó sus hiperparámetros y dejó a los comparativos por defecto». Las dos versionadas, por vías distintas: la de las diecisiete métricas sale de all_metrics.csv —el mismo evaluador ya las calcula; el ranking lo arma make_avances_report.py—; la del ajuste simétrico, de run_ajuste_comparativos.py. Si preguntan por qué cae con las diecisiete: las ocho añadidas pesan bordes y artefactos —Nabf 0,374 contra 0,114 de la pirámide de Laplace, su peor rango de las diecisiete—. Adelantarse a «¿y si ajustaban también la propuesta?»: el mismo criterio le vuelve a elegir r = 25 entre once radios, así que ese escenario da lo mismo, 3,583. El matiz que lo salva es el peso: el clásico ajustado conserva m = 1; a peso igualado la propuesta gana por 0,166 —3,528 frente a 3,694—. Dar la cifra, no decir «con holgura». De reserva, no está en la lámina: las diecisiete CON comparativos ajustados dan 3,821, tercera, detrás de LP 3,141 y DTCWT 3,362 — el libro ya lo dice así, no hay errata que declarar.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objeción previsible: «¿cuánto aporta el banco en sí?». No saltearla por tiempo: la lámina 4 prometió tres controles corridos y versionados, y este es uno — un control de la auditoría que contrasta una hipótesis del operador. Acá se cruzan los dos aportes.</a:t>
            </a:r>
          </a:p>
          <a:p>
            <a:r>
              <a:t>No pedir disculpas por el 4.º sin FE (3,500) ni por el 4.º con las diecisiete (3,621). H7 dice «perfil distinto del disco único», no «mejor»: es el desplazamiento que enuncia H1. El dato duro, si lo piden (ablacion_banco_contrastes.csv): la suma contra el disco con los mismos (r, m) gana con significancia en seis métricas —EN, SD, FE, MG, SF y VIF—, pierde en nueve, todas de fidelidad o de artefactos, y empata en dos.</a:t>
            </a:r>
          </a:p>
          <a:p>
            <a:r>
              <a:t>Si preguntan por r = 1: no leer la lámina, ya lo dice. La respuesta fuerte es otra — el argmax en r = 1 es artefacto del rango heredado del peso; con el peso libre el máximo de Fo es r = 25 (1,7715 con m = 0,07) y r = 1 pasa a ser el peor (1,7607).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algn="ctr" indent="0" marL="0">
              <a:buNone/>
            </a:pPr>
            <a:r>
              <a:rPr lang="en-US" sz="1200" dirty="0">
                <a:solidFill>
                  <a:srgbClr val="666666"/>
                </a:solidFill>
                <a:latin typeface="Times New Roman" pitchFamily="34" charset="0"/>
                <a:ea typeface="Times New Roman" pitchFamily="34" charset="-122"/>
                <a:cs typeface="Times New Roman" pitchFamily="34" charset="-120"/>
              </a:rPr>
              <a:t>UNIVERSIDAD COMUNERA</a:t>
            </a:r>
            <a:endParaRPr lang="en-US" sz="1200" dirty="0"/>
          </a:p>
          <a:p>
            <a:pPr algn="ctr" indent="0" marL="0">
              <a:buNone/>
            </a:pPr>
            <a:r>
              <a:rPr lang="en-US" sz="1200" dirty="0">
                <a:solidFill>
                  <a:srgbClr val="666666"/>
                </a:solidFill>
                <a:latin typeface="Times New Roman" pitchFamily="34" charset="0"/>
                <a:ea typeface="Times New Roman" pitchFamily="34" charset="-122"/>
                <a:cs typeface="Times New Roman" pitchFamily="34" charset="-120"/>
              </a:rPr>
              <a:t>FACULTAD DE CIENCIAS Y TECNOLOGÍA — MAESTRÍA EN CIENCIAS DE DATOS</a:t>
            </a:r>
            <a:endParaRPr lang="en-US" sz="1200" dirty="0"/>
          </a:p>
        </p:txBody>
      </p:sp>
      <p:sp>
        <p:nvSpPr>
          <p:cNvPr id="3" name="Text 1"/>
          <p:cNvSpPr/>
          <p:nvPr/>
        </p:nvSpPr>
        <p:spPr>
          <a:xfrm>
            <a:off x="457200" y="1234440"/>
            <a:ext cx="8229600" cy="1051560"/>
          </a:xfrm>
          <a:prstGeom prst="rect">
            <a:avLst/>
          </a:prstGeom>
          <a:noFill/>
          <a:ln/>
        </p:spPr>
        <p:txBody>
          <a:bodyPr wrap="square" lIns="0" tIns="0" rIns="0" bIns="0" rtlCol="0" anchor="ctr"/>
          <a:lstStyle/>
          <a:p>
            <a:pPr algn="ctr" indent="0" marL="0">
              <a:buNone/>
            </a:pPr>
            <a:r>
              <a:rPr lang="en-US" sz="2700" b="1" dirty="0">
                <a:solidFill>
                  <a:srgbClr val="1A1A1A"/>
                </a:solidFill>
                <a:latin typeface="Times New Roman" pitchFamily="34" charset="0"/>
                <a:ea typeface="Times New Roman" pitchFamily="34" charset="-122"/>
                <a:cs typeface="Times New Roman" pitchFamily="34" charset="-120"/>
              </a:rPr>
              <a:t>Fusión de Imágenes Infrarrojas y Visibles</a:t>
            </a:r>
            <a:endParaRPr lang="en-US" sz="2700" dirty="0"/>
          </a:p>
          <a:p>
            <a:pPr algn="ctr" indent="0" marL="0">
              <a:buNone/>
            </a:pPr>
            <a:r>
              <a:rPr lang="en-US" sz="2700" b="1" dirty="0">
                <a:solidFill>
                  <a:srgbClr val="1A1A1A"/>
                </a:solidFill>
                <a:latin typeface="Times New Roman" pitchFamily="34" charset="0"/>
                <a:ea typeface="Times New Roman" pitchFamily="34" charset="-122"/>
                <a:cs typeface="Times New Roman" pitchFamily="34" charset="-120"/>
              </a:rPr>
              <a:t>mediante Morfología Matemática</a:t>
            </a:r>
            <a:endParaRPr lang="en-US" sz="2700" dirty="0"/>
          </a:p>
        </p:txBody>
      </p:sp>
      <p:sp>
        <p:nvSpPr>
          <p:cNvPr id="4" name="Text 2"/>
          <p:cNvSpPr/>
          <p:nvPr/>
        </p:nvSpPr>
        <p:spPr>
          <a:xfrm>
            <a:off x="731520" y="2331720"/>
            <a:ext cx="7680960" cy="640080"/>
          </a:xfrm>
          <a:prstGeom prst="rect">
            <a:avLst/>
          </a:prstGeom>
          <a:noFill/>
          <a:ln/>
        </p:spPr>
        <p:txBody>
          <a:bodyPr wrap="square" lIns="0" tIns="0" rIns="0" bIns="0" rtlCol="0" anchor="ctr"/>
          <a:lstStyle/>
          <a:p>
            <a:pPr algn="ctr" indent="0" marL="0">
              <a:buNone/>
            </a:pPr>
            <a:r>
              <a:rPr lang="en-US" sz="1400" i="1" dirty="0">
                <a:solidFill>
                  <a:srgbClr val="1A1A1A"/>
                </a:solidFill>
                <a:latin typeface="Times New Roman" pitchFamily="34" charset="0"/>
                <a:ea typeface="Times New Roman" pitchFamily="34" charset="-122"/>
                <a:cs typeface="Times New Roman" pitchFamily="34" charset="-120"/>
              </a:rPr>
              <a:t>Un operador Top-Hat/Bottom-Hat de una sola escala con un banco de cinco elementos</a:t>
            </a:r>
            <a:endParaRPr lang="en-US" sz="1400" dirty="0"/>
          </a:p>
          <a:p>
            <a:pPr algn="ctr" indent="0" marL="0">
              <a:buNone/>
            </a:pPr>
            <a:r>
              <a:rPr lang="en-US" sz="1400" i="1" dirty="0">
                <a:solidFill>
                  <a:srgbClr val="1A1A1A"/>
                </a:solidFill>
                <a:latin typeface="Times New Roman" pitchFamily="34" charset="0"/>
                <a:ea typeface="Times New Roman" pitchFamily="34" charset="-122"/>
                <a:cs typeface="Times New Roman" pitchFamily="34" charset="-120"/>
              </a:rPr>
              <a:t>estructurantes — y una auditoría del protocolo con que se lo evalúa</a:t>
            </a:r>
            <a:endParaRPr lang="en-US" sz="1400" dirty="0"/>
          </a:p>
        </p:txBody>
      </p:sp>
      <p:sp>
        <p:nvSpPr>
          <p:cNvPr id="5" name="Text 3"/>
          <p:cNvSpPr/>
          <p:nvPr/>
        </p:nvSpPr>
        <p:spPr>
          <a:xfrm>
            <a:off x="457200" y="3127248"/>
            <a:ext cx="8229600" cy="320040"/>
          </a:xfrm>
          <a:prstGeom prst="rect">
            <a:avLst/>
          </a:prstGeom>
          <a:noFill/>
          <a:ln/>
        </p:spPr>
        <p:txBody>
          <a:bodyPr wrap="square" lIns="0" tIns="0" rIns="0" bIns="0" rtlCol="0" anchor="ctr"/>
          <a:lstStyle/>
          <a:p>
            <a:pPr algn="ctr" indent="0" marL="0">
              <a:buNone/>
            </a:pPr>
            <a:r>
              <a:rPr lang="en-US" sz="1300" dirty="0">
                <a:solidFill>
                  <a:srgbClr val="8B1A1A"/>
                </a:solidFill>
                <a:latin typeface="Times New Roman" pitchFamily="34" charset="0"/>
                <a:ea typeface="Times New Roman" pitchFamily="34" charset="-122"/>
                <a:cs typeface="Times New Roman" pitchFamily="34" charset="-120"/>
              </a:rPr>
              <a:t>Defensa de Tesis de Maestría</a:t>
            </a:r>
            <a:endParaRPr lang="en-US" sz="1300" dirty="0"/>
          </a:p>
        </p:txBody>
      </p:sp>
      <p:sp>
        <p:nvSpPr>
          <p:cNvPr id="6" name="Text 4"/>
          <p:cNvSpPr/>
          <p:nvPr/>
        </p:nvSpPr>
        <p:spPr>
          <a:xfrm>
            <a:off x="457200" y="3611880"/>
            <a:ext cx="8229600" cy="594360"/>
          </a:xfrm>
          <a:prstGeom prst="rect">
            <a:avLst/>
          </a:prstGeom>
          <a:noFill/>
          <a:ln/>
        </p:spPr>
        <p:txBody>
          <a:bodyPr wrap="square" lIns="0" tIns="0" rIns="0" bIns="0" rtlCol="0" anchor="ctr"/>
          <a:lstStyle/>
          <a:p>
            <a:pPr algn="ctr" indent="0" marL="0">
              <a:buNone/>
            </a:pPr>
            <a:r>
              <a:rPr lang="en-US" sz="1300" dirty="0">
                <a:solidFill>
                  <a:srgbClr val="1A1A1A"/>
                </a:solidFill>
                <a:latin typeface="Times New Roman" pitchFamily="34" charset="0"/>
                <a:ea typeface="Times New Roman" pitchFamily="34" charset="-122"/>
                <a:cs typeface="Times New Roman" pitchFamily="34" charset="-120"/>
              </a:rPr>
              <a:t>Autores:  Lic. Juan Pablo Bazán   ·   Ing. Yan Bajac</a:t>
            </a:r>
            <a:endParaRPr lang="en-US" sz="1300" dirty="0"/>
          </a:p>
          <a:p>
            <a:pPr algn="ctr" indent="0" marL="0">
              <a:buNone/>
            </a:pPr>
            <a:r>
              <a:rPr lang="en-US" sz="1300" dirty="0">
                <a:solidFill>
                  <a:srgbClr val="1A1A1A"/>
                </a:solidFill>
                <a:latin typeface="Times New Roman" pitchFamily="34" charset="0"/>
                <a:ea typeface="Times New Roman" pitchFamily="34" charset="-122"/>
                <a:cs typeface="Times New Roman" pitchFamily="34" charset="-120"/>
              </a:rPr>
              <a:t>Orientador:  D.Sc. Julio César Mello</a:t>
            </a:r>
            <a:endParaRPr lang="en-US" sz="1300" dirty="0"/>
          </a:p>
        </p:txBody>
      </p:sp>
      <p:sp>
        <p:nvSpPr>
          <p:cNvPr id="7" name="Text 5"/>
          <p:cNvSpPr/>
          <p:nvPr/>
        </p:nvSpPr>
        <p:spPr>
          <a:xfrm>
            <a:off x="457200" y="4434840"/>
            <a:ext cx="8229600" cy="274320"/>
          </a:xfrm>
          <a:prstGeom prst="rect">
            <a:avLst/>
          </a:prstGeom>
          <a:noFill/>
          <a:ln/>
        </p:spPr>
        <p:txBody>
          <a:bodyPr wrap="square" lIns="0" tIns="0" rIns="0" bIns="0" rtlCol="0" anchor="ctr"/>
          <a:lstStyle/>
          <a:p>
            <a:pPr algn="ctr" indent="0" marL="0">
              <a:buNone/>
            </a:pPr>
            <a:r>
              <a:rPr lang="en-US" sz="1100" dirty="0">
                <a:solidFill>
                  <a:srgbClr val="666666"/>
                </a:solidFill>
                <a:latin typeface="Times New Roman" pitchFamily="34" charset="0"/>
                <a:ea typeface="Times New Roman" pitchFamily="34" charset="-122"/>
                <a:cs typeface="Times New Roman" pitchFamily="34" charset="-120"/>
              </a:rPr>
              <a:t>Asunción – Paraguay · Septiembre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Contenido</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2 / 22</a:t>
            </a:r>
            <a:endParaRPr lang="en-US" sz="900" dirty="0"/>
          </a:p>
        </p:txBody>
      </p:sp>
      <p:sp>
        <p:nvSpPr>
          <p:cNvPr id="4" name="Text 2"/>
          <p:cNvSpPr/>
          <p:nvPr/>
        </p:nvSpPr>
        <p:spPr>
          <a:xfrm>
            <a:off x="457200" y="960120"/>
            <a:ext cx="8229600" cy="36576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 xml:space="preserve">1.  Problema: dos preguntas, no una</a:t>
            </a:r>
            <a:endParaRPr lang="en-US" sz="1500" dirty="0"/>
          </a:p>
          <a:p>
            <a:pPr marL="177800" indent="-177800">
              <a:spcAft>
                <a:spcPts val="9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 xml:space="preserve">2.  Los dos aportes de la tesis</a:t>
            </a:r>
            <a:endParaRPr lang="en-US" sz="1500" dirty="0"/>
          </a:p>
          <a:p>
            <a:pPr marL="177800" indent="-177800">
              <a:spcAft>
                <a:spcPts val="9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 xml:space="preserve">3.  Objetivos e hipótesis (cinco objetivos específicos, siete hipótesis)</a:t>
            </a:r>
            <a:endParaRPr lang="en-US" sz="1500" dirty="0"/>
          </a:p>
          <a:p>
            <a:pPr marL="177800" indent="-177800">
              <a:spcAft>
                <a:spcPts val="9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 xml:space="preserve">4.  Marco: la transformada Top-Hat y la fusión clásica</a:t>
            </a:r>
            <a:endParaRPr lang="en-US" sz="1500" dirty="0"/>
          </a:p>
          <a:p>
            <a:pPr marL="177800" indent="-177800">
              <a:spcAft>
                <a:spcPts val="9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 xml:space="preserve">5.  El operador: banco de cinco elementos estructurantes y suma de ramas</a:t>
            </a:r>
            <a:endParaRPr lang="en-US" sz="1500" dirty="0"/>
          </a:p>
          <a:p>
            <a:pPr marL="177800" indent="-177800">
              <a:spcAft>
                <a:spcPts val="9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 xml:space="preserve">6.  Alcance real de la optimización por PSO</a:t>
            </a:r>
            <a:endParaRPr lang="en-US" sz="1500" dirty="0"/>
          </a:p>
          <a:p>
            <a:pPr marL="177800" indent="-177800">
              <a:spcAft>
                <a:spcPts val="9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 xml:space="preserve">7.  Diseño experimental: el benchmark y los controles de la auditoría</a:t>
            </a:r>
            <a:endParaRPr lang="en-US" sz="1500" dirty="0"/>
          </a:p>
          <a:p>
            <a:pPr marL="177800" indent="-177800">
              <a:spcAft>
                <a:spcPts val="9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 xml:space="preserve">8.  Resultados: el punto de operación del operador</a:t>
            </a:r>
            <a:endParaRPr lang="en-US" sz="1500" dirty="0"/>
          </a:p>
          <a:p>
            <a:pPr marL="177800" indent="-177800">
              <a:spcAft>
                <a:spcPts val="9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 xml:space="preserve">9.  Auditoría del protocolo de evaluación (tres controles)</a:t>
            </a:r>
            <a:endParaRPr lang="en-US" sz="1500" dirty="0"/>
          </a:p>
          <a:p>
            <a:pPr marL="177800" indent="-177800">
              <a:spcAft>
                <a:spcPts val="9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 xml:space="preserve">10. Contraste externo: detección en LLVIP y M3FD</a:t>
            </a:r>
            <a:endParaRPr lang="en-US" sz="1500" dirty="0"/>
          </a:p>
          <a:p>
            <a:pPr marL="177800" indent="-177800">
              <a:spcAft>
                <a:spcPts val="900"/>
              </a:spcAft>
              <a:buSzPct val="100000"/>
              <a:buChar char="•"/>
            </a:pPr>
            <a:r>
              <a:rPr lang="en-US" sz="1500" dirty="0">
                <a:solidFill>
                  <a:srgbClr val="1A1A1A"/>
                </a:solidFill>
                <a:latin typeface="Times New Roman" pitchFamily="34" charset="0"/>
                <a:ea typeface="Times New Roman" pitchFamily="34" charset="-122"/>
                <a:cs typeface="Times New Roman" pitchFamily="34" charset="-120"/>
              </a:rPr>
              <a:t xml:space="preserve">11. Contraste de hipótesis, conclusiones y recomendaciones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1. Problema: dos preguntas, no una</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3 / 22</a:t>
            </a:r>
            <a:endParaRPr lang="en-US" sz="900" dirty="0"/>
          </a:p>
        </p:txBody>
      </p:sp>
      <p:sp>
        <p:nvSpPr>
          <p:cNvPr id="4" name="Text 2"/>
          <p:cNvSpPr/>
          <p:nvPr/>
        </p:nvSpPr>
        <p:spPr>
          <a:xfrm>
            <a:off x="457200" y="868680"/>
            <a:ext cx="8229600" cy="192024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A1A1A"/>
                </a:solidFill>
                <a:latin typeface="Times New Roman" pitchFamily="34" charset="0"/>
                <a:ea typeface="Times New Roman" pitchFamily="34" charset="-122"/>
                <a:cs typeface="Times New Roman" pitchFamily="34" charset="-120"/>
              </a:rPr>
              <a:t>El sensor visible (VIS) aporta detalle y textura, pero se degrada en baja iluminación.</a:t>
            </a:r>
            <a:endParaRPr lang="en-US" sz="1350" dirty="0"/>
          </a:p>
          <a:p>
            <a:pPr marL="177800" indent="-177800">
              <a:spcAft>
                <a:spcPts val="600"/>
              </a:spcAft>
              <a:buSzPct val="100000"/>
              <a:buChar char="•"/>
            </a:pPr>
            <a:r>
              <a:rPr lang="en-US" sz="1150" dirty="0">
                <a:solidFill>
                  <a:srgbClr val="1A1A1A"/>
                </a:solidFill>
                <a:latin typeface="Times New Roman" pitchFamily="34" charset="0"/>
                <a:ea typeface="Times New Roman" pitchFamily="34" charset="-122"/>
                <a:cs typeface="Times New Roman" pitchFamily="34" charset="-120"/>
              </a:rPr>
              <a:t>El sensor infrarrojo (IR) capta la firma térmica (personas, vehículos), pero pierde el contexto de la escena.</a:t>
            </a:r>
            <a:endParaRPr lang="en-US" sz="1350" dirty="0"/>
          </a:p>
          <a:p>
            <a:pPr marL="177800" indent="-177800">
              <a:spcAft>
                <a:spcPts val="600"/>
              </a:spcAft>
              <a:buSzPct val="100000"/>
              <a:buChar char="•"/>
            </a:pPr>
            <a:r>
              <a:rPr lang="en-US" sz="1150" dirty="0">
                <a:solidFill>
                  <a:srgbClr val="1A1A1A"/>
                </a:solidFill>
                <a:latin typeface="Times New Roman" pitchFamily="34" charset="0"/>
                <a:ea typeface="Times New Roman" pitchFamily="34" charset="-122"/>
                <a:cs typeface="Times New Roman" pitchFamily="34" charset="-120"/>
              </a:rPr>
              <a:t>La fusión a nivel de píxel integra ambas fuentes en una sola imagen útil para vigilancia nocturna.</a:t>
            </a:r>
            <a:endParaRPr lang="en-US" sz="1350" dirty="0"/>
          </a:p>
          <a:p>
            <a:pPr marL="177800" indent="-177800">
              <a:spcAft>
                <a:spcPts val="600"/>
              </a:spcAft>
              <a:buSzPct val="100000"/>
              <a:buChar char="•"/>
            </a:pPr>
            <a:r>
              <a:rPr lang="en-US" sz="1150" dirty="0">
                <a:solidFill>
                  <a:srgbClr val="1A1A1A"/>
                </a:solidFill>
                <a:latin typeface="Times New Roman" pitchFamily="34" charset="0"/>
                <a:ea typeface="Times New Roman" pitchFamily="34" charset="-122"/>
                <a:cs typeface="Times New Roman" pitchFamily="34" charset="-120"/>
              </a:rPr>
              <a:t>Los métodos multiescala (pirámides, wavelets, curvelets) son efectivos pero pueden introducir artefactos.</a:t>
            </a:r>
            <a:endParaRPr lang="en-US" sz="1350" dirty="0"/>
          </a:p>
          <a:p>
            <a:pPr marL="177800" indent="-177800">
              <a:spcAft>
                <a:spcPts val="600"/>
              </a:spcAft>
              <a:buSzPct val="100000"/>
              <a:buChar char="•"/>
            </a:pPr>
            <a:r>
              <a:rPr lang="en-US" sz="1150" b="1" dirty="0">
                <a:solidFill>
                  <a:srgbClr val="1A1A1A"/>
                </a:solidFill>
                <a:latin typeface="Times New Roman" pitchFamily="34" charset="0"/>
                <a:ea typeface="Times New Roman" pitchFamily="34" charset="-122"/>
                <a:cs typeface="Times New Roman" pitchFamily="34" charset="-120"/>
              </a:rPr>
              <a:t xml:space="preserve">La morfología matemática ofrece un marco alternativo de una sola escala: interpretable, de bajo costo y con un realce direccional gobernado por un solo peso. El compromiso es actividad espacial contra fidelidad, no una ventaja en artefactos: en la única métrica que los mide (Nabf, menor es mejor) los dos operadores morfológicos son los más agresivos del benchmark —0,374 la propuesta y 0,586 el clásico, frente a 0,114 de la pirámide de Laplace—.</a:t>
            </a:r>
            <a:endParaRPr lang="en-US" sz="1350" dirty="0"/>
          </a:p>
          <a:p>
            <a:pPr marL="177800" indent="-177800">
              <a:spcAft>
                <a:spcPts val="600"/>
              </a:spcAft>
              <a:buSzPct val="100000"/>
              <a:buChar char="•"/>
            </a:pPr>
            <a:r>
              <a:rPr lang="en-US" sz="1150" b="1" dirty="0">
                <a:solidFill>
                  <a:srgbClr val="1A1A1A"/>
                </a:solidFill>
                <a:latin typeface="Times New Roman" pitchFamily="34" charset="0"/>
                <a:ea typeface="Times New Roman" pitchFamily="34" charset="-122"/>
                <a:cs typeface="Times New Roman" pitchFamily="34" charset="-120"/>
              </a:rPr>
              <a:t xml:space="preserve">Y hay un segundo problema, previo al primero: la fusión VIS/IR no tiene imagen de referencia, y se evalúa con baterías de métricas sin referencia leídas todas como «mayor es mejor», con los hiperparámetros elegidos sobre esas mismas métricas.</a:t>
            </a:r>
          </a:p>
        </p:txBody>
      </p:sp>
      <p:pic>
        <p:nvPicPr>
          <p:cNvPr id="5" name="Image 0" descr="C:/Users/Usuario/Documents/unv/mastertesis/tesis_mciencias_datos/docs/figures/ejemplo_modalidades.png">    </p:cNvPr>
          <p:cNvPicPr>
            <a:picLocks noChangeAspect="1"/>
          </p:cNvPicPr>
          <p:nvPr/>
        </p:nvPicPr>
        <p:blipFill>
          <a:blip r:embed="rId1"/>
          <a:stretch>
            <a:fillRect/>
          </a:stretch>
        </p:blipFill>
        <p:spPr>
          <a:xfrm>
            <a:off x="640080" y="3063240"/>
            <a:ext cx="7863840" cy="18105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2. Los dos aportes de la tesis</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4 / 22</a:t>
            </a:r>
            <a:endParaRPr lang="en-US" sz="900" dirty="0"/>
          </a:p>
        </p:txBody>
      </p:sp>
      <p:sp>
        <p:nvSpPr>
          <p:cNvPr id="4" name="Text 2"/>
          <p:cNvSpPr/>
          <p:nvPr/>
        </p:nvSpPr>
        <p:spPr>
          <a:xfrm>
            <a:off x="457200" y="914400"/>
            <a:ext cx="8229600" cy="3931920"/>
          </a:xfrm>
          <a:prstGeom prst="rect">
            <a:avLst/>
          </a:prstGeom>
          <a:noFill/>
          <a:ln/>
        </p:spPr>
        <p:txBody>
          <a:bodyPr wrap="square" lIns="0" tIns="0" rIns="0" bIns="0" rtlCol="0" anchor="t"/>
          <a:lstStyle/>
          <a:p>
            <a:pPr marL="177800" indent="-177800">
              <a:spcAft>
                <a:spcPts val="11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Aporte 1 — El operador y su caracterización: un Top-Hat/Bottom-Hat de una sola escala con banco de cinco elementos estructurantes (un disco de radio r y cuatro segmentos lineales a 0°, 45°, 90° y 135°), y la determinación de en qué dirección desplaza el punto de operación de la fusión frente a la metodología clásica y a cinco configuraciones de referencia.</a:t>
            </a:r>
            <a:endParaRPr lang="en-US" sz="1350" dirty="0"/>
          </a:p>
          <a:p>
            <a:pPr marL="177800" indent="-177800">
              <a:spcAft>
                <a:spcPts val="11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Aporte 2 — La auditoría del protocolo de evaluación: ¿qué autoriza a concluir un criterio formado por nueve métricas sin referencia de tipo «mayor es mejor», con los hiperparámetros elegidos sobre esas mismas métricas y una validación en tarea posterior?</a:t>
            </a:r>
            <a:endParaRPr lang="en-US" sz="1350" dirty="0"/>
          </a:p>
          <a:p>
            <a:pPr marL="177800" indent="-177800">
              <a:spcAft>
                <a:spcPts val="11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Con el propio desarrollo como caso de estudio. Los tres controles —control negativo con degradaciones conocidas, ablación del banco con hiperparámetros igualados y ajuste simétrico de los comparativos— están corridos, versionados y son reproducibles.</a:t>
            </a:r>
            <a:endParaRPr lang="en-US" sz="1350" dirty="0"/>
          </a:p>
          <a:p>
            <a:pPr marL="177800" indent="-177800">
              <a:spcAft>
                <a:spcPts val="11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La tesis no sostiene que el método sea mejor. Sostiene que desplaza el punto de operación en una dirección determinada, y que el orden de mérito que lo corona es propiedad del criterio.</a:t>
            </a:r>
            <a:endParaRPr lang="en-US" sz="1350" dirty="0"/>
          </a:p>
          <a:p>
            <a:pPr marL="177800" indent="-177800">
              <a:spcAft>
                <a:spcPts val="11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Pregunta central: ¿en qué dirección desplaza el punto de operación de la fusión un Top-Hat con banco de cinco elementos estructurantes, y en qué medida el protocolo con que se lo juzga autoriza conclusiones sobre la calidad de la imagen y sobre su utilidad práctica?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3. Objetivos</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5 / 22</a:t>
            </a:r>
            <a:endParaRPr lang="en-US" sz="900" dirty="0"/>
          </a:p>
        </p:txBody>
      </p:sp>
      <p:sp>
        <p:nvSpPr>
          <p:cNvPr id="4" name="Text 2"/>
          <p:cNvSpPr/>
          <p:nvPr/>
        </p:nvSpPr>
        <p:spPr>
          <a:xfrm>
            <a:off x="457200" y="868680"/>
            <a:ext cx="8229600" cy="274320"/>
          </a:xfrm>
          <a:prstGeom prst="rect">
            <a:avLst/>
          </a:prstGeom>
          <a:noFill/>
          <a:ln/>
        </p:spPr>
        <p:txBody>
          <a:bodyPr wrap="square" lIns="0" tIns="0" rIns="0" bIns="0" rtlCol="0" anchor="ctr"/>
          <a:lstStyle/>
          <a:p>
            <a:pPr indent="0" marL="0">
              <a:buNone/>
            </a:pPr>
            <a:r>
              <a:rPr lang="en-US" sz="1400" b="1" dirty="0">
                <a:solidFill>
                  <a:srgbClr val="8B1A1A"/>
                </a:solidFill>
                <a:latin typeface="Times New Roman" pitchFamily="34" charset="0"/>
                <a:ea typeface="Times New Roman" pitchFamily="34" charset="-122"/>
                <a:cs typeface="Times New Roman" pitchFamily="34" charset="-120"/>
              </a:rPr>
              <a:t>Objetivo general</a:t>
            </a:r>
            <a:endParaRPr lang="en-US" sz="1400" dirty="0"/>
          </a:p>
        </p:txBody>
      </p:sp>
      <p:sp>
        <p:nvSpPr>
          <p:cNvPr id="5" name="Text 3"/>
          <p:cNvSpPr/>
          <p:nvPr/>
        </p:nvSpPr>
        <p:spPr>
          <a:xfrm>
            <a:off x="457200" y="1170432"/>
            <a:ext cx="8229600" cy="777240"/>
          </a:xfrm>
          <a:prstGeom prst="rect">
            <a:avLst/>
          </a:prstGeom>
          <a:noFill/>
          <a:ln/>
        </p:spPr>
        <p:txBody>
          <a:bodyPr wrap="square" lIns="0" tIns="0" rIns="0" bIns="0" rtlCol="0" anchor="t"/>
          <a:lstStyle/>
          <a:p>
            <a:pPr indent="0" marL="0">
              <a:buNone/>
            </a:pPr>
            <a:r>
              <a:rPr lang="en-US" sz="1300" dirty="0">
                <a:solidFill>
                  <a:srgbClr val="1A1A1A"/>
                </a:solidFill>
                <a:latin typeface="Times New Roman" pitchFamily="34" charset="0"/>
                <a:ea typeface="Times New Roman" pitchFamily="34" charset="-122"/>
                <a:cs typeface="Times New Roman" pitchFamily="34" charset="-120"/>
              </a:rPr>
              <a:t xml:space="preserve">Diseñar, implementar y caracterizar un operador de fusión VIS/IR basado en la transformada Top-Hat de una sola escala con un banco de cinco elementos estructurantes, determinando en qué dirección desplaza el punto de operación de la fusión frente a la metodología clásica y a cinco configuraciones de referencia sobre el TNO Image Fusion Dataset; y auditar, con ese mismo desarrollo como caso de estudio, la validez discriminativa del protocolo de evaluación empleado.</a:t>
            </a:r>
            <a:endParaRPr lang="en-US" sz="1350" dirty="0"/>
          </a:p>
        </p:txBody>
      </p:sp>
      <p:sp>
        <p:nvSpPr>
          <p:cNvPr id="6" name="Text 4"/>
          <p:cNvSpPr/>
          <p:nvPr/>
        </p:nvSpPr>
        <p:spPr>
          <a:xfrm>
            <a:off x="457200" y="2103120"/>
            <a:ext cx="8229600" cy="274320"/>
          </a:xfrm>
          <a:prstGeom prst="rect">
            <a:avLst/>
          </a:prstGeom>
          <a:noFill/>
          <a:ln/>
        </p:spPr>
        <p:txBody>
          <a:bodyPr wrap="square" lIns="0" tIns="0" rIns="0" bIns="0" rtlCol="0" anchor="ctr"/>
          <a:lstStyle/>
          <a:p>
            <a:pPr indent="0" marL="0">
              <a:buNone/>
            </a:pPr>
            <a:r>
              <a:rPr lang="en-US" sz="1400" b="1" dirty="0">
                <a:solidFill>
                  <a:srgbClr val="8B1A1A"/>
                </a:solidFill>
                <a:latin typeface="Times New Roman" pitchFamily="34" charset="0"/>
                <a:ea typeface="Times New Roman" pitchFamily="34" charset="-122"/>
                <a:cs typeface="Times New Roman" pitchFamily="34" charset="-120"/>
              </a:rPr>
              <a:t>Objetivos específicos</a:t>
            </a:r>
            <a:endParaRPr lang="en-US" sz="1400" dirty="0"/>
          </a:p>
        </p:txBody>
      </p:sp>
      <p:sp>
        <p:nvSpPr>
          <p:cNvPr id="7" name="Text 5"/>
          <p:cNvSpPr/>
          <p:nvPr/>
        </p:nvSpPr>
        <p:spPr>
          <a:xfrm>
            <a:off x="457200" y="2423160"/>
            <a:ext cx="8229600" cy="24688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OE1. Formular e implementar el operador tal como efectivamente se evalúa —el promedio de las cuatro líneas se suma a la respuesta del disco; el máximo opera entre fuentes, no entre ramas— y aislar el aporte del banco mediante una ablación con hiperparámetros fijos.</a:t>
            </a:r>
            <a:endParaRPr lang="en-US" sz="1300" dirty="0"/>
          </a:p>
          <a:p>
            <a:pPr marL="177800" indent="-177800">
              <a:spcAft>
                <a:spcPts val="7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OE2. Delimitar el alcance real de la optimización por PSO: qué hiperparámetro determina la aptitud declarada, qué forma tiene esa aptitud, y con qué criterios independientes de ella se justifica el peso adoptado.</a:t>
            </a:r>
            <a:endParaRPr lang="en-US" sz="1300" dirty="0"/>
          </a:p>
          <a:p>
            <a:pPr marL="177800" indent="-177800">
              <a:spcAft>
                <a:spcPts val="7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OE3. Comparar con la metodología clásica y cinco configuraciones de referencia sobre nueve métricas (Friedman y Wilcoxon–Holm), organizando los resultados en bloques de actividad espacial y de fidelidad a las fuentes, y verificando la robustez frente a un ajuste simétrico de los comparativos.</a:t>
            </a:r>
            <a:endParaRPr lang="en-US" sz="1300" dirty="0"/>
          </a:p>
          <a:p>
            <a:pPr marL="177800" indent="-177800">
              <a:spcAft>
                <a:spcPts val="7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OE4. Evaluar si la batería empleada discrimina calidad de fusión, con tres pruebas: control negativo con degradaciones conocidas, redundancia interna entre métricas y sensibilidad del orden de mérito a la composición del conjunto.</a:t>
            </a:r>
            <a:endParaRPr lang="en-US" sz="1300" dirty="0"/>
          </a:p>
          <a:p>
            <a:pPr marL="177800" indent="-177800">
              <a:spcAft>
                <a:spcPts val="7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OE5. Medir el efecto de la fusión sobre la detección con dos experimentos independientes (LLVIP y M3FD) y contrastar el orden de mérito de las métricas con el de utilidad en la tarea, mediante un conteo por escena y no solo el mAP promedio.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Siete hipótesis de trabajo</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6 / 22</a:t>
            </a:r>
            <a:endParaRPr lang="en-US" sz="900" dirty="0"/>
          </a:p>
        </p:txBody>
      </p:sp>
      <p:sp>
        <p:nvSpPr>
          <p:cNvPr id="4" name="Text 2"/>
          <p:cNvSpPr/>
          <p:nvPr/>
        </p:nvSpPr>
        <p:spPr>
          <a:xfrm>
            <a:off x="457200" y="914400"/>
            <a:ext cx="8229600" cy="3931920"/>
          </a:xfrm>
          <a:prstGeom prst="rect">
            <a:avLst/>
          </a:prstGeom>
          <a:noFill/>
          <a:ln/>
        </p:spPr>
        <p:txBody>
          <a:bodyPr wrap="square" lIns="0" tIns="0" rIns="0" bIns="0" rtlCol="0" anchor="t"/>
          <a:lstStyle/>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H1 (operador) — El banco de cinco elementos estructurantes no mejora la fusión de manera uniforme: desplaza su punto de operación hacia el realce de la actividad espacial, en contra de la fidelidad a las fuentes.</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H2 (criterio) — El orden de mérito de los métodos no es una propiedad del operador, sino del criterio con que se lo evalúa.</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H3 (criterio) — La batería de nueve métricas de tipo «mayor es mejor» es insuficiente como criterio de calidad, porque sus métricas de actividad crecen monótonamente con la varianza inyectada.</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H4 (criterio) — La batería contiene al menos una métrica que no aporta información independiente de las demás.</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H5 (criterio) — La optimización no determina la configuración adoptada: ambos hiperparámetros son decisiones apoyadas en parte del mismo criterio con el que después se evalúa.</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H6 (criterio) — El orden de mérito de las métricas de imagen no predice el orden de utilidad en una tarea posterior, y ninguna fusión supera por un margen distinguible a la mejor modalidad individual.</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H7 (operador) — Con el radio y el peso igualados, el banco de cinco elementos produce un perfil distinto del disco único.</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H1 se contrasta en §5.4 y §5.6; H6 en §5.5; H2, H3, H4, H5 y H7 en §5.8. Las siete, con experimentos corridos y versionados.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4. Marco: la transformada Top-Hat y la fusión clásica</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7 / 22</a:t>
            </a:r>
            <a:endParaRPr lang="en-US" sz="900" dirty="0"/>
          </a:p>
        </p:txBody>
      </p:sp>
      <p:sp>
        <p:nvSpPr>
          <p:cNvPr id="4" name="Text 2"/>
          <p:cNvSpPr/>
          <p:nvPr/>
        </p:nvSpPr>
        <p:spPr>
          <a:xfrm>
            <a:off x="457200" y="868680"/>
            <a:ext cx="4572000" cy="310896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White Top-Hat (WTH): extrae las estructuras claras más pequeñas que el elemento estructurante B.</a:t>
            </a:r>
            <a:endParaRPr lang="en-US" sz="1300" dirty="0"/>
          </a:p>
          <a:p>
            <a:pPr marL="177800" indent="-177800">
              <a:spcAft>
                <a:spcPts val="10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Black Top-Hat (BTH): extrae las estructuras oscuras correspondientes.</a:t>
            </a:r>
            <a:endParaRPr lang="en-US" sz="1300" dirty="0"/>
          </a:p>
          <a:p>
            <a:pPr marL="177800" indent="-177800">
              <a:spcAft>
                <a:spcPts val="10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Fusión clásica: un único disco (r = 5), máximo entre fuentes y reconstrucción sin ponderación (m = 1).</a:t>
            </a:r>
            <a:endParaRPr lang="en-US" sz="1300" dirty="0"/>
          </a:p>
        </p:txBody>
      </p:sp>
      <p:pic>
        <p:nvPicPr>
          <p:cNvPr id="5" name="Image 0" descr="C:/Users/Usuario/Documents/unv/mastertesis/tesis_mciencias_datos/docs/figures/fig_morfologia_tophat.png">    </p:cNvPr>
          <p:cNvPicPr>
            <a:picLocks noChangeAspect="1"/>
          </p:cNvPicPr>
          <p:nvPr/>
        </p:nvPicPr>
        <p:blipFill>
          <a:blip r:embed="rId1"/>
          <a:stretch>
            <a:fillRect/>
          </a:stretch>
        </p:blipFill>
        <p:spPr>
          <a:xfrm>
            <a:off x="5120640" y="914400"/>
            <a:ext cx="3657600" cy="1792224"/>
          </a:xfrm>
          <a:prstGeom prst="rect">
            <a:avLst/>
          </a:prstGeom>
        </p:spPr>
      </p:pic>
      <p:pic>
        <p:nvPicPr>
          <p:cNvPr id="6" name="Image 1" descr="C:\Users\Usuario\AppData\Local\Temp\claude\C--Users-Usuario-Documents-unv-mastertesis\fa0a2acc-a0da-4701-a920-18b20c70d3b2\scratchpad\pptx_build/assets/f_tophat.png">    </p:cNvPr>
          <p:cNvPicPr>
            <a:picLocks noChangeAspect="1"/>
          </p:cNvPicPr>
          <p:nvPr/>
        </p:nvPicPr>
        <p:blipFill>
          <a:blip r:embed="rId2"/>
          <a:stretch>
            <a:fillRect/>
          </a:stretch>
        </p:blipFill>
        <p:spPr>
          <a:xfrm>
            <a:off x="5120640" y="2971800"/>
            <a:ext cx="3566160" cy="310896"/>
          </a:xfrm>
          <a:prstGeom prst="rect">
            <a:avLst/>
          </a:prstGeom>
        </p:spPr>
      </p:pic>
      <p:sp>
        <p:nvSpPr>
          <p:cNvPr id="7" name="Text 3"/>
          <p:cNvSpPr/>
          <p:nvPr/>
        </p:nvSpPr>
        <p:spPr>
          <a:xfrm>
            <a:off x="5120640" y="3429000"/>
            <a:ext cx="3657600" cy="320040"/>
          </a:xfrm>
          <a:prstGeom prst="rect">
            <a:avLst/>
          </a:prstGeom>
          <a:noFill/>
          <a:ln/>
        </p:spPr>
        <p:txBody>
          <a:bodyPr wrap="square" lIns="0" tIns="0" rIns="0" bIns="0" rtlCol="0" anchor="ctr"/>
          <a:lstStyle/>
          <a:p>
            <a:pPr indent="0" marL="0">
              <a:buNone/>
            </a:pPr>
            <a:r>
              <a:rPr lang="en-US" sz="1100" i="1" dirty="0">
                <a:solidFill>
                  <a:srgbClr val="666666"/>
                </a:solidFill>
                <a:latin typeface="Times New Roman" pitchFamily="34" charset="0"/>
                <a:ea typeface="Times New Roman" pitchFamily="34" charset="-122"/>
                <a:cs typeface="Times New Roman" pitchFamily="34" charset="-120"/>
              </a:rPr>
              <a:t>F = I_base + WTH_máx − BTH_máx      (apertura ∘, cierre •)</a:t>
            </a:r>
            <a:endParaRPr lang="en-US" sz="1100" dirty="0"/>
          </a:p>
        </p:txBody>
      </p:sp>
      <p:sp>
        <p:nvSpPr>
          <p:cNvPr id="8" name="Text 4"/>
          <p:cNvSpPr/>
          <p:nvPr/>
        </p:nvSpPr>
        <p:spPr>
          <a:xfrm>
            <a:off x="457200" y="4160520"/>
            <a:ext cx="8229600" cy="365760"/>
          </a:xfrm>
          <a:prstGeom prst="rect">
            <a:avLst/>
          </a:prstGeom>
          <a:noFill/>
          <a:ln/>
        </p:spPr>
        <p:txBody>
          <a:bodyPr wrap="square" lIns="0" tIns="0" rIns="0" bIns="0" rtlCol="0" anchor="ctr"/>
          <a:lstStyle/>
          <a:p>
            <a:pPr indent="0" marL="0">
              <a:buNone/>
            </a:pPr>
            <a:r>
              <a:rPr lang="en-US" sz="1200" i="1" dirty="0">
                <a:solidFill>
                  <a:srgbClr val="666666"/>
                </a:solidFill>
                <a:latin typeface="Times New Roman" pitchFamily="34" charset="0"/>
                <a:ea typeface="Times New Roman" pitchFamily="34" charset="-122"/>
                <a:cs typeface="Times New Roman" pitchFamily="34" charset="-120"/>
              </a:rPr>
              <a:t>La base I_base es el promedio de las fuentes; el detalle se reinyecta sobre ella.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5. El operador: banco de SE y suma de ramas</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8 / 22</a:t>
            </a:r>
            <a:endParaRPr lang="en-US" sz="900" dirty="0"/>
          </a:p>
        </p:txBody>
      </p:sp>
      <p:pic>
        <p:nvPicPr>
          <p:cNvPr id="4" name="Image 0" descr="C:/Users/Usuario/Documents/unv/mastertesis/tesis_mciencias_datos/docs/figures/fig_flujo_propuesta.png">    </p:cNvPr>
          <p:cNvPicPr>
            <a:picLocks noChangeAspect="1"/>
          </p:cNvPicPr>
          <p:nvPr/>
        </p:nvPicPr>
        <p:blipFill>
          <a:blip r:embed="rId1"/>
          <a:stretch>
            <a:fillRect/>
          </a:stretch>
        </p:blipFill>
        <p:spPr>
          <a:xfrm>
            <a:off x="411480" y="777240"/>
            <a:ext cx="3246120" cy="4206240"/>
          </a:xfrm>
          <a:prstGeom prst="rect">
            <a:avLst/>
          </a:prstGeom>
        </p:spPr>
      </p:pic>
      <p:pic>
        <p:nvPicPr>
          <p:cNvPr id="5" name="Image 1" descr="C:/Users/Usuario/Documents/unv/mastertesis/tesis_mciencias_datos/docs/figures/fig_cinco_se.png">    </p:cNvPr>
          <p:cNvPicPr>
            <a:picLocks noChangeAspect="1"/>
          </p:cNvPicPr>
          <p:nvPr/>
        </p:nvPicPr>
        <p:blipFill>
          <a:blip r:embed="rId2"/>
          <a:stretch>
            <a:fillRect/>
          </a:stretch>
        </p:blipFill>
        <p:spPr>
          <a:xfrm>
            <a:off x="3977640" y="868680"/>
            <a:ext cx="4754880" cy="950976"/>
          </a:xfrm>
          <a:prstGeom prst="rect">
            <a:avLst/>
          </a:prstGeom>
        </p:spPr>
      </p:pic>
      <p:sp>
        <p:nvSpPr>
          <p:cNvPr id="6" name="Text 2"/>
          <p:cNvSpPr/>
          <p:nvPr/>
        </p:nvSpPr>
        <p:spPr>
          <a:xfrm>
            <a:off x="3977640" y="2057400"/>
            <a:ext cx="4754880" cy="2011680"/>
          </a:xfrm>
          <a:prstGeom prst="rect">
            <a:avLst/>
          </a:prstGeom>
          <a:noFill/>
          <a:ln/>
        </p:spPr>
        <p:txBody>
          <a:bodyPr wrap="square" lIns="0" tIns="0" rIns="0" bIns="0" rtlCol="0" anchor="t"/>
          <a:lstStyle/>
          <a:p>
            <a:pPr marL="177800" indent="-177800">
              <a:spcAft>
                <a:spcPts val="600"/>
              </a:spcAft>
              <a:buSzPct val="100000"/>
              <a:buChar char="•"/>
            </a:pPr>
            <a:endParaRPr lang="en-US" sz="1200" dirty="0"/>
            <a:r>
              <a:rPr lang="en-US" sz="1100" dirty="0">
                <a:solidFill>
                  <a:srgbClr val="1A1A1A"/>
                </a:solidFill>
                <a:latin typeface="Times New Roman" pitchFamily="34" charset="0"/>
                <a:ea typeface="Times New Roman" pitchFamily="34" charset="-122"/>
                <a:cs typeface="Times New Roman" pitchFamily="34" charset="-120"/>
              </a:rPr>
              <a:t>Una sola escala (sin cascada multiescala).</a:t>
            </a:r>
          </a:p>
          <a:p>
            <a:pPr marL="177800" indent="-177800">
              <a:spcAft>
                <a:spcPts val="600"/>
              </a:spcAft>
              <a:buSzPct val="100000"/>
              <a:buChar char="•"/>
            </a:pPr>
            <a:r>
              <a:rPr lang="en-US" sz="1100" dirty="0">
                <a:solidFill>
                  <a:srgbClr val="1A1A1A"/>
                </a:solidFill>
                <a:latin typeface="Times New Roman" pitchFamily="34" charset="0"/>
                <a:ea typeface="Times New Roman" pitchFamily="34" charset="-122"/>
                <a:cs typeface="Times New Roman" pitchFamily="34" charset="-120"/>
              </a:rPr>
              <a:t>Promedio de las 4 orientaciones lineales (ec. 7) + respuesta del disco (ec. 8).</a:t>
            </a:r>
          </a:p>
          <a:p>
            <a:pPr marL="177800" indent="-177800">
              <a:spcAft>
                <a:spcPts val="600"/>
              </a:spcAft>
              <a:buSzPct val="100000"/>
              <a:buChar char="•"/>
            </a:pPr>
            <a:r>
              <a:rPr lang="en-US" sz="1100" dirty="0">
                <a:solidFill>
                  <a:srgbClr val="1A1A1A"/>
                </a:solidFill>
                <a:latin typeface="Times New Roman" pitchFamily="34" charset="0"/>
                <a:ea typeface="Times New Roman" pitchFamily="34" charset="-122"/>
                <a:cs typeface="Times New Roman" pitchFamily="34" charset="-120"/>
              </a:rPr>
              <a:t>Novedad: suma de la rama lineal y la del disco, en lugar del máximo (esquema de Bala et al., 2024, trasladado del realce de fondo de ojo a la fusión VIS/IR).</a:t>
            </a:r>
          </a:p>
          <a:p>
            <a:pPr marL="177800" indent="-177800">
              <a:spcAft>
                <a:spcPts val="600"/>
              </a:spcAft>
              <a:buSzPct val="100000"/>
              <a:buChar char="•"/>
            </a:pPr>
            <a:r>
              <a:rPr lang="en-US" sz="1100" dirty="0">
                <a:solidFill>
                  <a:srgbClr val="1A1A1A"/>
                </a:solidFill>
                <a:latin typeface="Times New Roman" pitchFamily="34" charset="0"/>
                <a:ea typeface="Times New Roman" pitchFamily="34" charset="-122"/>
                <a:cs typeface="Times New Roman" pitchFamily="34" charset="-120"/>
              </a:rPr>
              <a:t>Máximo entre fuentes (ec. 10) —no entre las ramas del banco— y reconstrucción ponderada con m sobre I_base = (VIS + IR)/2 (ec. 11).</a:t>
            </a:r>
          </a:p>
          <a:p>
            <a:pPr marL="177800" indent="-177800">
              <a:spcAft>
                <a:spcPts val="600"/>
              </a:spcAft>
              <a:buSzPct val="100000"/>
              <a:buChar char="•"/>
            </a:pPr>
            <a:r>
              <a:rPr lang="en-US" sz="1100" dirty="0">
                <a:solidFill>
                  <a:srgbClr val="1A1A1A"/>
                </a:solidFill>
                <a:latin typeface="Times New Roman" pitchFamily="34" charset="0"/>
                <a:ea typeface="Times New Roman" pitchFamily="34" charset="-122"/>
                <a:cs typeface="Times New Roman" pitchFamily="34" charset="-120"/>
              </a:rPr>
              <a:t>El aporte de la suma se aísla en la ablación con (r, m) igualados: es el mejor de los seis brazos con las nueve métricas y el cuarto con las diecisiete, y duplica la tasa de artefactos del disco único (Nabf 0,374 frente a 0,185). Lámina 16.</a:t>
            </a:r>
          </a:p>
        </p:txBody>
      </p:sp>
      <p:pic>
        <p:nvPicPr>
          <p:cNvPr id="7" name="Image 2" descr="C:\Users\Usuario\AppData\Local\Temp\claude\C--Users-Usuario-Documents-unv-mastertesis\fa0a2acc-a0da-4701-a920-18b20c70d3b2\scratchpad\pptx_build/assets/f_suma.png">    </p:cNvPr>
          <p:cNvPicPr>
            <a:picLocks noChangeAspect="1"/>
          </p:cNvPicPr>
          <p:nvPr/>
        </p:nvPicPr>
        <p:blipFill>
          <a:blip r:embed="rId3"/>
          <a:stretch>
            <a:fillRect/>
          </a:stretch>
        </p:blipFill>
        <p:spPr>
          <a:xfrm>
            <a:off x="4114800" y="4343400"/>
            <a:ext cx="4480560" cy="3264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6. Alcance real de la optimización por PSO (OE2 / H5)</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9 / 22</a:t>
            </a:r>
            <a:endParaRPr lang="en-US" sz="900" dirty="0"/>
          </a:p>
        </p:txBody>
      </p:sp>
      <p:sp>
        <p:nvSpPr>
          <p:cNvPr id="4" name="Text 2"/>
          <p:cNvSpPr/>
          <p:nvPr/>
        </p:nvSpPr>
        <p:spPr>
          <a:xfrm>
            <a:off x="457200" y="868680"/>
            <a:ext cx="4480560" cy="1371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Se optimizan dos hiperparámetros: r (radio del disco y largo 2r+1 de las líneas) y m (peso del realce).</a:t>
            </a:r>
            <a:endParaRPr lang="en-US" sz="1300" dirty="0"/>
          </a:p>
          <a:p>
            <a:pPr marL="177800" indent="-177800">
              <a:spcAft>
                <a:spcPts val="600"/>
              </a:spcAft>
              <a:buSzPct val="100000"/>
              <a:buChar char="•"/>
            </a:pPr>
            <a:r>
              <a:rPr lang="en-US" sz="1300" dirty="0">
                <a:solidFill>
                  <a:srgbClr val="1A1A1A"/>
                </a:solidFill>
                <a:latin typeface="Times New Roman" pitchFamily="34" charset="0"/>
                <a:ea typeface="Times New Roman" pitchFamily="34" charset="-122"/>
                <a:cs typeface="Times New Roman" pitchFamily="34" charset="-120"/>
              </a:rPr>
              <a:t>Aptitud publicada de Ortega y Espinoza (2025), sin pesos arbitrarios:</a:t>
            </a:r>
            <a:endParaRPr lang="en-US" sz="1300" dirty="0"/>
          </a:p>
        </p:txBody>
      </p:sp>
      <p:pic>
        <p:nvPicPr>
          <p:cNvPr id="5" name="Image 0" descr="C:\Users\Usuario\AppData\Local\Temp\claude\C--Users-Usuario-Documents-unv-mastertesis\fa0a2acc-a0da-4701-a920-18b20c70d3b2\scratchpad\pptx_build/assets/f_aptitud.png">    </p:cNvPr>
          <p:cNvPicPr>
            <a:picLocks noChangeAspect="1"/>
          </p:cNvPicPr>
          <p:nvPr/>
        </p:nvPicPr>
        <p:blipFill>
          <a:blip r:embed="rId1"/>
          <a:stretch>
            <a:fillRect/>
          </a:stretch>
        </p:blipFill>
        <p:spPr>
          <a:xfrm>
            <a:off x="640080" y="2148840"/>
            <a:ext cx="3383280" cy="384048"/>
          </a:xfrm>
          <a:prstGeom prst="rect">
            <a:avLst/>
          </a:prstGeom>
        </p:spPr>
      </p:pic>
      <p:sp>
        <p:nvSpPr>
          <p:cNvPr id="6" name="Text 3"/>
          <p:cNvSpPr/>
          <p:nvPr/>
        </p:nvSpPr>
        <p:spPr>
          <a:xfrm>
            <a:off x="457200" y="2620000"/>
            <a:ext cx="435000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Barrido de 25 configuraciones del enjambre: partículas 2–10 × iteraciones 10–50 (réplica de Ortega y Espinoza, 2025), repetido 20 veces cada una: 500 corridas. La aptitud se promedia sobre 3 de las 20 escenas, que también integran el conjunto de evaluación: no hay partición separada para el ajuste.</a:t>
            </a:r>
            <a:endParaRPr lang="en-US" sz="1300" dirty="0"/>
          </a:p>
          <a:p>
            <a:pPr marL="177800" indent="-177800">
              <a:spcAft>
                <a:spcPts val="800"/>
              </a:spcAft>
              <a:buSzPct val="100000"/>
              <a:buChar char="•"/>
            </a:pPr>
            <a:r>
              <a:rPr lang="en-US" sz="1250" b="1" dirty="0">
                <a:solidFill>
                  <a:srgbClr val="1A1A1A"/>
                </a:solidFill>
                <a:latin typeface="Times New Roman" pitchFamily="34" charset="0"/>
                <a:ea typeface="Times New Roman" pitchFamily="34" charset="-122"/>
                <a:cs typeface="Times New Roman" pitchFamily="34" charset="-120"/>
              </a:rPr>
              <a:t xml:space="preserve">El peso converge a m* = 0,30 en 499 de las 500 corridas: es el piso del rango y la aptitud decrece de forma monótona en m. El radio no lo fija la búsqueda —r = 25 en el 51,4 % y r = 1 en el 45,6 %—, y dentro del rango el máximo de la aptitud está en r = 1. El r = 25 adoptado lo selecciona el bloque de actividad de la batería de evaluación, no la optimización.</a:t>
            </a:r>
            <a:endParaRPr lang="en-US" sz="1300" dirty="0"/>
          </a:p>
        </p:txBody>
      </p:sp>
      <p:pic>
        <p:nvPicPr>
          <p:cNvPr id="7" name="Image 1" descr="C:\Users\Usuario\AppData\Local\Temp\claude\C--Users-Usuario-Documents-unv-mastertesis\fa0a2acc-a0da-4701-a920-18b20c70d3b2\scratchpad\pptx_build/assets/pso_barrido.png">    </p:cNvPr>
          <p:cNvPicPr>
            <a:picLocks noChangeAspect="1"/>
          </p:cNvPicPr>
          <p:nvPr/>
        </p:nvPicPr>
        <p:blipFill>
          <a:blip r:embed="rId2"/>
          <a:stretch>
            <a:fillRect/>
          </a:stretch>
        </p:blipFill>
        <p:spPr>
          <a:xfrm>
            <a:off x="5029200" y="1234440"/>
            <a:ext cx="3657600" cy="2350008"/>
          </a:xfrm>
          <a:prstGeom prst="rect">
            <a:avLst/>
          </a:prstGeom>
        </p:spPr>
      </p:pic>
      <p:sp>
        <p:nvSpPr>
          <p:cNvPr id="8" name="Text 4"/>
          <p:cNvSpPr/>
          <p:nvPr/>
        </p:nvSpPr>
        <p:spPr>
          <a:xfrm>
            <a:off x="5029200" y="3749040"/>
            <a:ext cx="3657600" cy="685800"/>
          </a:xfrm>
          <a:prstGeom prst="rect">
            <a:avLst/>
          </a:prstGeom>
          <a:noFill/>
          <a:ln/>
        </p:spPr>
        <p:txBody>
          <a:bodyPr wrap="square" lIns="0" tIns="0" rIns="0" bIns="0" rtlCol="0" anchor="ctr"/>
          <a:lstStyle/>
          <a:p>
            <a:pPr algn="ctr" indent="0" marL="0">
              <a:buNone/>
            </a:pPr>
            <a:endParaRPr lang="en-US" sz="1100" dirty="0"/>
            <a:r>
              <a:rPr lang="en-US" sz="1100" i="1" dirty="0">
                <a:solidFill>
                  <a:srgbClr val="666666"/>
                </a:solidFill>
                <a:latin typeface="Times New Roman" pitchFamily="34" charset="0"/>
                <a:ea typeface="Times New Roman" pitchFamily="34" charset="-122"/>
                <a:cs typeface="Times New Roman" pitchFamily="34" charset="-120"/>
              </a:rPr>
              <a:t>ω: 0,9 → 0,4 · c₁ = c₂ = 1,5 · r ∈ [1, 25] · m ∈ [0,30; 2,00] (rango publicado)</a:t>
            </a:r>
          </a:p>
          <a:p>
            <a:pPr algn="ctr" indent="0" marL="0">
              <a:buNone/>
            </a:pPr>
            <a:r>
              <a:rPr lang="en-US" sz="1100" i="1" dirty="0">
                <a:solidFill>
                  <a:srgbClr val="666666"/>
                </a:solidFill>
                <a:latin typeface="Times New Roman" pitchFamily="34" charset="0"/>
                <a:ea typeface="Times New Roman" pitchFamily="34" charset="-122"/>
                <a:cs typeface="Times New Roman" pitchFamily="34" charset="-120"/>
              </a:rPr>
              <a:t>Dentro del rango publicado, no aplicar el operador puntúa mejor que aplicarlo: la base (VIS + IR)/2 obtiene F_o = 1,7583, por encima de 1,7350 y de 1,7057. Con el peso libre la relación se invierte (1,7715 con m = 0,07).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7. Diseño experimental</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10 / 22</a:t>
            </a:r>
            <a:endParaRPr lang="en-US" sz="900" dirty="0"/>
          </a:p>
        </p:txBody>
      </p:sp>
      <p:sp>
        <p:nvSpPr>
          <p:cNvPr id="4" name="Text 2"/>
          <p:cNvSpPr txBox="1"/>
          <p:nvPr/>
        </p:nvSpPr>
        <p:spPr>
          <a:xfrm>
            <a:off x="457200" y="868680"/>
            <a:ext cx="2600000" cy="480000"/>
          </a:xfrm>
          <a:prstGeom prst="rect">
            <a:avLst/>
          </a:prstGeom>
          <a:noFill/>
        </p:spPr>
        <p:txBody>
          <a:bodyPr wrap="square" anchor="t" lIns="0" rIns="0" tIns="0" bIns="0">
            <a:spAutoFit/>
          </a:bodyPr>
          <a:lstStyle/>
          <a:p>
            <a:pPr>
              <a:spcAft>
                <a:spcPts val="400"/>
              </a:spcAft>
            </a:pPr>
            <a:r>
              <a:rPr sz="1300" b="1">
                <a:solidFill>
                  <a:srgbClr val="1A1A1A"/>
                </a:solidFill>
                <a:latin typeface="Times New Roman"/>
              </a:rPr>
              <a:t>Benchmark de calidad</a:t>
            </a:r>
          </a:p>
        </p:txBody>
      </p:sp>
      <p:sp>
        <p:nvSpPr>
          <p:cNvPr id="5" name="Text 3"/>
          <p:cNvSpPr txBox="1"/>
          <p:nvPr/>
        </p:nvSpPr>
        <p:spPr>
          <a:xfrm>
            <a:off x="457200" y="1420000"/>
            <a:ext cx="2600000" cy="2670000"/>
          </a:xfrm>
          <a:prstGeom prst="rect">
            <a:avLst/>
          </a:prstGeom>
          <a:noFill/>
        </p:spPr>
        <p:txBody>
          <a:bodyPr wrap="square" anchor="t" lIns="0" rIns="0" tIns="0" bIns="0">
            <a:spAutoFit/>
          </a:bodyPr>
          <a:lstStyle/>
          <a:p>
            <a:pPr>
              <a:spcAft>
                <a:spcPts val="400"/>
              </a:spcAft>
            </a:pPr>
            <a:r>
              <a:rPr sz="1050" b="0">
                <a:solidFill>
                  <a:srgbClr val="1A1A1A"/>
                </a:solidFill>
                <a:latin typeface="Times New Roman"/>
              </a:rPr>
              <a:t>20 pares VIS/IR del dataset TNO (Toet, 2017). No son 20 escenas independientes: hay series de hasta tres tomas de la misma escena.</a:t>
            </a:r>
          </a:p>
          <a:p>
            <a:pPr>
              <a:spcAft>
                <a:spcPts val="400"/>
              </a:spcAft>
            </a:pPr>
            <a:r>
              <a:rPr sz="1050" b="0">
                <a:solidFill>
                  <a:srgbClr val="1A1A1A"/>
                </a:solidFill>
                <a:latin typeface="Times New Roman"/>
              </a:rPr>
              <a:t>7 métodos: LP, RP, DWT, DTCWT, CVT (aprox. wavelet db4), Top-Hat clásico y Propuesta → 140 fusiones.</a:t>
            </a:r>
          </a:p>
          <a:p>
            <a:pPr>
              <a:spcAft>
                <a:spcPts val="400"/>
              </a:spcAft>
            </a:pPr>
            <a:r>
              <a:rPr sz="1050" b="0">
                <a:solidFill>
                  <a:srgbClr val="1A1A1A"/>
                </a:solidFill>
                <a:latin typeface="Times New Roman"/>
              </a:rPr>
              <a:t>Nueve métricas sin imagen de referencia (EN, SD, FE, MG, MI_vis, MI_ir, SF, SSIM, PSNR). SSIM y PSNR se calculan contra las fuentes.</a:t>
            </a:r>
          </a:p>
          <a:p>
            <a:pPr>
              <a:spcAft>
                <a:spcPts val="400"/>
              </a:spcAft>
            </a:pPr>
            <a:r>
              <a:rPr sz="1050" b="0">
                <a:solidFill>
                  <a:srgbClr val="1A1A1A"/>
                </a:solidFill>
                <a:latin typeface="Times New Roman"/>
              </a:rPr>
              <a:t>Friedman global + Wilcoxon pareado con corrección de Holm (α = 0,05).</a:t>
            </a:r>
          </a:p>
        </p:txBody>
      </p:sp>
      <p:sp>
        <p:nvSpPr>
          <p:cNvPr id="6" name="Text 4"/>
          <p:cNvSpPr txBox="1"/>
          <p:nvPr/>
        </p:nvSpPr>
        <p:spPr>
          <a:xfrm>
            <a:off x="3272000" y="868680"/>
            <a:ext cx="2600000" cy="480000"/>
          </a:xfrm>
          <a:prstGeom prst="rect">
            <a:avLst/>
          </a:prstGeom>
          <a:noFill/>
        </p:spPr>
        <p:txBody>
          <a:bodyPr wrap="square" anchor="t" lIns="0" rIns="0" tIns="0" bIns="0">
            <a:spAutoFit/>
          </a:bodyPr>
          <a:lstStyle/>
          <a:p>
            <a:pPr>
              <a:spcAft>
                <a:spcPts val="400"/>
              </a:spcAft>
            </a:pPr>
            <a:r>
              <a:rPr sz="1300" b="1">
                <a:solidFill>
                  <a:srgbClr val="1A1A1A"/>
                </a:solidFill>
                <a:latin typeface="Times New Roman"/>
              </a:rPr>
              <a:t>Controles de la auditoría</a:t>
            </a:r>
          </a:p>
        </p:txBody>
      </p:sp>
      <p:sp>
        <p:nvSpPr>
          <p:cNvPr id="7" name="Text 5"/>
          <p:cNvSpPr txBox="1"/>
          <p:nvPr/>
        </p:nvSpPr>
        <p:spPr>
          <a:xfrm>
            <a:off x="3272000" y="1420000"/>
            <a:ext cx="2600000" cy="2670000"/>
          </a:xfrm>
          <a:prstGeom prst="rect">
            <a:avLst/>
          </a:prstGeom>
          <a:noFill/>
        </p:spPr>
        <p:txBody>
          <a:bodyPr wrap="square" anchor="t" lIns="0" rIns="0" tIns="0" bIns="0">
            <a:spAutoFit/>
          </a:bodyPr>
          <a:lstStyle/>
          <a:p>
            <a:pPr>
              <a:spcAft>
                <a:spcPts val="400"/>
              </a:spcAft>
            </a:pPr>
            <a:r>
              <a:rPr sz="1050" b="0">
                <a:solidFill>
                  <a:srgbClr val="1A1A1A"/>
                </a:solidFill>
                <a:latin typeface="Times New Roman"/>
              </a:rPr>
              <a:t>Control negativo: siete entradas degradadas añadidas al ranking —la imagen base sin operador, cuatro fusiones de ruido gaussiano (σ = 0,02 / 0,05 / 0,10 / 0,20) y dos desenfoques (5×5 y 11×11)—, con lo que el ranking pasa a 14 entradas.</a:t>
            </a:r>
          </a:p>
          <a:p>
            <a:pPr>
              <a:spcAft>
                <a:spcPts val="400"/>
              </a:spcAft>
            </a:pPr>
            <a:r>
              <a:rPr sz="1050" b="0">
                <a:solidFill>
                  <a:srgbClr val="1A1A1A"/>
                </a:solidFill>
                <a:latin typeface="Times New Roman"/>
              </a:rPr>
              <a:t>Ablación del banco con (r, m) = (25; 0,30) fijos en seis brazos que sólo difieren en cómo se combinan las respuestas morfológicas.</a:t>
            </a:r>
          </a:p>
          <a:p>
            <a:pPr>
              <a:spcAft>
                <a:spcPts val="400"/>
              </a:spcAft>
            </a:pPr>
            <a:r>
              <a:rPr sz="1050" b="0">
                <a:solidFill>
                  <a:srgbClr val="1A1A1A"/>
                </a:solidFill>
                <a:latin typeface="Times New Roman"/>
              </a:rPr>
              <a:t>Ajuste simétrico: el mismo tipo de barrido concedido a los cinco comparativos y al Top-Hat clásico.</a:t>
            </a:r>
          </a:p>
          <a:p>
            <a:pPr>
              <a:spcAft>
                <a:spcPts val="400"/>
              </a:spcAft>
            </a:pPr>
            <a:r>
              <a:rPr sz="1050" b="0">
                <a:solidFill>
                  <a:srgbClr val="1A1A1A"/>
                </a:solidFill>
                <a:latin typeface="Times New Roman"/>
              </a:rPr>
              <a:t>Sensibilidad del criterio: el mismo ranking con las diecisiete métricas que el evaluador ya computa (nueve + Qabf, Nabf, SCD, VIF, FMI, Q0, QW, QE).</a:t>
            </a:r>
          </a:p>
        </p:txBody>
      </p:sp>
      <p:sp>
        <p:nvSpPr>
          <p:cNvPr id="8" name="Text 6"/>
          <p:cNvSpPr txBox="1"/>
          <p:nvPr/>
        </p:nvSpPr>
        <p:spPr>
          <a:xfrm>
            <a:off x="6086800" y="868680"/>
            <a:ext cx="2600000" cy="480000"/>
          </a:xfrm>
          <a:prstGeom prst="rect">
            <a:avLst/>
          </a:prstGeom>
          <a:noFill/>
        </p:spPr>
        <p:txBody>
          <a:bodyPr wrap="square" anchor="t" lIns="0" rIns="0" tIns="0" bIns="0">
            <a:spAutoFit/>
          </a:bodyPr>
          <a:lstStyle/>
          <a:p>
            <a:pPr>
              <a:spcAft>
                <a:spcPts val="400"/>
              </a:spcAft>
            </a:pPr>
            <a:r>
              <a:rPr sz="1300" b="1">
                <a:solidFill>
                  <a:srgbClr val="1A1A1A"/>
                </a:solidFill>
                <a:latin typeface="Times New Roman"/>
              </a:rPr>
              <a:t>Evaluación en tarea (dos experimentos)</a:t>
            </a:r>
          </a:p>
        </p:txBody>
      </p:sp>
      <p:sp>
        <p:nvSpPr>
          <p:cNvPr id="9" name="Text 7"/>
          <p:cNvSpPr txBox="1"/>
          <p:nvPr/>
        </p:nvSpPr>
        <p:spPr>
          <a:xfrm>
            <a:off x="6086800" y="1420000"/>
            <a:ext cx="2600000" cy="2670000"/>
          </a:xfrm>
          <a:prstGeom prst="rect">
            <a:avLst/>
          </a:prstGeom>
          <a:noFill/>
        </p:spPr>
        <p:txBody>
          <a:bodyPr wrap="square" anchor="t" lIns="0" rIns="0" tIns="0" bIns="0">
            <a:spAutoFit/>
          </a:bodyPr>
          <a:lstStyle/>
          <a:p>
            <a:pPr>
              <a:spcAft>
                <a:spcPts val="400"/>
              </a:spcAft>
            </a:pPr>
            <a:r>
              <a:rPr sz="1050" b="0">
                <a:solidFill>
                  <a:srgbClr val="1A1A1A"/>
                </a:solidFill>
                <a:latin typeface="Times New Roman"/>
              </a:rPr>
              <a:t>LLVIP (peatones nocturnos): 2.000 imágenes de entrenamiento y 500 de validación. YOLOv8n reentrenado por modalidad (40 épocas), 9 entradas: VIS, IR y las 7 fusiones.</a:t>
            </a:r>
          </a:p>
          <a:p>
            <a:pPr>
              <a:spcAft>
                <a:spcPts val="400"/>
              </a:spcAft>
            </a:pPr>
            <a:r>
              <a:rPr sz="1050" b="0">
                <a:solidFill>
                  <a:srgbClr val="1A1A1A"/>
                </a:solidFill>
                <a:latin typeface="Times New Roman"/>
              </a:rPr>
              <a:t>Etiquetas idénticas entre modalidades: la diferencia de mAP atribuye el efecto al método de fusión.</a:t>
            </a:r>
          </a:p>
          <a:p>
            <a:pPr>
              <a:spcAft>
                <a:spcPts val="400"/>
              </a:spcAft>
            </a:pPr>
            <a:r>
              <a:rPr sz="1050" b="0">
                <a:solidFill>
                  <a:srgbClr val="1A1A1A"/>
                </a:solidFill>
                <a:latin typeface="Times New Roman"/>
              </a:rPr>
              <a:t>M3FD (clases de visibilidad opuesta: personas/IR y luces/VIS): detector único VIS+IR y conteo por escena sobre 232 escenas con ambas clases, 90 de ellas críticas.</a:t>
            </a:r>
          </a:p>
        </p:txBody>
      </p:sp>
      <p:sp>
        <p:nvSpPr>
          <p:cNvPr id="10" name="Text 8"/>
          <p:cNvSpPr txBox="1"/>
          <p:nvPr/>
        </p:nvSpPr>
        <p:spPr>
          <a:xfrm>
            <a:off x="457200" y="4320000"/>
            <a:ext cx="8229600" cy="600000"/>
          </a:xfrm>
          <a:prstGeom prst="rect">
            <a:avLst/>
          </a:prstGeom>
          <a:noFill/>
        </p:spPr>
        <p:txBody>
          <a:bodyPr wrap="square" anchor="t" lIns="0" rIns="0" tIns="0" bIns="0">
            <a:spAutoFit/>
          </a:bodyPr>
          <a:lstStyle/>
          <a:p>
            <a:pPr>
              <a:spcAft>
                <a:spcPts val="400"/>
              </a:spcAft>
            </a:pPr>
            <a:r>
              <a:rPr sz="900" b="0">
                <a:solidFill>
                  <a:srgbClr val="666666"/>
                </a:solidFill>
                <a:latin typeface="Times New Roman"/>
              </a:rPr>
              <a:t>Limitaciones declaradas: CVT es una aproximación de tipo curvelet con wavelet 2D db4, no la transformada curvelet, de modo que los cinco comparativos cubren cuatro familias; los 20 pares incluyen series de tomas de la misma escena, y las conclusiones se verificaron agregando por escena; LLVIP no tiene partición de prueba separada de la de selección, y se reporta el checkpoint final; y los experimentos de detección usan una sola semilla, por lo que diferencias de milésimas entre métodos no son distinguibles.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8. Resultados cualitativos</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11 / 22</a:t>
            </a:r>
            <a:endParaRPr lang="en-US" sz="900" dirty="0"/>
          </a:p>
        </p:txBody>
      </p:sp>
      <p:pic>
        <p:nvPicPr>
          <p:cNvPr id="4" name="Image 0" descr="C:/Users/Usuario/Documents/unv/mastertesis/tesis_mciencias_datos/docs/figures/cualitativas/montaje_07.png">    </p:cNvPr>
          <p:cNvPicPr>
            <a:picLocks noChangeAspect="1"/>
          </p:cNvPicPr>
          <p:nvPr/>
        </p:nvPicPr>
        <p:blipFill>
          <a:blip r:embed="rId1"/>
          <a:stretch>
            <a:fillRect/>
          </a:stretch>
        </p:blipFill>
        <p:spPr>
          <a:xfrm>
            <a:off x="1764792" y="777240"/>
            <a:ext cx="5623560" cy="3800000"/>
          </a:xfrm>
          <a:prstGeom prst="rect">
            <a:avLst/>
          </a:prstGeom>
        </p:spPr>
      </p:pic>
      <p:sp>
        <p:nvSpPr>
          <p:cNvPr id="5" name="Text 2"/>
          <p:cNvSpPr/>
          <p:nvPr/>
        </p:nvSpPr>
        <p:spPr>
          <a:xfrm>
            <a:off x="457200" y="4660000"/>
            <a:ext cx="7680960" cy="411480"/>
          </a:xfrm>
          <a:prstGeom prst="rect">
            <a:avLst/>
          </a:prstGeom>
          <a:noFill/>
          <a:ln/>
        </p:spPr>
        <p:txBody>
          <a:bodyPr wrap="square" lIns="0" tIns="0" rIns="0" bIns="0" rtlCol="0" anchor="ctr"/>
          <a:lstStyle/>
          <a:p>
            <a:pPr indent="0" marL="0">
              <a:buNone/>
            </a:pPr>
            <a:r>
              <a:rPr lang="en-US" sz="1000" i="1" dirty="0">
                <a:solidFill>
                  <a:srgbClr val="666666"/>
                </a:solidFill>
                <a:latin typeface="Times New Roman" pitchFamily="34" charset="0"/>
                <a:ea typeface="Times New Roman" pitchFamily="34" charset="-122"/>
                <a:cs typeface="Times New Roman" pitchFamily="34" charset="-120"/>
              </a:rPr>
              <a:t>Los 20 montajes están en el repositorio (docs/figures/cualitativas/). El patrón es el del análisis cuantitativo: más realce de bordes y textura que los multiescala, a costa de fidelidad y con más artefactos que el disco único.</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Resultados cuantitativos por bloques — medias sobre 20 pares</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12 / 22</a:t>
            </a:r>
            <a:endParaRPr lang="en-US" sz="900" dirty="0"/>
          </a:p>
        </p:txBody>
      </p:sp>
      <p:sp>
        <p:nvSpPr>
          <p:cNvPr id="5" name="Text 2"/>
          <p:cNvSpPr/>
          <p:nvPr/>
        </p:nvSpPr>
        <p:spPr>
          <a:xfrm>
            <a:off x="457200" y="3620000"/>
            <a:ext cx="8229600" cy="1097280"/>
          </a:xfrm>
          <a:prstGeom prst="rect">
            <a:avLst/>
          </a:prstGeom>
          <a:noFill/>
          <a:ln/>
        </p:spPr>
        <p:txBody>
          <a:bodyPr wrap="square" lIns="0" tIns="0" rIns="0" bIns="0" rtlCol="0" anchor="t"/>
          <a:lstStyle/>
          <a:p>
            <a:pPr marL="177800" indent="-177800">
              <a:spcAft>
                <a:spcPts val="500"/>
              </a:spcAft>
              <a:buSzPct val="100000"/>
              <a:buChar char="•"/>
            </a:pPr>
            <a:r>
              <a:rPr sz="1250">
                <a:solidFill>
                  <a:srgbClr val="1A1A1A"/>
                </a:solidFill>
                <a:latin typeface="Times New Roman"/>
              </a:rPr>
              <a:t>Ninguna fila domina. La propuesta lidera la entropía y con ella la eficiencia de fusión, que es esa misma entropía reescalada por una constante por escena y no una dimensión independiente; y queda segunda en contraste, gradiente medio y frecuencia espacial, detrás del Top-Hat clásico en las dos últimas.</a:t>
            </a:r>
            <a:endParaRPr lang="en-US" sz="1250" dirty="0"/>
          </a:p>
          <a:p>
            <a:pPr marL="177800" indent="-177800">
              <a:spcAft>
                <a:spcPts val="500"/>
              </a:spcAft>
              <a:buSzPct val="100000"/>
              <a:buChar char="•"/>
            </a:pPr>
            <a:r>
              <a:rPr sz="1250">
                <a:solidFill>
                  <a:srgbClr val="1A1A1A"/>
                </a:solidFill>
                <a:latin typeface="Times New Roman"/>
              </a:rPr>
              <a:t>Cede las cuatro métricas de fidelidad, lideradas por los multiescala. No hay dominancia global: hay un punto de operación desplazado. En el ranking de rangos medios intra-bloque de las nueve métricas la propuesta es 1.ª de 7 (3,394), por delante de la pirámide de Laplace (3,911) y del Top-Hat clásico (3,944) — bajo este criterio.</a:t>
            </a:r>
          </a:p>
        </p:txBody>
      </p:sp>
      <p:graphicFrame>
        <p:nvGraphicFramePr>
          <p:cNvPr id="6" name="Table 0"/>
          <p:cNvGraphicFramePr>
            <a:graphicFrameLocks noGrp="1"/>
          </p:cNvGraphicFramePr>
          <p:nvPr/>
        </p:nvGraphicFramePr>
        <p:xfrm>
          <a:off x="457200" y="1050000"/>
          <a:ext cx="8229593" cy="2487168"/>
        </p:xfrm>
        <a:graphic>
          <a:graphicData uri="http://schemas.openxmlformats.org/drawingml/2006/table">
            <a:tbl>
              <a:tblPr firstRow="1" bandRow="1">
                <a:tableStyleId>{5C22544A-7EE6-4342-B048-85BDC9FD1C3A}</a:tableStyleId>
              </a:tblPr>
              <a:tblGrid>
                <a:gridCol w="2000000"/>
                <a:gridCol w="692177"/>
                <a:gridCol w="692177"/>
                <a:gridCol w="692177"/>
                <a:gridCol w="692177"/>
                <a:gridCol w="692177"/>
                <a:gridCol w="692177"/>
                <a:gridCol w="692177"/>
                <a:gridCol w="692177"/>
                <a:gridCol w="692177"/>
              </a:tblGrid>
              <a:tr h="310896">
                <a:tc>
                  <a:txBody>
                    <a:bodyPr/>
                    <a:lstStyle/>
                    <a:p>
                      <a:pPr algn="l"/>
                      <a:r>
                        <a:rPr sz="1000" b="1">
                          <a:solidFill>
                            <a:srgbClr val="1A1A1A"/>
                          </a:solidFill>
                          <a:latin typeface="Times New Roman"/>
                        </a:rPr>
                        <a:t>Método</a:t>
                      </a:r>
                    </a:p>
                  </a:txBody>
                  <a:tcPr anchor="ctr" marL="45720" marR="45720" marT="45720" marB="45720">
                    <a:solidFill>
                      <a:srgbClr val="F2F2F2"/>
                    </a:solidFill>
                  </a:tcPr>
                </a:tc>
                <a:tc>
                  <a:txBody>
                    <a:bodyPr/>
                    <a:lstStyle/>
                    <a:p>
                      <a:pPr algn="ctr"/>
                      <a:r>
                        <a:rPr sz="1000" b="1">
                          <a:solidFill>
                            <a:srgbClr val="1A1A1A"/>
                          </a:solidFill>
                          <a:latin typeface="Times New Roman"/>
                        </a:rPr>
                        <a:t>EN ↑</a:t>
                      </a:r>
                    </a:p>
                  </a:txBody>
                  <a:tcPr anchor="ctr" marL="45720" marR="45720" marT="45720" marB="45720">
                    <a:solidFill>
                      <a:srgbClr val="F2F2F2"/>
                    </a:solidFill>
                  </a:tcPr>
                </a:tc>
                <a:tc>
                  <a:txBody>
                    <a:bodyPr/>
                    <a:lstStyle/>
                    <a:p>
                      <a:pPr algn="ctr"/>
                      <a:r>
                        <a:rPr sz="1000" b="1">
                          <a:solidFill>
                            <a:srgbClr val="1A1A1A"/>
                          </a:solidFill>
                          <a:latin typeface="Times New Roman"/>
                        </a:rPr>
                        <a:t>SD ↑</a:t>
                      </a:r>
                    </a:p>
                  </a:txBody>
                  <a:tcPr anchor="ctr" marL="45720" marR="45720" marT="45720" marB="45720">
                    <a:solidFill>
                      <a:srgbClr val="F2F2F2"/>
                    </a:solidFill>
                  </a:tcPr>
                </a:tc>
                <a:tc>
                  <a:txBody>
                    <a:bodyPr/>
                    <a:lstStyle/>
                    <a:p>
                      <a:pPr algn="ctr"/>
                      <a:r>
                        <a:rPr sz="1000" b="1">
                          <a:solidFill>
                            <a:srgbClr val="1A1A1A"/>
                          </a:solidFill>
                          <a:latin typeface="Times New Roman"/>
                        </a:rPr>
                        <a:t>FE ↑</a:t>
                      </a:r>
                    </a:p>
                  </a:txBody>
                  <a:tcPr anchor="ctr" marL="45720" marR="45720" marT="45720" marB="45720">
                    <a:solidFill>
                      <a:srgbClr val="F2F2F2"/>
                    </a:solidFill>
                  </a:tcPr>
                </a:tc>
                <a:tc>
                  <a:txBody>
                    <a:bodyPr/>
                    <a:lstStyle/>
                    <a:p>
                      <a:pPr algn="ctr"/>
                      <a:r>
                        <a:rPr sz="1000" b="1">
                          <a:solidFill>
                            <a:srgbClr val="1A1A1A"/>
                          </a:solidFill>
                          <a:latin typeface="Times New Roman"/>
                        </a:rPr>
                        <a:t>MG ↑</a:t>
                      </a:r>
                    </a:p>
                  </a:txBody>
                  <a:tcPr anchor="ctr" marL="45720" marR="45720" marT="45720" marB="45720">
                    <a:solidFill>
                      <a:srgbClr val="F2F2F2"/>
                    </a:solidFill>
                  </a:tcPr>
                </a:tc>
                <a:tc>
                  <a:txBody>
                    <a:bodyPr/>
                    <a:lstStyle/>
                    <a:p>
                      <a:pPr algn="ctr"/>
                      <a:r>
                        <a:rPr sz="1000" b="1">
                          <a:solidFill>
                            <a:srgbClr val="1A1A1A"/>
                          </a:solidFill>
                          <a:latin typeface="Times New Roman"/>
                        </a:rPr>
                        <a:t>SF ↑</a:t>
                      </a:r>
                    </a:p>
                  </a:txBody>
                  <a:tcPr anchor="ctr" marL="45720" marR="45720" marT="45720" marB="45720">
                    <a:solidFill>
                      <a:srgbClr val="F2F2F2"/>
                    </a:solidFill>
                  </a:tcPr>
                </a:tc>
                <a:tc>
                  <a:txBody>
                    <a:bodyPr/>
                    <a:lstStyle/>
                    <a:p>
                      <a:pPr algn="ctr"/>
                      <a:r>
                        <a:rPr sz="1000" b="1">
                          <a:solidFill>
                            <a:srgbClr val="1A1A1A"/>
                          </a:solidFill>
                          <a:latin typeface="Times New Roman"/>
                        </a:rPr>
                        <a:t>MI_vis ↑</a:t>
                      </a:r>
                    </a:p>
                  </a:txBody>
                  <a:tcPr anchor="ctr" marL="45720" marR="45720" marT="45720" marB="45720">
                    <a:solidFill>
                      <a:srgbClr val="E2E2E2"/>
                    </a:solidFill>
                  </a:tcPr>
                </a:tc>
                <a:tc>
                  <a:txBody>
                    <a:bodyPr/>
                    <a:lstStyle/>
                    <a:p>
                      <a:pPr algn="ctr"/>
                      <a:r>
                        <a:rPr sz="1000" b="1">
                          <a:solidFill>
                            <a:srgbClr val="1A1A1A"/>
                          </a:solidFill>
                          <a:latin typeface="Times New Roman"/>
                        </a:rPr>
                        <a:t>MI_ir ↑</a:t>
                      </a:r>
                    </a:p>
                  </a:txBody>
                  <a:tcPr anchor="ctr" marL="45720" marR="45720" marT="45720" marB="45720">
                    <a:solidFill>
                      <a:srgbClr val="E2E2E2"/>
                    </a:solidFill>
                  </a:tcPr>
                </a:tc>
                <a:tc>
                  <a:txBody>
                    <a:bodyPr/>
                    <a:lstStyle/>
                    <a:p>
                      <a:pPr algn="ctr"/>
                      <a:r>
                        <a:rPr sz="1000" b="1">
                          <a:solidFill>
                            <a:srgbClr val="1A1A1A"/>
                          </a:solidFill>
                          <a:latin typeface="Times New Roman"/>
                        </a:rPr>
                        <a:t>SSIM ↑</a:t>
                      </a:r>
                    </a:p>
                  </a:txBody>
                  <a:tcPr anchor="ctr" marL="45720" marR="45720" marT="45720" marB="45720">
                    <a:solidFill>
                      <a:srgbClr val="E2E2E2"/>
                    </a:solidFill>
                  </a:tcPr>
                </a:tc>
                <a:tc>
                  <a:txBody>
                    <a:bodyPr/>
                    <a:lstStyle/>
                    <a:p>
                      <a:pPr algn="ctr"/>
                      <a:r>
                        <a:rPr sz="1000" b="1">
                          <a:solidFill>
                            <a:srgbClr val="1A1A1A"/>
                          </a:solidFill>
                          <a:latin typeface="Times New Roman"/>
                        </a:rPr>
                        <a:t>PSNR ↑</a:t>
                      </a:r>
                    </a:p>
                  </a:txBody>
                  <a:tcPr anchor="ctr" marL="45720" marR="45720" marT="45720" marB="45720">
                    <a:solidFill>
                      <a:srgbClr val="E2E2E2"/>
                    </a:solidFill>
                  </a:tcPr>
                </a:tc>
              </a:tr>
              <a:tr h="310896">
                <a:tc>
                  <a:txBody>
                    <a:bodyPr/>
                    <a:lstStyle/>
                    <a:p>
                      <a:pPr algn="l"/>
                      <a:r>
                        <a:rPr sz="1000" b="0">
                          <a:solidFill>
                            <a:srgbClr val="1A1A1A"/>
                          </a:solidFill>
                          <a:latin typeface="Times New Roman"/>
                        </a:rPr>
                        <a:t>Pirámide de Laplace (LP)</a:t>
                      </a:r>
                    </a:p>
                  </a:txBody>
                  <a:tcPr anchor="ctr" marL="45720" marR="45720" marT="45720" marB="45720">
                    <a:noFill/>
                  </a:tcPr>
                </a:tc>
                <a:tc>
                  <a:txBody>
                    <a:bodyPr/>
                    <a:lstStyle/>
                    <a:p>
                      <a:pPr algn="ctr"/>
                      <a:r>
                        <a:rPr sz="1000" b="0">
                          <a:solidFill>
                            <a:srgbClr val="1A1A1A"/>
                          </a:solidFill>
                          <a:latin typeface="Times New Roman"/>
                        </a:rPr>
                        <a:t>6,840</a:t>
                      </a:r>
                    </a:p>
                  </a:txBody>
                  <a:tcPr anchor="ctr" marL="45720" marR="45720" marT="45720" marB="45720">
                    <a:noFill/>
                  </a:tcPr>
                </a:tc>
                <a:tc>
                  <a:txBody>
                    <a:bodyPr/>
                    <a:lstStyle/>
                    <a:p>
                      <a:pPr algn="ctr"/>
                      <a:r>
                        <a:rPr sz="1000" b="1">
                          <a:solidFill>
                            <a:srgbClr val="1A1A1A"/>
                          </a:solidFill>
                          <a:latin typeface="Times New Roman"/>
                        </a:rPr>
                        <a:t>0,155</a:t>
                      </a:r>
                    </a:p>
                  </a:txBody>
                  <a:tcPr anchor="ctr" marL="45720" marR="45720" marT="45720" marB="45720">
                    <a:noFill/>
                  </a:tcPr>
                </a:tc>
                <a:tc>
                  <a:txBody>
                    <a:bodyPr/>
                    <a:lstStyle/>
                    <a:p>
                      <a:pPr algn="ctr"/>
                      <a:r>
                        <a:rPr sz="1000" b="0">
                          <a:solidFill>
                            <a:srgbClr val="1A1A1A"/>
                          </a:solidFill>
                          <a:latin typeface="Times New Roman"/>
                        </a:rPr>
                        <a:t>1,081</a:t>
                      </a:r>
                    </a:p>
                  </a:txBody>
                  <a:tcPr anchor="ctr" marL="45720" marR="45720" marT="45720" marB="45720">
                    <a:noFill/>
                  </a:tcPr>
                </a:tc>
                <a:tc>
                  <a:txBody>
                    <a:bodyPr/>
                    <a:lstStyle/>
                    <a:p>
                      <a:pPr algn="ctr"/>
                      <a:r>
                        <a:rPr sz="1000" b="0">
                          <a:solidFill>
                            <a:srgbClr val="1A1A1A"/>
                          </a:solidFill>
                          <a:latin typeface="Times New Roman"/>
                        </a:rPr>
                        <a:t>0,0252</a:t>
                      </a:r>
                    </a:p>
                  </a:txBody>
                  <a:tcPr anchor="ctr" marL="45720" marR="45720" marT="45720" marB="45720">
                    <a:noFill/>
                  </a:tcPr>
                </a:tc>
                <a:tc>
                  <a:txBody>
                    <a:bodyPr/>
                    <a:lstStyle/>
                    <a:p>
                      <a:pPr algn="ctr"/>
                      <a:r>
                        <a:rPr sz="1000" b="0">
                          <a:solidFill>
                            <a:srgbClr val="1A1A1A"/>
                          </a:solidFill>
                          <a:latin typeface="Times New Roman"/>
                        </a:rPr>
                        <a:t>13,22</a:t>
                      </a:r>
                    </a:p>
                  </a:txBody>
                  <a:tcPr anchor="ctr" marL="45720" marR="45720" marT="45720" marB="45720">
                    <a:noFill/>
                  </a:tcPr>
                </a:tc>
                <a:tc>
                  <a:txBody>
                    <a:bodyPr/>
                    <a:lstStyle/>
                    <a:p>
                      <a:pPr algn="ctr"/>
                      <a:r>
                        <a:rPr sz="1000" b="1">
                          <a:solidFill>
                            <a:srgbClr val="1A1A1A"/>
                          </a:solidFill>
                          <a:latin typeface="Times New Roman"/>
                        </a:rPr>
                        <a:t>1,924</a:t>
                      </a:r>
                    </a:p>
                  </a:txBody>
                  <a:tcPr anchor="ctr" marL="45720" marR="45720" marT="45720" marB="45720">
                    <a:noFill/>
                  </a:tcPr>
                </a:tc>
                <a:tc>
                  <a:txBody>
                    <a:bodyPr/>
                    <a:lstStyle/>
                    <a:p>
                      <a:pPr algn="ctr"/>
                      <a:r>
                        <a:rPr sz="1000" b="1">
                          <a:solidFill>
                            <a:srgbClr val="1A1A1A"/>
                          </a:solidFill>
                          <a:latin typeface="Times New Roman"/>
                        </a:rPr>
                        <a:t>0,918</a:t>
                      </a:r>
                    </a:p>
                  </a:txBody>
                  <a:tcPr anchor="ctr" marL="45720" marR="45720" marT="45720" marB="45720">
                    <a:noFill/>
                  </a:tcPr>
                </a:tc>
                <a:tc>
                  <a:txBody>
                    <a:bodyPr/>
                    <a:lstStyle/>
                    <a:p>
                      <a:pPr algn="ctr"/>
                      <a:r>
                        <a:rPr sz="1000" b="0">
                          <a:solidFill>
                            <a:srgbClr val="1A1A1A"/>
                          </a:solidFill>
                          <a:latin typeface="Times New Roman"/>
                        </a:rPr>
                        <a:t>0,706</a:t>
                      </a:r>
                    </a:p>
                  </a:txBody>
                  <a:tcPr anchor="ctr" marL="45720" marR="45720" marT="45720" marB="45720">
                    <a:noFill/>
                  </a:tcPr>
                </a:tc>
                <a:tc>
                  <a:txBody>
                    <a:bodyPr/>
                    <a:lstStyle/>
                    <a:p>
                      <a:pPr algn="ctr"/>
                      <a:r>
                        <a:rPr sz="1000" b="0">
                          <a:solidFill>
                            <a:srgbClr val="1A1A1A"/>
                          </a:solidFill>
                          <a:latin typeface="Times New Roman"/>
                        </a:rPr>
                        <a:t>14,94</a:t>
                      </a:r>
                    </a:p>
                  </a:txBody>
                  <a:tcPr anchor="ctr" marL="45720" marR="45720" marT="45720" marB="45720">
                    <a:noFill/>
                  </a:tcPr>
                </a:tc>
              </a:tr>
              <a:tr h="310896">
                <a:tc>
                  <a:txBody>
                    <a:bodyPr/>
                    <a:lstStyle/>
                    <a:p>
                      <a:pPr algn="l"/>
                      <a:r>
                        <a:rPr sz="1000" b="0">
                          <a:solidFill>
                            <a:srgbClr val="1A1A1A"/>
                          </a:solidFill>
                          <a:latin typeface="Times New Roman"/>
                        </a:rPr>
                        <a:t>Ratio Pyramid (RP)</a:t>
                      </a:r>
                    </a:p>
                  </a:txBody>
                  <a:tcPr anchor="ctr" marL="45720" marR="45720" marT="45720" marB="45720">
                    <a:noFill/>
                  </a:tcPr>
                </a:tc>
                <a:tc>
                  <a:txBody>
                    <a:bodyPr/>
                    <a:lstStyle/>
                    <a:p>
                      <a:pPr algn="ctr"/>
                      <a:r>
                        <a:rPr sz="1000" b="0">
                          <a:solidFill>
                            <a:srgbClr val="1A1A1A"/>
                          </a:solidFill>
                          <a:latin typeface="Times New Roman"/>
                        </a:rPr>
                        <a:t>6,810</a:t>
                      </a:r>
                    </a:p>
                  </a:txBody>
                  <a:tcPr anchor="ctr" marL="45720" marR="45720" marT="45720" marB="45720">
                    <a:noFill/>
                  </a:tcPr>
                </a:tc>
                <a:tc>
                  <a:txBody>
                    <a:bodyPr/>
                    <a:lstStyle/>
                    <a:p>
                      <a:pPr algn="ctr"/>
                      <a:r>
                        <a:rPr sz="1000" b="0">
                          <a:solidFill>
                            <a:srgbClr val="1A1A1A"/>
                          </a:solidFill>
                          <a:latin typeface="Times New Roman"/>
                        </a:rPr>
                        <a:t>0,127</a:t>
                      </a:r>
                    </a:p>
                  </a:txBody>
                  <a:tcPr anchor="ctr" marL="45720" marR="45720" marT="45720" marB="45720">
                    <a:noFill/>
                  </a:tcPr>
                </a:tc>
                <a:tc>
                  <a:txBody>
                    <a:bodyPr/>
                    <a:lstStyle/>
                    <a:p>
                      <a:pPr algn="ctr"/>
                      <a:r>
                        <a:rPr sz="1000" b="0">
                          <a:solidFill>
                            <a:srgbClr val="1A1A1A"/>
                          </a:solidFill>
                          <a:latin typeface="Times New Roman"/>
                        </a:rPr>
                        <a:t>1,077</a:t>
                      </a:r>
                    </a:p>
                  </a:txBody>
                  <a:tcPr anchor="ctr" marL="45720" marR="45720" marT="45720" marB="45720">
                    <a:noFill/>
                  </a:tcPr>
                </a:tc>
                <a:tc>
                  <a:txBody>
                    <a:bodyPr/>
                    <a:lstStyle/>
                    <a:p>
                      <a:pPr algn="ctr"/>
                      <a:r>
                        <a:rPr sz="1000" b="0">
                          <a:solidFill>
                            <a:srgbClr val="1A1A1A"/>
                          </a:solidFill>
                          <a:latin typeface="Times New Roman"/>
                        </a:rPr>
                        <a:t>0,0275</a:t>
                      </a:r>
                    </a:p>
                  </a:txBody>
                  <a:tcPr anchor="ctr" marL="45720" marR="45720" marT="45720" marB="45720">
                    <a:noFill/>
                  </a:tcPr>
                </a:tc>
                <a:tc>
                  <a:txBody>
                    <a:bodyPr/>
                    <a:lstStyle/>
                    <a:p>
                      <a:pPr algn="ctr"/>
                      <a:r>
                        <a:rPr sz="1000" b="0">
                          <a:solidFill>
                            <a:srgbClr val="1A1A1A"/>
                          </a:solidFill>
                          <a:latin typeface="Times New Roman"/>
                        </a:rPr>
                        <a:t>13,62</a:t>
                      </a:r>
                    </a:p>
                  </a:txBody>
                  <a:tcPr anchor="ctr" marL="45720" marR="45720" marT="45720" marB="45720">
                    <a:noFill/>
                  </a:tcPr>
                </a:tc>
                <a:tc>
                  <a:txBody>
                    <a:bodyPr/>
                    <a:lstStyle/>
                    <a:p>
                      <a:pPr algn="ctr"/>
                      <a:r>
                        <a:rPr sz="1000" b="0">
                          <a:solidFill>
                            <a:srgbClr val="1A1A1A"/>
                          </a:solidFill>
                          <a:latin typeface="Times New Roman"/>
                        </a:rPr>
                        <a:t>0,949</a:t>
                      </a:r>
                    </a:p>
                  </a:txBody>
                  <a:tcPr anchor="ctr" marL="45720" marR="45720" marT="45720" marB="45720">
                    <a:noFill/>
                  </a:tcPr>
                </a:tc>
                <a:tc>
                  <a:txBody>
                    <a:bodyPr/>
                    <a:lstStyle/>
                    <a:p>
                      <a:pPr algn="ctr"/>
                      <a:r>
                        <a:rPr sz="1000" b="0">
                          <a:solidFill>
                            <a:srgbClr val="1A1A1A"/>
                          </a:solidFill>
                          <a:latin typeface="Times New Roman"/>
                        </a:rPr>
                        <a:t>0,650</a:t>
                      </a:r>
                    </a:p>
                  </a:txBody>
                  <a:tcPr anchor="ctr" marL="45720" marR="45720" marT="45720" marB="45720">
                    <a:noFill/>
                  </a:tcPr>
                </a:tc>
                <a:tc>
                  <a:txBody>
                    <a:bodyPr/>
                    <a:lstStyle/>
                    <a:p>
                      <a:pPr algn="ctr"/>
                      <a:r>
                        <a:rPr sz="1000" b="0">
                          <a:solidFill>
                            <a:srgbClr val="1A1A1A"/>
                          </a:solidFill>
                          <a:latin typeface="Times New Roman"/>
                        </a:rPr>
                        <a:t>0,705</a:t>
                      </a:r>
                    </a:p>
                  </a:txBody>
                  <a:tcPr anchor="ctr" marL="45720" marR="45720" marT="45720" marB="45720">
                    <a:noFill/>
                  </a:tcPr>
                </a:tc>
                <a:tc>
                  <a:txBody>
                    <a:bodyPr/>
                    <a:lstStyle/>
                    <a:p>
                      <a:pPr algn="ctr"/>
                      <a:r>
                        <a:rPr sz="1000" b="0">
                          <a:solidFill>
                            <a:srgbClr val="1A1A1A"/>
                          </a:solidFill>
                          <a:latin typeface="Times New Roman"/>
                        </a:rPr>
                        <a:t>17,37</a:t>
                      </a:r>
                    </a:p>
                  </a:txBody>
                  <a:tcPr anchor="ctr" marL="45720" marR="45720" marT="45720" marB="45720">
                    <a:noFill/>
                  </a:tcPr>
                </a:tc>
              </a:tr>
              <a:tr h="310896">
                <a:tc>
                  <a:txBody>
                    <a:bodyPr/>
                    <a:lstStyle/>
                    <a:p>
                      <a:pPr algn="l"/>
                      <a:r>
                        <a:rPr sz="1000" b="0">
                          <a:solidFill>
                            <a:srgbClr val="1A1A1A"/>
                          </a:solidFill>
                          <a:latin typeface="Times New Roman"/>
                        </a:rPr>
                        <a:t>Wavelet discreta (DWT)</a:t>
                      </a:r>
                    </a:p>
                  </a:txBody>
                  <a:tcPr anchor="ctr" marL="45720" marR="45720" marT="45720" marB="45720">
                    <a:noFill/>
                  </a:tcPr>
                </a:tc>
                <a:tc>
                  <a:txBody>
                    <a:bodyPr/>
                    <a:lstStyle/>
                    <a:p>
                      <a:pPr algn="ctr"/>
                      <a:r>
                        <a:rPr sz="1000" b="0">
                          <a:solidFill>
                            <a:srgbClr val="1A1A1A"/>
                          </a:solidFill>
                          <a:latin typeface="Times New Roman"/>
                        </a:rPr>
                        <a:t>6,682</a:t>
                      </a:r>
                    </a:p>
                  </a:txBody>
                  <a:tcPr anchor="ctr" marL="45720" marR="45720" marT="45720" marB="45720">
                    <a:noFill/>
                  </a:tcPr>
                </a:tc>
                <a:tc>
                  <a:txBody>
                    <a:bodyPr/>
                    <a:lstStyle/>
                    <a:p>
                      <a:pPr algn="ctr"/>
                      <a:r>
                        <a:rPr sz="1000" b="0">
                          <a:solidFill>
                            <a:srgbClr val="1A1A1A"/>
                          </a:solidFill>
                          <a:latin typeface="Times New Roman"/>
                        </a:rPr>
                        <a:t>0,117</a:t>
                      </a:r>
                    </a:p>
                  </a:txBody>
                  <a:tcPr anchor="ctr" marL="45720" marR="45720" marT="45720" marB="45720">
                    <a:noFill/>
                  </a:tcPr>
                </a:tc>
                <a:tc>
                  <a:txBody>
                    <a:bodyPr/>
                    <a:lstStyle/>
                    <a:p>
                      <a:pPr algn="ctr"/>
                      <a:r>
                        <a:rPr sz="1000" b="0">
                          <a:solidFill>
                            <a:srgbClr val="1A1A1A"/>
                          </a:solidFill>
                          <a:latin typeface="Times New Roman"/>
                        </a:rPr>
                        <a:t>1,057</a:t>
                      </a:r>
                    </a:p>
                  </a:txBody>
                  <a:tcPr anchor="ctr" marL="45720" marR="45720" marT="45720" marB="45720">
                    <a:noFill/>
                  </a:tcPr>
                </a:tc>
                <a:tc>
                  <a:txBody>
                    <a:bodyPr/>
                    <a:lstStyle/>
                    <a:p>
                      <a:pPr algn="ctr"/>
                      <a:r>
                        <a:rPr sz="1000" b="0">
                          <a:solidFill>
                            <a:srgbClr val="1A1A1A"/>
                          </a:solidFill>
                          <a:latin typeface="Times New Roman"/>
                        </a:rPr>
                        <a:t>0,0275</a:t>
                      </a:r>
                    </a:p>
                  </a:txBody>
                  <a:tcPr anchor="ctr" marL="45720" marR="45720" marT="45720" marB="45720">
                    <a:noFill/>
                  </a:tcPr>
                </a:tc>
                <a:tc>
                  <a:txBody>
                    <a:bodyPr/>
                    <a:lstStyle/>
                    <a:p>
                      <a:pPr algn="ctr"/>
                      <a:r>
                        <a:rPr sz="1000" b="0">
                          <a:solidFill>
                            <a:srgbClr val="1A1A1A"/>
                          </a:solidFill>
                          <a:latin typeface="Times New Roman"/>
                        </a:rPr>
                        <a:t>14,19</a:t>
                      </a:r>
                    </a:p>
                  </a:txBody>
                  <a:tcPr anchor="ctr" marL="45720" marR="45720" marT="45720" marB="45720">
                    <a:noFill/>
                  </a:tcPr>
                </a:tc>
                <a:tc>
                  <a:txBody>
                    <a:bodyPr/>
                    <a:lstStyle/>
                    <a:p>
                      <a:pPr algn="ctr"/>
                      <a:r>
                        <a:rPr sz="1000" b="0">
                          <a:solidFill>
                            <a:srgbClr val="1A1A1A"/>
                          </a:solidFill>
                          <a:latin typeface="Times New Roman"/>
                        </a:rPr>
                        <a:t>1,076</a:t>
                      </a:r>
                    </a:p>
                  </a:txBody>
                  <a:tcPr anchor="ctr" marL="45720" marR="45720" marT="45720" marB="45720">
                    <a:noFill/>
                  </a:tcPr>
                </a:tc>
                <a:tc>
                  <a:txBody>
                    <a:bodyPr/>
                    <a:lstStyle/>
                    <a:p>
                      <a:pPr algn="ctr"/>
                      <a:r>
                        <a:rPr sz="1000" b="0">
                          <a:solidFill>
                            <a:srgbClr val="1A1A1A"/>
                          </a:solidFill>
                          <a:latin typeface="Times New Roman"/>
                        </a:rPr>
                        <a:t>0,666</a:t>
                      </a:r>
                    </a:p>
                  </a:txBody>
                  <a:tcPr anchor="ctr" marL="45720" marR="45720" marT="45720" marB="45720">
                    <a:noFill/>
                  </a:tcPr>
                </a:tc>
                <a:tc>
                  <a:txBody>
                    <a:bodyPr/>
                    <a:lstStyle/>
                    <a:p>
                      <a:pPr algn="ctr"/>
                      <a:r>
                        <a:rPr sz="1000" b="0">
                          <a:solidFill>
                            <a:srgbClr val="1A1A1A"/>
                          </a:solidFill>
                          <a:latin typeface="Times New Roman"/>
                        </a:rPr>
                        <a:t>0,701</a:t>
                      </a:r>
                    </a:p>
                  </a:txBody>
                  <a:tcPr anchor="ctr" marL="45720" marR="45720" marT="45720" marB="45720">
                    <a:noFill/>
                  </a:tcPr>
                </a:tc>
                <a:tc>
                  <a:txBody>
                    <a:bodyPr/>
                    <a:lstStyle/>
                    <a:p>
                      <a:pPr algn="ctr"/>
                      <a:r>
                        <a:rPr sz="1000" b="0">
                          <a:solidFill>
                            <a:srgbClr val="1A1A1A"/>
                          </a:solidFill>
                          <a:latin typeface="Times New Roman"/>
                        </a:rPr>
                        <a:t>17,59</a:t>
                      </a:r>
                    </a:p>
                  </a:txBody>
                  <a:tcPr anchor="ctr" marL="45720" marR="45720" marT="45720" marB="45720">
                    <a:noFill/>
                  </a:tcPr>
                </a:tc>
              </a:tr>
              <a:tr h="310896">
                <a:tc>
                  <a:txBody>
                    <a:bodyPr/>
                    <a:lstStyle/>
                    <a:p>
                      <a:pPr algn="l"/>
                      <a:r>
                        <a:rPr sz="1000" b="0">
                          <a:solidFill>
                            <a:srgbClr val="1A1A1A"/>
                          </a:solidFill>
                          <a:latin typeface="Times New Roman"/>
                        </a:rPr>
                        <a:t>DTCWT</a:t>
                      </a:r>
                    </a:p>
                  </a:txBody>
                  <a:tcPr anchor="ctr" marL="45720" marR="45720" marT="45720" marB="45720">
                    <a:noFill/>
                  </a:tcPr>
                </a:tc>
                <a:tc>
                  <a:txBody>
                    <a:bodyPr/>
                    <a:lstStyle/>
                    <a:p>
                      <a:pPr algn="ctr"/>
                      <a:r>
                        <a:rPr sz="1000" b="0">
                          <a:solidFill>
                            <a:srgbClr val="1A1A1A"/>
                          </a:solidFill>
                          <a:latin typeface="Times New Roman"/>
                        </a:rPr>
                        <a:t>6,688</a:t>
                      </a:r>
                    </a:p>
                  </a:txBody>
                  <a:tcPr anchor="ctr" marL="45720" marR="45720" marT="45720" marB="45720">
                    <a:noFill/>
                  </a:tcPr>
                </a:tc>
                <a:tc>
                  <a:txBody>
                    <a:bodyPr/>
                    <a:lstStyle/>
                    <a:p>
                      <a:pPr algn="ctr"/>
                      <a:r>
                        <a:rPr sz="1000" b="0">
                          <a:solidFill>
                            <a:srgbClr val="1A1A1A"/>
                          </a:solidFill>
                          <a:latin typeface="Times New Roman"/>
                        </a:rPr>
                        <a:t>0,117</a:t>
                      </a:r>
                    </a:p>
                  </a:txBody>
                  <a:tcPr anchor="ctr" marL="45720" marR="45720" marT="45720" marB="45720">
                    <a:noFill/>
                  </a:tcPr>
                </a:tc>
                <a:tc>
                  <a:txBody>
                    <a:bodyPr/>
                    <a:lstStyle/>
                    <a:p>
                      <a:pPr algn="ctr"/>
                      <a:r>
                        <a:rPr sz="1000" b="0">
                          <a:solidFill>
                            <a:srgbClr val="1A1A1A"/>
                          </a:solidFill>
                          <a:latin typeface="Times New Roman"/>
                        </a:rPr>
                        <a:t>1,058</a:t>
                      </a:r>
                    </a:p>
                  </a:txBody>
                  <a:tcPr anchor="ctr" marL="45720" marR="45720" marT="45720" marB="45720">
                    <a:noFill/>
                  </a:tcPr>
                </a:tc>
                <a:tc>
                  <a:txBody>
                    <a:bodyPr/>
                    <a:lstStyle/>
                    <a:p>
                      <a:pPr algn="ctr"/>
                      <a:r>
                        <a:rPr sz="1000" b="0">
                          <a:solidFill>
                            <a:srgbClr val="1A1A1A"/>
                          </a:solidFill>
                          <a:latin typeface="Times New Roman"/>
                        </a:rPr>
                        <a:t>0,0255</a:t>
                      </a:r>
                    </a:p>
                  </a:txBody>
                  <a:tcPr anchor="ctr" marL="45720" marR="45720" marT="45720" marB="45720">
                    <a:noFill/>
                  </a:tcPr>
                </a:tc>
                <a:tc>
                  <a:txBody>
                    <a:bodyPr/>
                    <a:lstStyle/>
                    <a:p>
                      <a:pPr algn="ctr"/>
                      <a:r>
                        <a:rPr sz="1000" b="0">
                          <a:solidFill>
                            <a:srgbClr val="1A1A1A"/>
                          </a:solidFill>
                          <a:latin typeface="Times New Roman"/>
                        </a:rPr>
                        <a:t>13,20</a:t>
                      </a:r>
                    </a:p>
                  </a:txBody>
                  <a:tcPr anchor="ctr" marL="45720" marR="45720" marT="45720" marB="45720">
                    <a:noFill/>
                  </a:tcPr>
                </a:tc>
                <a:tc>
                  <a:txBody>
                    <a:bodyPr/>
                    <a:lstStyle/>
                    <a:p>
                      <a:pPr algn="ctr"/>
                      <a:r>
                        <a:rPr sz="1000" b="0">
                          <a:solidFill>
                            <a:srgbClr val="1A1A1A"/>
                          </a:solidFill>
                          <a:latin typeface="Times New Roman"/>
                        </a:rPr>
                        <a:t>1,078</a:t>
                      </a:r>
                    </a:p>
                  </a:txBody>
                  <a:tcPr anchor="ctr" marL="45720" marR="45720" marT="45720" marB="45720">
                    <a:noFill/>
                  </a:tcPr>
                </a:tc>
                <a:tc>
                  <a:txBody>
                    <a:bodyPr/>
                    <a:lstStyle/>
                    <a:p>
                      <a:pPr algn="ctr"/>
                      <a:r>
                        <a:rPr sz="1000" b="0">
                          <a:solidFill>
                            <a:srgbClr val="1A1A1A"/>
                          </a:solidFill>
                          <a:latin typeface="Times New Roman"/>
                        </a:rPr>
                        <a:t>0,673</a:t>
                      </a:r>
                    </a:p>
                  </a:txBody>
                  <a:tcPr anchor="ctr" marL="45720" marR="45720" marT="45720" marB="45720">
                    <a:noFill/>
                  </a:tcPr>
                </a:tc>
                <a:tc>
                  <a:txBody>
                    <a:bodyPr/>
                    <a:lstStyle/>
                    <a:p>
                      <a:pPr algn="ctr"/>
                      <a:r>
                        <a:rPr sz="1000" b="1">
                          <a:solidFill>
                            <a:srgbClr val="1A1A1A"/>
                          </a:solidFill>
                          <a:latin typeface="Times New Roman"/>
                        </a:rPr>
                        <a:t>0,725</a:t>
                      </a:r>
                    </a:p>
                  </a:txBody>
                  <a:tcPr anchor="ctr" marL="45720" marR="45720" marT="45720" marB="45720">
                    <a:noFill/>
                  </a:tcPr>
                </a:tc>
                <a:tc>
                  <a:txBody>
                    <a:bodyPr/>
                    <a:lstStyle/>
                    <a:p>
                      <a:pPr algn="ctr"/>
                      <a:r>
                        <a:rPr sz="1000" b="0">
                          <a:solidFill>
                            <a:srgbClr val="1A1A1A"/>
                          </a:solidFill>
                          <a:latin typeface="Times New Roman"/>
                        </a:rPr>
                        <a:t>17,60</a:t>
                      </a:r>
                    </a:p>
                  </a:txBody>
                  <a:tcPr anchor="ctr" marL="45720" marR="45720" marT="45720" marB="45720">
                    <a:noFill/>
                  </a:tcPr>
                </a:tc>
              </a:tr>
              <a:tr h="310896">
                <a:tc>
                  <a:txBody>
                    <a:bodyPr/>
                    <a:lstStyle/>
                    <a:p>
                      <a:pPr algn="l"/>
                      <a:r>
                        <a:rPr sz="1000" b="0">
                          <a:solidFill>
                            <a:srgbClr val="1A1A1A"/>
                          </a:solidFill>
                          <a:latin typeface="Times New Roman"/>
                        </a:rPr>
                        <a:t>CVT (aprox. wavelet db4)</a:t>
                      </a:r>
                    </a:p>
                  </a:txBody>
                  <a:tcPr anchor="ctr" marL="45720" marR="45720" marT="45720" marB="45720">
                    <a:noFill/>
                  </a:tcPr>
                </a:tc>
                <a:tc>
                  <a:txBody>
                    <a:bodyPr/>
                    <a:lstStyle/>
                    <a:p>
                      <a:pPr algn="ctr"/>
                      <a:r>
                        <a:rPr sz="1000" b="0">
                          <a:solidFill>
                            <a:srgbClr val="1A1A1A"/>
                          </a:solidFill>
                          <a:latin typeface="Times New Roman"/>
                        </a:rPr>
                        <a:t>6,644</a:t>
                      </a:r>
                    </a:p>
                  </a:txBody>
                  <a:tcPr anchor="ctr" marL="45720" marR="45720" marT="45720" marB="45720">
                    <a:noFill/>
                  </a:tcPr>
                </a:tc>
                <a:tc>
                  <a:txBody>
                    <a:bodyPr/>
                    <a:lstStyle/>
                    <a:p>
                      <a:pPr algn="ctr"/>
                      <a:r>
                        <a:rPr sz="1000" b="0">
                          <a:solidFill>
                            <a:srgbClr val="1A1A1A"/>
                          </a:solidFill>
                          <a:latin typeface="Times New Roman"/>
                        </a:rPr>
                        <a:t>0,113</a:t>
                      </a:r>
                    </a:p>
                  </a:txBody>
                  <a:tcPr anchor="ctr" marL="45720" marR="45720" marT="45720" marB="45720">
                    <a:noFill/>
                  </a:tcPr>
                </a:tc>
                <a:tc>
                  <a:txBody>
                    <a:bodyPr/>
                    <a:lstStyle/>
                    <a:p>
                      <a:pPr algn="ctr"/>
                      <a:r>
                        <a:rPr sz="1000" b="0">
                          <a:solidFill>
                            <a:srgbClr val="1A1A1A"/>
                          </a:solidFill>
                          <a:latin typeface="Times New Roman"/>
                        </a:rPr>
                        <a:t>1,051</a:t>
                      </a:r>
                    </a:p>
                  </a:txBody>
                  <a:tcPr anchor="ctr" marL="45720" marR="45720" marT="45720" marB="45720">
                    <a:noFill/>
                  </a:tcPr>
                </a:tc>
                <a:tc>
                  <a:txBody>
                    <a:bodyPr/>
                    <a:lstStyle/>
                    <a:p>
                      <a:pPr algn="ctr"/>
                      <a:r>
                        <a:rPr sz="1000" b="0">
                          <a:solidFill>
                            <a:srgbClr val="1A1A1A"/>
                          </a:solidFill>
                          <a:latin typeface="Times New Roman"/>
                        </a:rPr>
                        <a:t>0,0260</a:t>
                      </a:r>
                    </a:p>
                  </a:txBody>
                  <a:tcPr anchor="ctr" marL="45720" marR="45720" marT="45720" marB="45720">
                    <a:noFill/>
                  </a:tcPr>
                </a:tc>
                <a:tc>
                  <a:txBody>
                    <a:bodyPr/>
                    <a:lstStyle/>
                    <a:p>
                      <a:pPr algn="ctr"/>
                      <a:r>
                        <a:rPr sz="1000" b="0">
                          <a:solidFill>
                            <a:srgbClr val="1A1A1A"/>
                          </a:solidFill>
                          <a:latin typeface="Times New Roman"/>
                        </a:rPr>
                        <a:t>13,34</a:t>
                      </a:r>
                    </a:p>
                  </a:txBody>
                  <a:tcPr anchor="ctr" marL="45720" marR="45720" marT="45720" marB="45720">
                    <a:noFill/>
                  </a:tcPr>
                </a:tc>
                <a:tc>
                  <a:txBody>
                    <a:bodyPr/>
                    <a:lstStyle/>
                    <a:p>
                      <a:pPr algn="ctr"/>
                      <a:r>
                        <a:rPr sz="1000" b="0">
                          <a:solidFill>
                            <a:srgbClr val="1A1A1A"/>
                          </a:solidFill>
                          <a:latin typeface="Times New Roman"/>
                        </a:rPr>
                        <a:t>1,096</a:t>
                      </a:r>
                    </a:p>
                  </a:txBody>
                  <a:tcPr anchor="ctr" marL="45720" marR="45720" marT="45720" marB="45720">
                    <a:noFill/>
                  </a:tcPr>
                </a:tc>
                <a:tc>
                  <a:txBody>
                    <a:bodyPr/>
                    <a:lstStyle/>
                    <a:p>
                      <a:pPr algn="ctr"/>
                      <a:r>
                        <a:rPr sz="1000" b="0">
                          <a:solidFill>
                            <a:srgbClr val="1A1A1A"/>
                          </a:solidFill>
                          <a:latin typeface="Times New Roman"/>
                        </a:rPr>
                        <a:t>0,669</a:t>
                      </a:r>
                    </a:p>
                  </a:txBody>
                  <a:tcPr anchor="ctr" marL="45720" marR="45720" marT="45720" marB="45720">
                    <a:noFill/>
                  </a:tcPr>
                </a:tc>
                <a:tc>
                  <a:txBody>
                    <a:bodyPr/>
                    <a:lstStyle/>
                    <a:p>
                      <a:pPr algn="ctr"/>
                      <a:r>
                        <a:rPr sz="1000" b="0">
                          <a:solidFill>
                            <a:srgbClr val="1A1A1A"/>
                          </a:solidFill>
                          <a:latin typeface="Times New Roman"/>
                        </a:rPr>
                        <a:t>0,716</a:t>
                      </a:r>
                    </a:p>
                  </a:txBody>
                  <a:tcPr anchor="ctr" marL="45720" marR="45720" marT="45720" marB="45720">
                    <a:noFill/>
                  </a:tcPr>
                </a:tc>
                <a:tc>
                  <a:txBody>
                    <a:bodyPr/>
                    <a:lstStyle/>
                    <a:p>
                      <a:pPr algn="ctr"/>
                      <a:r>
                        <a:rPr sz="1000" b="1">
                          <a:solidFill>
                            <a:srgbClr val="1A1A1A"/>
                          </a:solidFill>
                          <a:latin typeface="Times New Roman"/>
                        </a:rPr>
                        <a:t>17,65</a:t>
                      </a:r>
                    </a:p>
                  </a:txBody>
                  <a:tcPr anchor="ctr" marL="45720" marR="45720" marT="45720" marB="45720">
                    <a:noFill/>
                  </a:tcPr>
                </a:tc>
              </a:tr>
              <a:tr h="310896">
                <a:tc>
                  <a:txBody>
                    <a:bodyPr/>
                    <a:lstStyle/>
                    <a:p>
                      <a:pPr algn="l"/>
                      <a:r>
                        <a:rPr sz="1000" b="0">
                          <a:solidFill>
                            <a:srgbClr val="1A1A1A"/>
                          </a:solidFill>
                          <a:latin typeface="Times New Roman"/>
                        </a:rPr>
                        <a:t>Top-Hat clásico (r=5; m=1)</a:t>
                      </a:r>
                    </a:p>
                  </a:txBody>
                  <a:tcPr anchor="ctr" marL="45720" marR="45720" marT="45720" marB="45720">
                    <a:noFill/>
                  </a:tcPr>
                </a:tc>
                <a:tc>
                  <a:txBody>
                    <a:bodyPr/>
                    <a:lstStyle/>
                    <a:p>
                      <a:pPr algn="ctr"/>
                      <a:r>
                        <a:rPr sz="1000" b="0">
                          <a:solidFill>
                            <a:srgbClr val="1A1A1A"/>
                          </a:solidFill>
                          <a:latin typeface="Times New Roman"/>
                        </a:rPr>
                        <a:t>6,922</a:t>
                      </a:r>
                    </a:p>
                  </a:txBody>
                  <a:tcPr anchor="ctr" marL="45720" marR="45720" marT="45720" marB="45720">
                    <a:noFill/>
                  </a:tcPr>
                </a:tc>
                <a:tc>
                  <a:txBody>
                    <a:bodyPr/>
                    <a:lstStyle/>
                    <a:p>
                      <a:pPr algn="ctr"/>
                      <a:r>
                        <a:rPr sz="1000" b="0">
                          <a:solidFill>
                            <a:srgbClr val="1A1A1A"/>
                          </a:solidFill>
                          <a:latin typeface="Times New Roman"/>
                        </a:rPr>
                        <a:t>0,135</a:t>
                      </a:r>
                    </a:p>
                  </a:txBody>
                  <a:tcPr anchor="ctr" marL="45720" marR="45720" marT="45720" marB="45720">
                    <a:noFill/>
                  </a:tcPr>
                </a:tc>
                <a:tc>
                  <a:txBody>
                    <a:bodyPr/>
                    <a:lstStyle/>
                    <a:p>
                      <a:pPr algn="ctr"/>
                      <a:r>
                        <a:rPr sz="1000" b="0">
                          <a:solidFill>
                            <a:srgbClr val="1A1A1A"/>
                          </a:solidFill>
                          <a:latin typeface="Times New Roman"/>
                        </a:rPr>
                        <a:t>1,095</a:t>
                      </a:r>
                    </a:p>
                  </a:txBody>
                  <a:tcPr anchor="ctr" marL="45720" marR="45720" marT="45720" marB="45720">
                    <a:noFill/>
                  </a:tcPr>
                </a:tc>
                <a:tc>
                  <a:txBody>
                    <a:bodyPr/>
                    <a:lstStyle/>
                    <a:p>
                      <a:pPr algn="ctr"/>
                      <a:r>
                        <a:rPr sz="1000" b="1">
                          <a:solidFill>
                            <a:srgbClr val="1A1A1A"/>
                          </a:solidFill>
                          <a:latin typeface="Times New Roman"/>
                        </a:rPr>
                        <a:t>0,0478</a:t>
                      </a:r>
                    </a:p>
                  </a:txBody>
                  <a:tcPr anchor="ctr" marL="45720" marR="45720" marT="45720" marB="45720">
                    <a:noFill/>
                  </a:tcPr>
                </a:tc>
                <a:tc>
                  <a:txBody>
                    <a:bodyPr/>
                    <a:lstStyle/>
                    <a:p>
                      <a:pPr algn="ctr"/>
                      <a:r>
                        <a:rPr sz="1000" b="1">
                          <a:solidFill>
                            <a:srgbClr val="1A1A1A"/>
                          </a:solidFill>
                          <a:latin typeface="Times New Roman"/>
                        </a:rPr>
                        <a:t>23,10</a:t>
                      </a:r>
                    </a:p>
                  </a:txBody>
                  <a:tcPr anchor="ctr" marL="45720" marR="45720" marT="45720" marB="45720">
                    <a:noFill/>
                  </a:tcPr>
                </a:tc>
                <a:tc>
                  <a:txBody>
                    <a:bodyPr/>
                    <a:lstStyle/>
                    <a:p>
                      <a:pPr algn="ctr"/>
                      <a:r>
                        <a:rPr sz="1000" b="0">
                          <a:solidFill>
                            <a:srgbClr val="1A1A1A"/>
                          </a:solidFill>
                          <a:latin typeface="Times New Roman"/>
                        </a:rPr>
                        <a:t>0,787</a:t>
                      </a:r>
                    </a:p>
                  </a:txBody>
                  <a:tcPr anchor="ctr" marL="45720" marR="45720" marT="45720" marB="45720">
                    <a:noFill/>
                  </a:tcPr>
                </a:tc>
                <a:tc>
                  <a:txBody>
                    <a:bodyPr/>
                    <a:lstStyle/>
                    <a:p>
                      <a:pPr algn="ctr"/>
                      <a:r>
                        <a:rPr sz="1000" b="0">
                          <a:solidFill>
                            <a:srgbClr val="1A1A1A"/>
                          </a:solidFill>
                          <a:latin typeface="Times New Roman"/>
                        </a:rPr>
                        <a:t>0,493</a:t>
                      </a:r>
                    </a:p>
                  </a:txBody>
                  <a:tcPr anchor="ctr" marL="45720" marR="45720" marT="45720" marB="45720">
                    <a:noFill/>
                  </a:tcPr>
                </a:tc>
                <a:tc>
                  <a:txBody>
                    <a:bodyPr/>
                    <a:lstStyle/>
                    <a:p>
                      <a:pPr algn="ctr"/>
                      <a:r>
                        <a:rPr sz="1000" b="0">
                          <a:solidFill>
                            <a:srgbClr val="1A1A1A"/>
                          </a:solidFill>
                          <a:latin typeface="Times New Roman"/>
                        </a:rPr>
                        <a:t>0,564</a:t>
                      </a:r>
                    </a:p>
                  </a:txBody>
                  <a:tcPr anchor="ctr" marL="45720" marR="45720" marT="45720" marB="45720">
                    <a:noFill/>
                  </a:tcPr>
                </a:tc>
                <a:tc>
                  <a:txBody>
                    <a:bodyPr/>
                    <a:lstStyle/>
                    <a:p>
                      <a:pPr algn="ctr"/>
                      <a:r>
                        <a:rPr sz="1000" b="0">
                          <a:solidFill>
                            <a:srgbClr val="1A1A1A"/>
                          </a:solidFill>
                          <a:latin typeface="Times New Roman"/>
                        </a:rPr>
                        <a:t>16,87</a:t>
                      </a:r>
                    </a:p>
                  </a:txBody>
                  <a:tcPr anchor="ctr" marL="45720" marR="45720" marT="45720" marB="45720">
                    <a:noFill/>
                  </a:tcPr>
                </a:tc>
              </a:tr>
              <a:tr h="310896">
                <a:tc>
                  <a:txBody>
                    <a:bodyPr/>
                    <a:lstStyle/>
                    <a:p>
                      <a:pPr algn="l"/>
                      <a:r>
                        <a:rPr sz="1000" b="1">
                          <a:solidFill>
                            <a:srgbClr val="1A1A1A"/>
                          </a:solidFill>
                          <a:latin typeface="Times New Roman"/>
                        </a:rPr>
                        <a:t>Propuesta (r=25; m=0,30)</a:t>
                      </a:r>
                    </a:p>
                  </a:txBody>
                  <a:tcPr anchor="ctr" marL="45720" marR="45720" marT="45720" marB="45720">
                    <a:noFill/>
                  </a:tcPr>
                </a:tc>
                <a:tc>
                  <a:txBody>
                    <a:bodyPr/>
                    <a:lstStyle/>
                    <a:p>
                      <a:pPr algn="ctr"/>
                      <a:r>
                        <a:rPr sz="1000" b="1">
                          <a:solidFill>
                            <a:srgbClr val="1A1A1A"/>
                          </a:solidFill>
                          <a:latin typeface="Times New Roman"/>
                        </a:rPr>
                        <a:t>6,986</a:t>
                      </a:r>
                    </a:p>
                  </a:txBody>
                  <a:tcPr anchor="ctr" marL="45720" marR="45720" marT="45720" marB="45720">
                    <a:noFill/>
                  </a:tcPr>
                </a:tc>
                <a:tc>
                  <a:txBody>
                    <a:bodyPr/>
                    <a:lstStyle/>
                    <a:p>
                      <a:pPr algn="ctr"/>
                      <a:r>
                        <a:rPr sz="1000" b="0">
                          <a:solidFill>
                            <a:srgbClr val="1A1A1A"/>
                          </a:solidFill>
                          <a:latin typeface="Times New Roman"/>
                        </a:rPr>
                        <a:t>0,144</a:t>
                      </a:r>
                    </a:p>
                  </a:txBody>
                  <a:tcPr anchor="ctr" marL="45720" marR="45720" marT="45720" marB="45720">
                    <a:noFill/>
                  </a:tcPr>
                </a:tc>
                <a:tc>
                  <a:txBody>
                    <a:bodyPr/>
                    <a:lstStyle/>
                    <a:p>
                      <a:pPr algn="ctr"/>
                      <a:r>
                        <a:rPr sz="1000" b="1">
                          <a:solidFill>
                            <a:srgbClr val="1A1A1A"/>
                          </a:solidFill>
                          <a:latin typeface="Times New Roman"/>
                        </a:rPr>
                        <a:t>1,105</a:t>
                      </a:r>
                    </a:p>
                  </a:txBody>
                  <a:tcPr anchor="ctr" marL="45720" marR="45720" marT="45720" marB="45720">
                    <a:noFill/>
                  </a:tcPr>
                </a:tc>
                <a:tc>
                  <a:txBody>
                    <a:bodyPr/>
                    <a:lstStyle/>
                    <a:p>
                      <a:pPr algn="ctr"/>
                      <a:r>
                        <a:rPr sz="1000" b="0">
                          <a:solidFill>
                            <a:srgbClr val="1A1A1A"/>
                          </a:solidFill>
                          <a:latin typeface="Times New Roman"/>
                        </a:rPr>
                        <a:t>0,0355</a:t>
                      </a:r>
                    </a:p>
                  </a:txBody>
                  <a:tcPr anchor="ctr" marL="45720" marR="45720" marT="45720" marB="45720">
                    <a:noFill/>
                  </a:tcPr>
                </a:tc>
                <a:tc>
                  <a:txBody>
                    <a:bodyPr/>
                    <a:lstStyle/>
                    <a:p>
                      <a:pPr algn="ctr"/>
                      <a:r>
                        <a:rPr sz="1000" b="0">
                          <a:solidFill>
                            <a:srgbClr val="1A1A1A"/>
                          </a:solidFill>
                          <a:latin typeface="Times New Roman"/>
                        </a:rPr>
                        <a:t>17,44</a:t>
                      </a:r>
                    </a:p>
                  </a:txBody>
                  <a:tcPr anchor="ctr" marL="45720" marR="45720" marT="45720" marB="45720">
                    <a:noFill/>
                  </a:tcPr>
                </a:tc>
                <a:tc>
                  <a:txBody>
                    <a:bodyPr/>
                    <a:lstStyle/>
                    <a:p>
                      <a:pPr algn="ctr"/>
                      <a:r>
                        <a:rPr sz="1000" b="0">
                          <a:solidFill>
                            <a:srgbClr val="1A1A1A"/>
                          </a:solidFill>
                          <a:latin typeface="Times New Roman"/>
                        </a:rPr>
                        <a:t>0,897</a:t>
                      </a:r>
                    </a:p>
                  </a:txBody>
                  <a:tcPr anchor="ctr" marL="45720" marR="45720" marT="45720" marB="45720">
                    <a:noFill/>
                  </a:tcPr>
                </a:tc>
                <a:tc>
                  <a:txBody>
                    <a:bodyPr/>
                    <a:lstStyle/>
                    <a:p>
                      <a:pPr algn="ctr"/>
                      <a:r>
                        <a:rPr sz="1000" b="0">
                          <a:solidFill>
                            <a:srgbClr val="1A1A1A"/>
                          </a:solidFill>
                          <a:latin typeface="Times New Roman"/>
                        </a:rPr>
                        <a:t>0,600</a:t>
                      </a:r>
                    </a:p>
                  </a:txBody>
                  <a:tcPr anchor="ctr" marL="45720" marR="45720" marT="45720" marB="45720">
                    <a:noFill/>
                  </a:tcPr>
                </a:tc>
                <a:tc>
                  <a:txBody>
                    <a:bodyPr/>
                    <a:lstStyle/>
                    <a:p>
                      <a:pPr algn="ctr"/>
                      <a:r>
                        <a:rPr sz="1000" b="0">
                          <a:solidFill>
                            <a:srgbClr val="1A1A1A"/>
                          </a:solidFill>
                          <a:latin typeface="Times New Roman"/>
                        </a:rPr>
                        <a:t>0,658</a:t>
                      </a:r>
                    </a:p>
                  </a:txBody>
                  <a:tcPr anchor="ctr" marL="45720" marR="45720" marT="45720" marB="45720">
                    <a:noFill/>
                  </a:tcPr>
                </a:tc>
                <a:tc>
                  <a:txBody>
                    <a:bodyPr/>
                    <a:lstStyle/>
                    <a:p>
                      <a:pPr algn="ctr"/>
                      <a:r>
                        <a:rPr sz="1000" b="0">
                          <a:solidFill>
                            <a:srgbClr val="1A1A1A"/>
                          </a:solidFill>
                          <a:latin typeface="Times New Roman"/>
                        </a:rPr>
                        <a:t>16,84</a:t>
                      </a:r>
                    </a:p>
                  </a:txBody>
                  <a:tcPr anchor="ctr" marL="45720" marR="45720" marT="45720" marB="45720">
                    <a:noFill/>
                  </a:tcPr>
                </a:tc>
              </a:tr>
            </a:tbl>
          </a:graphicData>
        </a:graphic>
      </p:graphicFrame>
      <p:sp>
        <p:nvSpPr>
          <p:cNvPr id="7" name="Text 3"/>
          <p:cNvSpPr txBox="1"/>
          <p:nvPr/>
        </p:nvSpPr>
        <p:spPr>
          <a:xfrm>
            <a:off x="2457200" y="800100"/>
            <a:ext cx="3460885" cy="228600"/>
          </a:xfrm>
          <a:prstGeom prst="rect">
            <a:avLst/>
          </a:prstGeom>
          <a:noFill/>
        </p:spPr>
        <p:txBody>
          <a:bodyPr wrap="square" lIns="0" rIns="0" tIns="0" bIns="0" anchor="b">
            <a:spAutoFit/>
          </a:bodyPr>
          <a:lstStyle/>
          <a:p>
            <a:pPr algn="ctr"/>
            <a:r>
              <a:rPr sz="950" b="1">
                <a:solidFill>
                  <a:srgbClr val="1A1A1A"/>
                </a:solidFill>
                <a:latin typeface="Times New Roman"/>
              </a:rPr>
              <a:t>Bloque de ACTIVIDAD ESPACIAL</a:t>
            </a:r>
          </a:p>
        </p:txBody>
      </p:sp>
      <p:sp>
        <p:nvSpPr>
          <p:cNvPr id="8" name="Text 4"/>
          <p:cNvSpPr txBox="1"/>
          <p:nvPr/>
        </p:nvSpPr>
        <p:spPr>
          <a:xfrm>
            <a:off x="5918085" y="800100"/>
            <a:ext cx="2768708" cy="228600"/>
          </a:xfrm>
          <a:prstGeom prst="rect">
            <a:avLst/>
          </a:prstGeom>
          <a:noFill/>
        </p:spPr>
        <p:txBody>
          <a:bodyPr wrap="square" lIns="0" rIns="0" tIns="0" bIns="0" anchor="b">
            <a:spAutoFit/>
          </a:bodyPr>
          <a:lstStyle/>
          <a:p>
            <a:pPr algn="ctr"/>
            <a:r>
              <a:rPr sz="950" b="1">
                <a:solidFill>
                  <a:srgbClr val="1A1A1A"/>
                </a:solidFill>
                <a:latin typeface="Times New Roman"/>
              </a:rPr>
              <a:t>Bloque de FIDELIDAD A LAS FUENTES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Análisis estadístico: el punto de operación se desplaza (H1)</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13 / 22</a:t>
            </a:r>
            <a:endParaRPr lang="en-US" sz="900" dirty="0"/>
          </a:p>
        </p:txBody>
      </p:sp>
      <p:sp>
        <p:nvSpPr>
          <p:cNvPr id="4" name="Text 2"/>
          <p:cNvSpPr/>
          <p:nvPr/>
        </p:nvSpPr>
        <p:spPr>
          <a:xfrm>
            <a:off x="457200" y="914400"/>
            <a:ext cx="8229600" cy="3931920"/>
          </a:xfrm>
          <a:prstGeom prst="rect">
            <a:avLst/>
          </a:prstGeom>
          <a:noFill/>
          <a:ln/>
        </p:spPr>
        <p:txBody>
          <a:bodyPr wrap="square" lIns="0" tIns="0" rIns="0" bIns="0" rtlCol="0" anchor="t"/>
          <a:lstStyle/>
          <a:p>
            <a:pPr marL="177800" indent="-177800">
              <a:spcAft>
                <a:spcPts val="900"/>
              </a:spcAft>
              <a:buSzPct val="100000"/>
              <a:buChar char="•"/>
            </a:pPr>
            <a:r>
              <a:rPr lang="en-US" sz="1250" b="1" dirty="0">
                <a:solidFill>
                  <a:srgbClr val="1A1A1A"/>
                </a:solidFill>
                <a:latin typeface="Times New Roman" pitchFamily="34" charset="0"/>
                <a:ea typeface="Times New Roman" pitchFamily="34" charset="-122"/>
                <a:cs typeface="Times New Roman" pitchFamily="34" charset="-120"/>
              </a:rPr>
              <a:t>Friedman: diferencias significativas en las nueve métricas (p &lt; 0,001).</a:t>
            </a:r>
            <a:endParaRPr lang="en-US" sz="1300" dirty="0"/>
          </a:p>
          <a:p>
            <a:pPr marL="177800" indent="-177800">
              <a:spcAft>
                <a:spcPts val="9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Wilcoxon pareado con corrección de Holm, propuesta frente a las cinco configuraciones de referencia, leído por bloques:</a:t>
            </a:r>
            <a:endParaRPr lang="en-US" sz="1300" dirty="0"/>
          </a:p>
          <a:p>
            <a:pPr lvl="1" marL="304800" indent="-152400">
              <a:spcAft>
                <a:spcPts val="9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Bloque de ACTIVIDAD ESPACIAL (EN, SD, FE, MG, SF): 24 de 25 contrastes favorables y significativos, y ninguno adverso con significancia; el restante —SD frente a la pirámide de Laplace— es adverso pero no distinguible (p_Holm = 0,231).</a:t>
            </a:r>
            <a:endParaRPr lang="en-US" sz="1300" dirty="0"/>
          </a:p>
          <a:p>
            <a:pPr lvl="1" marL="304800" indent="-152400">
              <a:spcAft>
                <a:spcPts val="9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Bloque de FIDELIDAD A LAS FUENTES (MI_vis, MI_ir, SSIM, PSNR): 17 de 20 adversos y significativos, uno solo favorable y dos no significativos.</a:t>
            </a:r>
            <a:endParaRPr lang="en-US" sz="1300" dirty="0"/>
          </a:p>
          <a:p>
            <a:pPr lvl="1" marL="304800" indent="-152400">
              <a:spcAft>
                <a:spcPts val="9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Esa asimetría es H1: el operador no mejora de manera uniforme, desplaza el punto de operación de la fusión.</a:t>
            </a:r>
            <a:endParaRPr lang="en-US" sz="1300" dirty="0"/>
          </a:p>
          <a:p>
            <a:pPr marL="177800" indent="-177800">
              <a:spcAft>
                <a:spcPts val="9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Frente al Top-Hat clásico gana en 6 de las 9 métricas —entropía (6,986 frente a 6,922), contraste (0,144 frente a 0,135), eficiencia de fusión, ambas informaciones mutuas y SSIM (0,658 frente a 0,564)— con p_Holm ≤ 0,0002; pierde con significancia en gradiente medio (0,0355 frente a 0,0478) y frecuencia espacial (17,44 frente a 23,10); y empata en PSNR (p_Holm = 0,674). Como FE es la entropía reescalada, las dimensiones independientes ganadas son cinco de ocho.</a:t>
            </a:r>
            <a:endParaRPr lang="en-US" sz="1300" dirty="0"/>
          </a:p>
          <a:p>
            <a:pPr marL="177800" indent="-177800">
              <a:spcAft>
                <a:spcPts val="900"/>
              </a:spcAft>
              <a:buSzPct val="100000"/>
              <a:buChar char="•"/>
            </a:pPr>
            <a:r>
              <a:rPr lang="en-US" sz="1250" dirty="0">
                <a:solidFill>
                  <a:srgbClr val="1A1A1A"/>
                </a:solidFill>
                <a:latin typeface="Times New Roman" pitchFamily="34" charset="0"/>
                <a:ea typeface="Times New Roman" pitchFamily="34" charset="-122"/>
                <a:cs typeface="Times New Roman" pitchFamily="34" charset="-120"/>
              </a:rPr>
              <a:t xml:space="preserve">Ranking de rangos medios intra-bloque, nueve métricas: Propuesta 3,394 · LP 3,911 · TH clásico 3,944 · RP 3,983 · DTCWT 4,111 · DWT 4,211 · CVT 4,444 — la propuesta encabeza el benchmark, a 0,517 de la segunda.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9. Auditoría I — ¿discrimina calidad la batería de nueve métricas? (H3, H4)</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14 / 22</a:t>
            </a:r>
            <a:endParaRPr lang="en-US" sz="900" dirty="0"/>
          </a:p>
        </p:txBody>
      </p:sp>
      <p:sp>
        <p:nvSpPr>
          <p:cNvPr id="4" name="Text 2"/>
          <p:cNvSpPr/>
          <p:nvPr/>
        </p:nvSpPr>
        <p:spPr>
          <a:xfrm>
            <a:off x="457200" y="914400"/>
            <a:ext cx="8229600" cy="3931920"/>
          </a:xfrm>
          <a:prstGeom prst="rect">
            <a:avLst/>
          </a:prstGeom>
          <a:noFill/>
          <a:ln/>
        </p:spPr>
        <p:txBody>
          <a:bodyPr wrap="square" lIns="0" tIns="0" rIns="0" bIns="0" rtlCol="0" anchor="t"/>
          <a:lstStyle/>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Control negativo: al ranking se añadieron siete entradas degradadas junto a los siete métodos —la imagen base sin operador, cuatro fusiones artificiales de ruido gaussiano y dos desenfoques—.</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Con las nueve métricas la fusión de ruido con σ = 0,20 queda 3.ª de 14 (rango 6,767): por delante de cinco de los seis métodos comparativos y de la imagen base.</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Y su rango MEJORA al aumentar el ruido: 8,917 → 7,850 → 6,972 → 6,767 para σ = 0,02 / 0,05 / 0,10 / 0,20. La batería juzga mejor a la imagen cuanto más ruido se le inyecta.</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El fallo es específico de la varianza y no de la degradación en general: el desenfoque sí se penaliza, y el de 11 × 11 queda último (9,822).</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Basta una métrica que penalice artefactos para corregirlo: incorporando Nabf el ruido cae al 7.º puesto; con las diecisiete métricas, al último (10,138).</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Redundancia interna: FE es la entropía de la fusión sobre el promedio de las entropías de las fuentes, y ese denominador no depende del método. Rangos intra-bloque idénticos a EN en las 20 imágenes y el mismo χ² de Friedman (88,2857): las dimensiones efectivas son ocho, no nueve.</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Excluyendo FE la propuesta sigue primera (3,631 frente a 3,994 de la pirámide de Laplace): la redundancia no explica su primer lugar.</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Auditoría II — el orden de mérito es propiedad del criterio (H2)</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15 / 22</a:t>
            </a:r>
            <a:endParaRPr lang="en-US" sz="900" dirty="0"/>
          </a:p>
        </p:txBody>
      </p:sp>
      <p:sp>
        <p:nvSpPr>
          <p:cNvPr id="4" name="Text 2"/>
          <p:cNvSpPr/>
          <p:nvPr/>
        </p:nvSpPr>
        <p:spPr>
          <a:xfrm>
            <a:off x="457200" y="914400"/>
            <a:ext cx="8229600" cy="3931920"/>
          </a:xfrm>
          <a:prstGeom prst="rect">
            <a:avLst/>
          </a:prstGeom>
          <a:noFill/>
          <a:ln/>
        </p:spPr>
        <p:txBody>
          <a:bodyPr wrap="square" lIns="0" tIns="0" rIns="0" bIns="0" rtlCol="0" anchor="t"/>
          <a:lstStyle/>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Mismo operador, las mismas 140 imágenes fusionadas, dos composiciones del criterio.</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Con las nueve métricas del trabajo de referencia la propuesta es 1.ª de 7 (3,394). Con las diecisiete que el MISMO evaluador ya calcula —nueve más Qabf, Nabf, SCD, VIF, FMI, Q0, QW y QE— desciende a 3.ª (3,459): el primer lugar pasa a la pirámide de Laplace (3,147), el segundo a DTCWT (3,259) y el Top-Hat clásico cae al último (5,000).</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No cambió ninguna imagen fusionada. Cambió el conjunto de métricas. Todo orden agregado debe reportarse junto a la composición que lo produce.</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Ajuste simétrico: el protocolo concede a la propuesta un paso de ajuste que no concede a los comparativos. Dándoselo también a ellos, ninguna de las cinco configuraciones de referencia la alcanza (RP 3,772 · LP 4,028 · DWT 4,167 · DTCWT 4,211 · CVT 4,717, frente a 3,583).</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El Top-Hat clásico la supera por 0,061 (3,522), pero con m = 1, más del triple del peso. Ejecutándolo con (r, m) = (25; 0,30) —los mismos valores de la propuesta— la propuesta conserva el primer lugar: 3,528 frente a 3,694. La ventaja del clásico proviene de su peso, no del operador.</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El primer lugar es un resultado sólido DENTRO del criterio del trabajo de referencia, no una propiedad independiente del criterio.</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Auditoría III — ¿cuánto aporta el banco? Ablación con (r, m) igualados (H7)</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16 / 22</a:t>
            </a:r>
            <a:endParaRPr lang="en-US" sz="900" dirty="0"/>
          </a:p>
        </p:txBody>
      </p:sp>
      <p:sp>
        <p:nvSpPr>
          <p:cNvPr id="4" name="Text 2"/>
          <p:cNvSpPr/>
          <p:nvPr/>
        </p:nvSpPr>
        <p:spPr>
          <a:xfrm>
            <a:off x="457200" y="914400"/>
            <a:ext cx="8229600" cy="3931920"/>
          </a:xfrm>
          <a:prstGeom prst="rect">
            <a:avLst/>
          </a:prstGeom>
          <a:noFill/>
          <a:ln/>
        </p:spPr>
        <p:txBody>
          <a:bodyPr wrap="square" lIns="0" tIns="0" rIns="0" bIns="0" rtlCol="0" anchor="t"/>
          <a:lstStyle/>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La comparación con el Top-Hat clásico no aísla el banco: aquel usa r = 5 y m = 1, de modo que la diferencia observada mezcla banco, radio y peso. Para aislarlo se fijaron r = 25 y m = 0,30 en seis brazos que comparten todo salvo la forma de combinar las respuestas morfológicas.</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Con las nueve métricas la suma de ramas —la que adopta la propuesta— es la mejor de los seis (3,222), por delante del máximo (3,311) y del disco único (3,367); el promedio queda en 3,533 y las líneas solas y la imagen base empatan últimas (3,783).</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Lectura prudente: al retirar FE —que duplica la entropía, justo donde la suma obtiene su mayor ventaja— los seis brazos se comprimen en una banda de 3,444 a 3,631 y la suma baja al 4.º lugar (3,500).</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Con las diecisiete métricas el orden se invierte: máximo 2,932 · disco 3,153 · promedio 3,179 · suma 3,621 · líneas 3,756 · base 4,359.</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La suma duplica la tasa de artefactos del disco único (Nabf 0,374 frente a 0,185): la novedad desplaza el punto de operación hacia el realce, no lo mejora de forma uniforme.</a:t>
            </a:r>
            <a:endParaRPr lang="en-US" sz="1350" dirty="0"/>
          </a:p>
          <a:p>
            <a:pPr marL="177800" indent="-177800">
              <a:spcAft>
                <a:spcPts val="1100"/>
              </a:spcAft>
              <a:buSzPct val="100000"/>
              <a:buChar char="•"/>
            </a:pPr>
            <a:r>
              <a:rPr lang="en-US" sz="1350" dirty="0">
                <a:solidFill>
                  <a:srgbClr val="1A1A1A"/>
                </a:solidFill>
                <a:latin typeface="Times New Roman" pitchFamily="34" charset="0"/>
                <a:ea typeface="Times New Roman" pitchFamily="34" charset="-122"/>
                <a:cs typeface="Times New Roman" pitchFamily="34" charset="-120"/>
              </a:rPr>
              <a:t xml:space="preserve">Lo que queda firme en todas las composiciones: la imagen base sin operador es la peor de los seis brazos con las diecisiete métricas (4,359). El mérito no proviene de la base. Pero la dirección del aporte depende del criterio, exactamente como enuncia H2. Y r = 1 no desactiva el banco: los cinco elementos siguen activos en una vecindad de 3 × 3.</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10. Contraste externo I — detección en LLVIP (H6)</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17 / 22</a:t>
            </a:r>
            <a:endParaRPr lang="en-US" sz="900" dirty="0"/>
          </a:p>
        </p:txBody>
      </p:sp>
      <p:pic>
        <p:nvPicPr>
          <p:cNvPr id="4" name="Image 0" descr="C:\Users\Usuario\AppData\Local\Temp\claude\C--Users-Usuario-Documents-unv-mastertesis\fa0a2acc-a0da-4701-a920-18b20c70d3b2\scratchpad\pptx_build/assets/map_llvip.png">    </p:cNvPr>
          <p:cNvPicPr>
            <a:picLocks noChangeAspect="1"/>
          </p:cNvPicPr>
          <p:nvPr/>
        </p:nvPicPr>
        <p:blipFill>
          <a:blip r:embed="rId1"/>
          <a:stretch>
            <a:fillRect/>
          </a:stretch>
        </p:blipFill>
        <p:spPr>
          <a:xfrm>
            <a:off x="960120" y="822960"/>
            <a:ext cx="7223760" cy="2761488"/>
          </a:xfrm>
          <a:prstGeom prst="rect">
            <a:avLst/>
          </a:prstGeom>
        </p:spPr>
      </p:pic>
      <p:sp>
        <p:nvSpPr>
          <p:cNvPr id="5" name="Text 2"/>
          <p:cNvSpPr/>
          <p:nvPr/>
        </p:nvSpPr>
        <p:spPr>
          <a:xfrm>
            <a:off x="457200" y="3703320"/>
            <a:ext cx="8229600" cy="13258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A1A1A"/>
                </a:solidFill>
                <a:latin typeface="Times New Roman" pitchFamily="34" charset="0"/>
                <a:ea typeface="Times New Roman" pitchFamily="34" charset="-122"/>
                <a:cs typeface="Times New Roman" pitchFamily="34" charset="-120"/>
              </a:rPr>
              <a:t xml:space="preserve">Toda fusión supera al visible solo (mAP@0,5 de 0,813 a una banda de 0,906–0,952, es decir entre +0,09 y +0,14); el infrarrojo solo lidera (0,971): en peatones nocturnos domina la firma térmica.</a:t>
            </a:r>
            <a:endParaRPr lang="en-US" sz="1200" dirty="0"/>
          </a:p>
          <a:p>
            <a:pPr marL="177800" indent="-177800">
              <a:spcAft>
                <a:spcPts val="500"/>
              </a:spcAft>
              <a:buSzPct val="100000"/>
              <a:buChar char="•"/>
            </a:pPr>
            <a:r>
              <a:rPr lang="en-US" sz="1200" dirty="0">
                <a:solidFill>
                  <a:srgbClr val="1A1A1A"/>
                </a:solidFill>
                <a:latin typeface="Times New Roman" pitchFamily="34" charset="0"/>
                <a:ea typeface="Times New Roman" pitchFamily="34" charset="-122"/>
                <a:cs typeface="Times New Roman" pitchFamily="34" charset="-120"/>
              </a:rPr>
              <a:t xml:space="preserve">La Propuesta Novedosa queda en el extremo inferior de la banda de fusiones (0,906, a la par de la Ratio Pyramid): el realce que premian las métricas de actividad no ayuda al detector.</a:t>
            </a:r>
            <a:endParaRPr lang="en-US" sz="1200" dirty="0"/>
          </a:p>
          <a:p>
            <a:pPr marL="177800" indent="-177800">
              <a:spcAft>
                <a:spcPts val="500"/>
              </a:spcAft>
              <a:buSzPct val="100000"/>
              <a:buChar char="•"/>
            </a:pPr>
            <a:r>
              <a:rPr lang="en-US" sz="1200" dirty="0">
                <a:solidFill>
                  <a:srgbClr val="1A1A1A"/>
                </a:solidFill>
                <a:latin typeface="Times New Roman" pitchFamily="34" charset="0"/>
                <a:ea typeface="Times New Roman" pitchFamily="34" charset="-122"/>
                <a:cs typeface="Times New Roman" pitchFamily="34" charset="-120"/>
              </a:rPr>
              <a:t xml:space="preserve">El orden de calidad no predice el orden de utilidad: la correlación de Spearman entre el rango de las nueve métricas y el mAP es ρ = +0,214 con p = 0,645, sin asociación y con el signo contrario al esperado.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Contraste externo II — M3FD: el conteo por escena (H6)</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18 / 22</a:t>
            </a:r>
            <a:endParaRPr lang="en-US" sz="900" dirty="0"/>
          </a:p>
        </p:txBody>
      </p:sp>
      <p:pic>
        <p:nvPicPr>
          <p:cNvPr id="4" name="Image 0" descr="C:\Users\Usuario\AppData\Local\Temp\claude\C--Users-Usuario-Documents-unv-mastertesis\fa0a2acc-a0da-4701-a920-18b20c70d3b2\scratchpad\pptx_build/assets/m3fd_par.png">    </p:cNvPr>
          <p:cNvPicPr>
            <a:picLocks noChangeAspect="1"/>
          </p:cNvPicPr>
          <p:nvPr/>
        </p:nvPicPr>
        <p:blipFill>
          <a:blip r:embed="rId1"/>
          <a:stretch>
            <a:fillRect/>
          </a:stretch>
        </p:blipFill>
        <p:spPr>
          <a:xfrm>
            <a:off x="1847435" y="868680"/>
            <a:ext cx="5449128" cy="2040255"/>
          </a:xfrm>
          <a:prstGeom prst="rect">
            <a:avLst/>
          </a:prstGeom>
        </p:spPr>
      </p:pic>
      <p:sp>
        <p:nvSpPr>
          <p:cNvPr id="5" name="Text 2"/>
          <p:cNvSpPr/>
          <p:nvPr/>
        </p:nvSpPr>
        <p:spPr>
          <a:xfrm>
            <a:off x="457200" y="2950000"/>
            <a:ext cx="7772400" cy="167000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A1A1A"/>
                </a:solidFill>
                <a:latin typeface="Times New Roman" pitchFamily="34" charset="0"/>
                <a:ea typeface="Times New Roman" pitchFamily="34" charset="-122"/>
                <a:cs typeface="Times New Roman" pitchFamily="34" charset="-120"/>
              </a:rPr>
              <a:t xml:space="preserve">Complementariedad real pero asimétrica: el infrarrojo domina en personas (AP@0,5 = 0,779 frente a 0,621 del visible) y se degrada en luces (0,348), mientras el visible sostiene ambas clases en un nivel parejo (0,621 y 0,616). Ninguna modalidad es ciega, pero ninguna es la mejor en las dos clases a la vez: ese es el argumento a favor de fusionar.</a:t>
            </a:r>
            <a:endParaRPr lang="en-US" sz="1150" dirty="0"/>
          </a:p>
          <a:p>
            <a:pPr marL="177800" indent="-177800">
              <a:spcAft>
                <a:spcPts val="400"/>
              </a:spcAft>
              <a:buSzPct val="100000"/>
              <a:buChar char="•"/>
            </a:pPr>
            <a:r>
              <a:rPr lang="en-US" sz="1100" b="1" dirty="0">
                <a:solidFill>
                  <a:srgbClr val="1A1A1A"/>
                </a:solidFill>
                <a:latin typeface="Times New Roman" pitchFamily="34" charset="0"/>
                <a:ea typeface="Times New Roman" pitchFamily="34" charset="-122"/>
                <a:cs typeface="Times New Roman" pitchFamily="34" charset="-120"/>
              </a:rPr>
              <a:t xml:space="preserve">Promedio del par complementario: la Ratio Pyramid es la única entrada que supera a ambas modalidades (0,622 frente a 0,618 del visible y 0,563 del infrarrojo). La propuesta alcanza 0,564 —7.ª de las nueve entradas—, por debajo del visible y a la par del infrarrojo; en mAP@0,5 global queda 5.ª de las siete fusiones (0,651 frente a 0,677 de RP).</a:t>
            </a:r>
            <a:endParaRPr lang="en-US" sz="1150" dirty="0"/>
          </a:p>
          <a:p>
            <a:pPr marL="177800" indent="-177800">
              <a:spcAft>
                <a:spcPts val="400"/>
              </a:spcAft>
              <a:buSzPct val="100000"/>
              <a:buChar char="•"/>
            </a:pPr>
            <a:r>
              <a:rPr lang="en-US" sz="1100" dirty="0">
                <a:solidFill>
                  <a:srgbClr val="1A1A1A"/>
                </a:solidFill>
                <a:latin typeface="Times New Roman" pitchFamily="34" charset="0"/>
                <a:ea typeface="Times New Roman" pitchFamily="34" charset="-122"/>
                <a:cs typeface="Times New Roman" pitchFamily="34" charset="-120"/>
              </a:rPr>
              <a:t xml:space="preserve">Conteo por escena sobre 232 escenas con ambas clases: el mejor caso es la pirámide de Laplace (57,8 %) y cuatro de las siete fusiones quedan por debajo del visible solo (53,0 %). La propuesta recupera ambas en el 50,0 %, con 8 escenas ganadas y 15 perdidas frente al visible (McNemar exacto p = 0,2100), y resuelve 2 de las 90 escenas críticas.</a:t>
            </a:r>
            <a:endParaRPr lang="en-US" sz="1150" dirty="0"/>
          </a:p>
          <a:p>
            <a:pPr marL="177800" indent="-177800">
              <a:spcAft>
                <a:spcPts val="400"/>
              </a:spcAft>
              <a:buSzPct val="100000"/>
              <a:buChar char="•"/>
            </a:pPr>
            <a:r>
              <a:rPr lang="en-US" sz="1100" dirty="0">
                <a:solidFill>
                  <a:srgbClr val="1A1A1A"/>
                </a:solidFill>
                <a:latin typeface="Times New Roman" pitchFamily="34" charset="0"/>
                <a:ea typeface="Times New Roman" pitchFamily="34" charset="-122"/>
                <a:cs typeface="Times New Roman" pitchFamily="34" charset="-120"/>
              </a:rPr>
              <a:t xml:space="preserve">Se sostiene H6, y con muestra suficiente: lo que queda rechazado es que la mejora de calidad de imagen se traslade a la tarea, no la hipótesis. Es un resultado del trabajo, no una limitación.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11. Contraste de las hipótesis del operador y del criterio</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19 / 22</a:t>
            </a:r>
            <a:endParaRPr lang="en-US" sz="900" dirty="0"/>
          </a:p>
        </p:txBody>
      </p:sp>
      <p:sp>
        <p:nvSpPr>
          <p:cNvPr id="4" name="Text 2"/>
          <p:cNvSpPr txBox="1"/>
          <p:nvPr/>
        </p:nvSpPr>
        <p:spPr>
          <a:xfrm>
            <a:off x="457200" y="914400"/>
            <a:ext cx="8229600" cy="3931920"/>
          </a:xfrm>
          <a:prstGeom prst="rect">
            <a:avLst/>
          </a:prstGeom>
          <a:noFill/>
        </p:spPr>
        <p:txBody>
          <a:bodyPr wrap="square" anchor="t" lIns="0" rIns="0" tIns="0" bIns="0">
            <a:spAutoFit/>
          </a:bodyPr>
          <a:lstStyle/>
          <a:p>
            <a:pPr>
              <a:spcAft>
                <a:spcPts val="500"/>
              </a:spcAft>
            </a:pPr>
            <a:r>
              <a:rPr sz="1150" b="1">
                <a:solidFill>
                  <a:srgbClr val="1A1A1A"/>
                </a:solidFill>
                <a:latin typeface="Times New Roman"/>
              </a:rPr>
              <a:t>H1 SE SOSTIENE — </a:t>
            </a:r>
            <a:r>
              <a:rPr sz="1150" b="0">
                <a:solidFill>
                  <a:srgbClr val="1A1A1A"/>
                </a:solidFill>
                <a:latin typeface="Times New Roman"/>
              </a:rPr>
              <a:t>El operador desplaza el punto de operación y no mejora de forma uniforme: en actividad espacial, 24 de 25 contrastes favorables y significativos y ninguno adverso con significancia; en fidelidad a las fuentes, 17 de 20 adversos y significativos (Wilcoxon–Holm).</a:t>
            </a:r>
          </a:p>
          <a:p>
            <a:pPr>
              <a:spcAft>
                <a:spcPts val="500"/>
              </a:spcAft>
            </a:pPr>
            <a:r>
              <a:rPr sz="1150" b="1">
                <a:solidFill>
                  <a:srgbClr val="1A1A1A"/>
                </a:solidFill>
                <a:latin typeface="Times New Roman"/>
              </a:rPr>
              <a:t>H2 SE SOSTIENE — </a:t>
            </a:r>
            <a:r>
              <a:rPr sz="1150" b="0">
                <a:solidFill>
                  <a:srgbClr val="1A1A1A"/>
                </a:solidFill>
                <a:latin typeface="Times New Roman"/>
              </a:rPr>
              <a:t>1.ª de 7 con las nueve métricas (3,394) y 3.ª con las diecisiete (3,459), donde el primer lugar pasa a la pirámide de Laplace (3,147). No cambió ninguna imagen fusionada; cambió el conjunto de métricas.</a:t>
            </a:r>
          </a:p>
          <a:p>
            <a:pPr>
              <a:spcAft>
                <a:spcPts val="500"/>
              </a:spcAft>
            </a:pPr>
            <a:r>
              <a:rPr sz="1150" b="1">
                <a:solidFill>
                  <a:srgbClr val="1A1A1A"/>
                </a:solidFill>
                <a:latin typeface="Times New Roman"/>
              </a:rPr>
              <a:t>H3 SE SOSTIENE — </a:t>
            </a:r>
            <a:r>
              <a:rPr sz="1150" b="0">
                <a:solidFill>
                  <a:srgbClr val="1A1A1A"/>
                </a:solidFill>
                <a:latin typeface="Times New Roman"/>
              </a:rPr>
              <a:t>La fusión artificial de ruido gaussiano con σ = 0,20 queda 3.ª de 14 y su rango mejora al aumentar σ (8,917 → 6,767), por delante de cinco de los seis comparativos. Incorporando Nabf cae al 7.º puesto; con las diecisiete, al último (10,138).</a:t>
            </a:r>
          </a:p>
          <a:p>
            <a:pPr>
              <a:spcAft>
                <a:spcPts val="500"/>
              </a:spcAft>
            </a:pPr>
            <a:r>
              <a:rPr sz="1150" b="1">
                <a:solidFill>
                  <a:srgbClr val="1A1A1A"/>
                </a:solidFill>
                <a:latin typeface="Times New Roman"/>
              </a:rPr>
              <a:t>H4 SE SOSTIENE — </a:t>
            </a:r>
            <a:r>
              <a:rPr sz="1150" b="0">
                <a:solidFill>
                  <a:srgbClr val="1A1A1A"/>
                </a:solidFill>
                <a:latin typeface="Times New Roman"/>
              </a:rPr>
              <a:t>FE es la entropía reescalada dentro de cada par: rangos idénticos en las 20 imágenes y el mismo χ² de Friedman (88,2857). Las dimensiones efectivas son ocho, no nueve.</a:t>
            </a:r>
          </a:p>
          <a:p>
            <a:pPr>
              <a:spcAft>
                <a:spcPts val="500"/>
              </a:spcAft>
            </a:pPr>
            <a:r>
              <a:rPr sz="1150" b="1">
                <a:solidFill>
                  <a:srgbClr val="1A1A1A"/>
                </a:solidFill>
                <a:latin typeface="Times New Roman"/>
              </a:rPr>
              <a:t>H5 SE SOSTIENE — </a:t>
            </a:r>
            <a:r>
              <a:rPr sz="1150" b="0">
                <a:solidFill>
                  <a:srgbClr val="1A1A1A"/>
                </a:solidFill>
                <a:latin typeface="Times New Roman"/>
              </a:rPr>
              <a:t>La optimización no determina la configuración adoptada. En 500 corridas la búsqueda no fija el radio (r = 25 en el 51,4 % y r = 1 en el 45,6 %) y el máximo de la aptitud dentro del rango está en r = 1 (1,7350), no en r = 25 (1,7057). El peso queda en el piso, 0,30, en 499 de las 500.</a:t>
            </a:r>
          </a:p>
          <a:p>
            <a:pPr>
              <a:spcAft>
                <a:spcPts val="500"/>
              </a:spcAft>
            </a:pPr>
            <a:r>
              <a:rPr sz="1150" b="1">
                <a:solidFill>
                  <a:srgbClr val="1A1A1A"/>
                </a:solidFill>
                <a:latin typeface="Times New Roman"/>
              </a:rPr>
              <a:t>H6 SE SOSTIENE — </a:t>
            </a:r>
            <a:r>
              <a:rPr sz="1150" b="0">
                <a:solidFill>
                  <a:srgbClr val="1A1A1A"/>
                </a:solidFill>
                <a:latin typeface="Times New Roman"/>
              </a:rPr>
              <a:t>Ninguna fusión supera al infrarrojo solo en LLVIP (0,971 frente a 0,952 de la mejor fusión), el orden de calidad no predice el mAP (ρ = +0,214; p = 0,645) y en el conteo por escena de M3FD la propuesta queda por debajo del visible (50,0 % frente a 53,0 %; McNemar exacto p = 0,2100; n = 232).</a:t>
            </a:r>
          </a:p>
          <a:p>
            <a:pPr>
              <a:spcAft>
                <a:spcPts val="500"/>
              </a:spcAft>
            </a:pPr>
            <a:r>
              <a:rPr sz="1150" b="1">
                <a:solidFill>
                  <a:srgbClr val="1A1A1A"/>
                </a:solidFill>
                <a:latin typeface="Times New Roman"/>
              </a:rPr>
              <a:t>H7 SE SOSTIENE — </a:t>
            </a:r>
            <a:r>
              <a:rPr sz="1150" b="0">
                <a:solidFill>
                  <a:srgbClr val="1A1A1A"/>
                </a:solidFill>
                <a:latin typeface="Times New Roman"/>
              </a:rPr>
              <a:t>Con (r, m) = (25; 0,30) fijos, la suma de ramas es la mejor de los seis brazos con las nueve métricas (3,222 frente a 3,367 del disco único), y la imagen base queda última con las diecisiete (4,359).</a:t>
            </a:r>
          </a:p>
          <a:p>
            <a:pPr>
              <a:spcAft>
                <a:spcPts val="500"/>
              </a:spcAft>
            </a:pPr>
            <a:r>
              <a:rPr sz="1150" b="1">
                <a:solidFill>
                  <a:srgbClr val="1A1A1A"/>
                </a:solidFill>
                <a:latin typeface="Times New Roman"/>
              </a:rPr>
              <a:t>Las siete se sostienen. </a:t>
            </a:r>
            <a:r>
              <a:rPr sz="1150" b="0">
                <a:solidFill>
                  <a:srgbClr val="1A1A1A"/>
                </a:solidFill>
                <a:latin typeface="Times New Roman"/>
              </a:rPr>
              <a:t>Dos son del operador (H1 y H7) y cinco del criterio (H2 a H6). Sostener H6 equivale a rechazar que la mejora de calidad se traslade a la detección: es un resultado del trabajo, no una limitación.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 xml:space="preserve">Conclusiones</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20 / 22</a:t>
            </a:r>
            <a:endParaRPr lang="en-US" sz="900" dirty="0"/>
          </a:p>
        </p:txBody>
      </p:sp>
      <p:sp>
        <p:nvSpPr>
          <p:cNvPr id="4" name="Text 2"/>
          <p:cNvSpPr/>
          <p:nvPr/>
        </p:nvSpPr>
        <p:spPr>
          <a:xfrm>
            <a:off x="457200" y="914400"/>
            <a:ext cx="8229600" cy="3931920"/>
          </a:xfrm>
          <a:prstGeom prst="rect">
            <a:avLst/>
          </a:prstGeom>
          <a:noFill/>
          <a:ln/>
        </p:spPr>
        <p:txBody>
          <a:bodyPr wrap="square" lIns="0" tIns="0" rIns="0" bIns="0" rtlCol="0" anchor="t"/>
          <a:lstStyle/>
          <a:p>
            <a:pPr>
              <a:spcAft>
                <a:spcPts val="400"/>
              </a:spcAft>
            </a:pPr>
            <a:r>
              <a:rPr sz="1100" b="1">
                <a:solidFill>
                  <a:srgbClr val="1A1A1A"/>
                </a:solidFill>
                <a:latin typeface="Times New Roman"/>
              </a:rPr>
              <a:t>1. </a:t>
            </a:r>
            <a:r>
              <a:rPr sz="1100" b="0">
                <a:solidFill>
                  <a:srgbClr val="1A1A1A"/>
                </a:solidFill>
                <a:latin typeface="Times New Roman"/>
              </a:rPr>
              <a:t>El operador desplaza el punto de operación de la fusión y no la mejora de manera uniforme: gana en actividad espacial (24 de 25 contrastes favorables, ninguno adverso con significancia) y cede en fidelidad a las fuentes (17 de 20 adversos).</a:t>
            </a:r>
            <a:endParaRPr lang="en-US" sz="1350" dirty="0"/>
          </a:p>
          <a:p>
            <a:pPr>
              <a:spcAft>
                <a:spcPts val="400"/>
              </a:spcAft>
            </a:pPr>
            <a:r>
              <a:rPr sz="1100" b="1">
                <a:solidFill>
                  <a:srgbClr val="1A1A1A"/>
                </a:solidFill>
                <a:latin typeface="Times New Roman"/>
              </a:rPr>
              <a:t>2. </a:t>
            </a:r>
            <a:r>
              <a:rPr sz="1100" b="0">
                <a:solidFill>
                  <a:srgbClr val="1A1A1A"/>
                </a:solidFill>
                <a:latin typeface="Times New Roman"/>
              </a:rPr>
              <a:t>Bajo el criterio del trabajo de referencia encabeza el benchmark: 1.º de 7 con rango medio 3,394. Concediendo a los comparativos el mismo paso de ajuste, ninguna de las cinco configuraciones de referencia lo alcanza; el Top-Hat clásico lo supera por 0,061, pero con m = 1, y a peso igualado la propuesta vuelve al primer lugar: 3,528 frente a 3,694.</a:t>
            </a:r>
          </a:p>
          <a:p>
            <a:pPr>
              <a:spcAft>
                <a:spcPts val="400"/>
              </a:spcAft>
            </a:pPr>
            <a:r>
              <a:rPr sz="1100" b="1">
                <a:solidFill>
                  <a:srgbClr val="1A1A1A"/>
                </a:solidFill>
                <a:latin typeface="Times New Roman"/>
              </a:rPr>
              <a:t>3. </a:t>
            </a:r>
            <a:r>
              <a:rPr sz="1100" b="0">
                <a:solidFill>
                  <a:srgbClr val="1A1A1A"/>
                </a:solidFill>
                <a:latin typeface="Times New Roman"/>
              </a:rPr>
              <a:t>El banco aporta sobre el disco único con hiperparámetros igualados (3,222 frente a 3,367 con las nueve métricas), y el mérito no proviene de la imagen base, que queda última con las diecisiete (4,359).</a:t>
            </a:r>
          </a:p>
          <a:p>
            <a:pPr>
              <a:spcAft>
                <a:spcPts val="400"/>
              </a:spcAft>
            </a:pPr>
            <a:r>
              <a:rPr sz="1100" b="1">
                <a:solidFill>
                  <a:srgbClr val="1A1A1A"/>
                </a:solidFill>
                <a:latin typeface="Times New Roman"/>
              </a:rPr>
              <a:t>4. </a:t>
            </a:r>
            <a:r>
              <a:rPr sz="1100" b="0">
                <a:solidFill>
                  <a:srgbClr val="1A1A1A"/>
                </a:solidFill>
                <a:latin typeface="Times New Roman"/>
              </a:rPr>
              <a:t>Ese orden es propiedad del criterio: con las diecisiete métricas que el mismo evaluador calcula la propuesta es 3.ª (3,459) y el primer lugar pasa a la pirámide de Laplace (3,147). Ninguna imagen fusionada cambió.</a:t>
            </a:r>
          </a:p>
          <a:p>
            <a:pPr>
              <a:spcAft>
                <a:spcPts val="400"/>
              </a:spcAft>
            </a:pPr>
            <a:r>
              <a:rPr sz="1100" b="1">
                <a:solidFill>
                  <a:srgbClr val="1A1A1A"/>
                </a:solidFill>
                <a:latin typeface="Times New Roman"/>
              </a:rPr>
              <a:t>5. </a:t>
            </a:r>
            <a:r>
              <a:rPr sz="1100" b="0">
                <a:solidFill>
                  <a:srgbClr val="1A1A1A"/>
                </a:solidFill>
                <a:latin typeface="Times New Roman"/>
              </a:rPr>
              <a:t>La batería de nueve métricas no discrimina detalle útil de ruido —una fusión artificial de ruido queda 3.ª de 14 y su rango mejora al aumentar la varianza— y contiene redundancia: FE es la entropía reescalada, así que las dimensiones efectivas son ocho.</a:t>
            </a:r>
          </a:p>
          <a:p>
            <a:pPr>
              <a:spcAft>
                <a:spcPts val="400"/>
              </a:spcAft>
            </a:pPr>
            <a:r>
              <a:rPr sz="1100" b="1">
                <a:solidFill>
                  <a:srgbClr val="1A1A1A"/>
                </a:solidFill>
                <a:latin typeface="Times New Roman"/>
              </a:rPr>
              <a:t>6. </a:t>
            </a:r>
            <a:r>
              <a:rPr sz="1100" b="0">
                <a:solidFill>
                  <a:srgbClr val="1A1A1A"/>
                </a:solidFill>
                <a:latin typeface="Times New Roman"/>
              </a:rPr>
              <a:t>La optimización no determina la configuración evaluada: el máximo de la aptitud dentro del rango publicado está en r = 1 y el peso queda en el piso, 0,30, en 499 de las 500 corridas. El peso sí tiene justificación independiente: con m = 0,30 el recorte satura el 0,73 % de los píxeles en promedio, contra el 6,50 % que produciría m = 1.</a:t>
            </a:r>
          </a:p>
          <a:p>
            <a:pPr>
              <a:spcAft>
                <a:spcPts val="400"/>
              </a:spcAft>
            </a:pPr>
            <a:r>
              <a:rPr sz="1100" b="1">
                <a:solidFill>
                  <a:srgbClr val="1A1A1A"/>
                </a:solidFill>
                <a:latin typeface="Times New Roman"/>
              </a:rPr>
              <a:t>7. </a:t>
            </a:r>
            <a:r>
              <a:rPr sz="1100" b="0">
                <a:solidFill>
                  <a:srgbClr val="1A1A1A"/>
                </a:solidFill>
                <a:latin typeface="Times New Roman"/>
              </a:rPr>
              <a:t>El orden de calidad no predice la utilidad en detección (ρ = +0,214; p = 0,645) y ninguna fusión supera a la mejor modalidad individual por un margen distinguible: en LLVIP lidera el infrarrojo (0,971) y en el conteo por escena de M3FD la propuesta queda por debajo del visible (50,0 % frente a 53,0 %; n = 232). Aporte metodológico: un protocolo de evaluación de fusión debe incluir al menos una métrica que penalice artefactos, declarar la redundancia entre sus componentes y separar el ajuste de hiperparámetros del criterio de evaluación.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Recomendaciones y trabajo futuro</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21 / 22</a:t>
            </a:r>
            <a:endParaRPr lang="en-US" sz="900" dirty="0"/>
          </a:p>
        </p:txBody>
      </p:sp>
      <p:sp>
        <p:nvSpPr>
          <p:cNvPr id="4" name="Text 2"/>
          <p:cNvSpPr/>
          <p:nvPr/>
        </p:nvSpPr>
        <p:spPr>
          <a:xfrm>
            <a:off x="457200" y="914400"/>
            <a:ext cx="8229600" cy="3931920"/>
          </a:xfrm>
          <a:prstGeom prst="rect">
            <a:avLst/>
          </a:prstGeom>
          <a:noFill/>
          <a:ln/>
        </p:spPr>
        <p:txBody>
          <a:bodyPr wrap="square" lIns="0" tIns="0" rIns="0" bIns="0" rtlCol="0" anchor="t"/>
          <a:lstStyle/>
          <a:p>
            <a:pPr>
              <a:spcAft>
                <a:spcPts val="400"/>
              </a:spcAft>
            </a:pPr>
            <a:r>
              <a:rPr sz="1100" b="1">
                <a:solidFill>
                  <a:srgbClr val="1A1A1A"/>
                </a:solidFill>
                <a:latin typeface="Times New Roman"/>
              </a:rPr>
              <a:t>Sobre el protocolo de evaluación (aporte transferible)</a:t>
            </a:r>
            <a:endParaRPr lang="en-US" sz="1350" dirty="0"/>
          </a:p>
          <a:p>
            <a:pPr>
              <a:spcAft>
                <a:spcPts val="400"/>
              </a:spcAft>
            </a:pPr>
            <a:r>
              <a:rPr sz="1100" b="0">
                <a:solidFill>
                  <a:srgbClr val="1A1A1A"/>
                </a:solidFill>
                <a:latin typeface="Times New Roman"/>
              </a:rPr>
              <a:t>Incluir al menos una métrica de dirección inversa que penalice artefactos. No alcanza con una: al sumar Nabf, el control negativo baja del 3.er al 7.º puesto de 14, pero todavía supera a Curvelet y al Top-Hat clásico. Con las diecisiete métricas queda último.</a:t>
            </a:r>
          </a:p>
          <a:p>
            <a:pPr>
              <a:spcAft>
                <a:spcPts val="400"/>
              </a:spcAft>
            </a:pPr>
            <a:r>
              <a:rPr sz="1100" b="0">
                <a:solidFill>
                  <a:srgbClr val="1A1A1A"/>
                </a:solidFill>
                <a:latin typeface="Times New Roman"/>
              </a:rPr>
              <a:t>Declarar la redundancia entre las componentes de la batería y reportar el número efectivo de dimensiones, no el nominal.</a:t>
            </a:r>
          </a:p>
          <a:p>
            <a:pPr>
              <a:spcAft>
                <a:spcPts val="400"/>
              </a:spcAft>
            </a:pPr>
            <a:r>
              <a:rPr sz="1100" b="0">
                <a:solidFill>
                  <a:srgbClr val="1A1A1A"/>
                </a:solidFill>
                <a:latin typeface="Times New Roman"/>
              </a:rPr>
              <a:t>Separar el ajuste de hiperparámetros del criterio de evaluación, o declarar la circularidad y acotarla con un ajuste simétrico de los comparativos.</a:t>
            </a:r>
          </a:p>
          <a:p>
            <a:pPr>
              <a:spcAft>
                <a:spcPts val="400"/>
              </a:spcAft>
            </a:pPr>
            <a:r>
              <a:rPr sz="1100" b="0">
                <a:solidFill>
                  <a:srgbClr val="1A1A1A"/>
                </a:solidFill>
                <a:latin typeface="Times New Roman"/>
              </a:rPr>
              <a:t>Incorporar un control negativo con degradaciones conocidas como requisito mínimo de cualquier benchmark de fusión, y reportar todo orden agregado junto a la composición del conjunto de métricas que lo produce.</a:t>
            </a:r>
          </a:p>
          <a:p>
            <a:pPr>
              <a:spcAft>
                <a:spcPts val="400"/>
              </a:spcAft>
            </a:pPr>
            <a:r>
              <a:rPr sz="1100" b="1">
                <a:solidFill>
                  <a:srgbClr val="1A1A1A"/>
                </a:solidFill>
                <a:latin typeface="Times New Roman"/>
              </a:rPr>
              <a:t>Sobre el operador</a:t>
            </a:r>
          </a:p>
          <a:p>
            <a:pPr>
              <a:spcAft>
                <a:spcPts val="400"/>
              </a:spcAft>
            </a:pPr>
            <a:r>
              <a:rPr sz="1100" b="0">
                <a:solidFill>
                  <a:srgbClr val="1A1A1A"/>
                </a:solidFill>
                <a:latin typeface="Times New Roman"/>
              </a:rPr>
              <a:t>Extender la evaluación de detección a otros detectores y al conjunto completo de LLVIP, con varias semillas: los experimentos actuales usan una sola.</a:t>
            </a:r>
          </a:p>
          <a:p>
            <a:pPr>
              <a:spcAft>
                <a:spcPts val="400"/>
              </a:spcAft>
            </a:pPr>
            <a:r>
              <a:rPr sz="1100" b="0">
                <a:solidFill>
                  <a:srgbClr val="1A1A1A"/>
                </a:solidFill>
                <a:latin typeface="Times New Roman"/>
              </a:rPr>
              <a:t>Explorar reglas de fusión adaptativas para la rama Black Top-Hat, que es donde se concentran los artefactos (Nabf 0,374 frente a 0,185 del disco único).</a:t>
            </a:r>
          </a:p>
          <a:p>
            <a:pPr>
              <a:spcAft>
                <a:spcPts val="400"/>
              </a:spcAft>
            </a:pPr>
            <a:r>
              <a:rPr sz="1100" b="0">
                <a:solidFill>
                  <a:srgbClr val="1A1A1A"/>
                </a:solidFill>
                <a:latin typeface="Times New Roman"/>
              </a:rPr>
              <a:t>Complementar las métricas objetivas con una validación perceptual por observadores: es el único criterio que el control negativo no puede engañar.</a:t>
            </a:r>
          </a:p>
          <a:p>
            <a:pPr>
              <a:spcAft>
                <a:spcPts val="400"/>
              </a:spcAft>
            </a:pPr>
            <a:r>
              <a:rPr sz="1100" b="0">
                <a:solidFill>
                  <a:srgbClr val="1A1A1A"/>
                </a:solidFill>
                <a:latin typeface="Times New Roman"/>
              </a:rPr>
              <a:t>Evaluar la transferencia a otros dominios; los resultados corresponden a escenas de vigilancia nocturna.</a:t>
            </a:r>
          </a:p>
          <a:p>
            <a:pPr>
              <a:spcAft>
                <a:spcPts val="400"/>
              </a:spcAft>
            </a:pPr>
            <a:r>
              <a:rPr sz="1100" b="0">
                <a:solidFill>
                  <a:srgbClr val="1A1A1A"/>
                </a:solidFill>
                <a:latin typeface="Times New Roman"/>
              </a:rPr>
              <a:t>Uso recomendado: el operador es recomendable cuando el requisito explícito es maximizar actividad espacial y contraste local, y se acepta el costo en fidelidad y artefactos. Donde prima la fidelidad a las fuentes, la pirámide de Laplace domina la información mutua (1,924 / 0,918) y la tasa de artefactos (Nabf 0,114), DTCWT el SSIM (0,725) y la aproximación CVT el PSNR (17,65). Para alimentar un detector, ninguna fusión de este estudio antes que la mejor modalidad individual.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0"/>
            <a:ext cx="8229600" cy="731520"/>
          </a:xfrm>
          <a:prstGeom prst="rect">
            <a:avLst/>
          </a:prstGeom>
          <a:noFill/>
          <a:ln/>
        </p:spPr>
        <p:txBody>
          <a:bodyPr wrap="square" lIns="0" tIns="0" rIns="0" bIns="0" rtlCol="0" anchor="ctr"/>
          <a:lstStyle/>
          <a:p>
            <a:pPr algn="ctr" indent="0" marL="0">
              <a:buNone/>
            </a:pPr>
            <a:r>
              <a:rPr lang="en-US" sz="3400" b="1" dirty="0">
                <a:solidFill>
                  <a:srgbClr val="1A1A1A"/>
                </a:solidFill>
                <a:latin typeface="Times New Roman" pitchFamily="34" charset="0"/>
                <a:ea typeface="Times New Roman" pitchFamily="34" charset="-122"/>
                <a:cs typeface="Times New Roman" pitchFamily="34" charset="-120"/>
              </a:rPr>
              <a:t>Muchas gracias</a:t>
            </a:r>
            <a:endParaRPr lang="en-US" sz="3400" dirty="0"/>
          </a:p>
        </p:txBody>
      </p:sp>
      <p:sp>
        <p:nvSpPr>
          <p:cNvPr id="3" name="Text 1"/>
          <p:cNvSpPr/>
          <p:nvPr/>
        </p:nvSpPr>
        <p:spPr>
          <a:xfrm>
            <a:off x="457200" y="2606040"/>
            <a:ext cx="8229600" cy="365760"/>
          </a:xfrm>
          <a:prstGeom prst="rect">
            <a:avLst/>
          </a:prstGeom>
          <a:noFill/>
          <a:ln/>
        </p:spPr>
        <p:txBody>
          <a:bodyPr wrap="square" lIns="0" tIns="0" rIns="0" bIns="0" rtlCol="0" anchor="ctr"/>
          <a:lstStyle/>
          <a:p>
            <a:pPr algn="ctr" indent="0" marL="0">
              <a:buNone/>
            </a:pPr>
            <a:r>
              <a:rPr lang="en-US" sz="1500" i="1" dirty="0">
                <a:solidFill>
                  <a:srgbClr val="666666"/>
                </a:solidFill>
                <a:latin typeface="Times New Roman" pitchFamily="34" charset="0"/>
                <a:ea typeface="Times New Roman" pitchFamily="34" charset="-122"/>
                <a:cs typeface="Times New Roman" pitchFamily="34" charset="-120"/>
              </a:rPr>
              <a:t>Preguntas y comentarios</a:t>
            </a:r>
            <a:endParaRPr lang="en-US" sz="1500" dirty="0"/>
          </a:p>
        </p:txBody>
      </p:sp>
      <p:sp>
        <p:nvSpPr>
          <p:cNvPr id="4" name="Text 2"/>
          <p:cNvSpPr/>
          <p:nvPr/>
        </p:nvSpPr>
        <p:spPr>
          <a:xfrm>
            <a:off x="457200" y="3383280"/>
            <a:ext cx="8229600" cy="320040"/>
          </a:xfrm>
          <a:prstGeom prst="rect">
            <a:avLst/>
          </a:prstGeom>
          <a:noFill/>
          <a:ln/>
        </p:spPr>
        <p:txBody>
          <a:bodyPr wrap="square" lIns="0" tIns="0" rIns="0" bIns="0" rtlCol="0" anchor="ctr"/>
          <a:lstStyle/>
          <a:p>
            <a:pPr algn="ctr" indent="0" marL="0">
              <a:buNone/>
            </a:pPr>
            <a:r>
              <a:rPr lang="en-US" sz="1200" dirty="0">
                <a:solidFill>
                  <a:srgbClr val="8B1A1A"/>
                </a:solidFill>
                <a:latin typeface="Times New Roman" pitchFamily="34" charset="0"/>
                <a:ea typeface="Times New Roman" pitchFamily="34" charset="-122"/>
                <a:cs typeface="Times New Roman" pitchFamily="34" charset="-120"/>
              </a:rPr>
              <a:t>Código y experimentos reproducibles:  github.com/YanBajac/TFM_Fusion_Imagenes_Propuesta_Oficial</a:t>
            </a:r>
            <a:endParaRPr lang="en-US" sz="1200" dirty="0"/>
          </a:p>
        </p:txBody>
      </p:sp>
      <p:sp>
        <p:nvSpPr>
          <p:cNvPr id="5" name="Text 3"/>
          <p:cNvSpPr/>
          <p:nvPr/>
        </p:nvSpPr>
        <p:spPr>
          <a:xfrm>
            <a:off x="457200" y="3794760"/>
            <a:ext cx="8229600" cy="320040"/>
          </a:xfrm>
          <a:prstGeom prst="rect">
            <a:avLst/>
          </a:prstGeom>
          <a:noFill/>
          <a:ln/>
        </p:spPr>
        <p:txBody>
          <a:bodyPr wrap="square" lIns="0" tIns="0" rIns="0" bIns="0" rtlCol="0" anchor="ctr"/>
          <a:lstStyle/>
          <a:p>
            <a:pPr algn="ctr" indent="0" marL="0">
              <a:buNone/>
            </a:pPr>
            <a:r>
              <a:rPr lang="en-US" sz="1100" dirty="0">
                <a:solidFill>
                  <a:srgbClr val="666666"/>
                </a:solidFill>
                <a:latin typeface="Times New Roman" pitchFamily="34" charset="0"/>
                <a:ea typeface="Times New Roman" pitchFamily="34" charset="-122"/>
                <a:cs typeface="Times New Roman" pitchFamily="34" charset="-120"/>
              </a:rPr>
              <a:t>Lic. Juan Pablo Bazán  ·  Ing. Yan Bajac  —  Orientador: D.Sc. Julio César Mello</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300" b="1" dirty="0">
                <a:solidFill>
                  <a:srgbClr val="1A1A1A"/>
                </a:solidFill>
                <a:latin typeface="Times New Roman" pitchFamily="34" charset="0"/>
                <a:ea typeface="Times New Roman" pitchFamily="34" charset="-122"/>
                <a:cs typeface="Times New Roman" pitchFamily="34" charset="-120"/>
              </a:rPr>
              <a:t>Reserva — M3FD: dos escenas de la validación (conf ≥ 0,30)</a:t>
            </a:r>
            <a:endParaRPr lang="en-US" sz="2300" dirty="0"/>
          </a:p>
        </p:txBody>
      </p:sp>
      <p:sp>
        <p:nvSpPr>
          <p:cNvPr id="3" name="Text 1"/>
          <p:cNvSpPr/>
          <p:nvPr/>
        </p:nvSpPr>
        <p:spPr>
          <a:xfrm>
            <a:off x="8229600" y="4828032"/>
            <a:ext cx="685800" cy="274320"/>
          </a:xfrm>
          <a:prstGeom prst="rect">
            <a:avLst/>
          </a:prstGeom>
          <a:noFill/>
          <a:ln/>
        </p:spPr>
        <p:txBody>
          <a:bodyPr wrap="square" lIns="0" tIns="0" rIns="0" bIns="0" rtlCol="0" anchor="ctr"/>
          <a:lstStyle/>
          <a:p>
            <a:pPr algn="r" indent="0" marL="0">
              <a:buNone/>
            </a:pPr>
            <a:r>
              <a:rPr lang="en-US" sz="900" dirty="0">
                <a:solidFill>
                  <a:srgbClr val="666666"/>
                </a:solidFill>
                <a:latin typeface="Times New Roman" pitchFamily="34" charset="0"/>
                <a:ea typeface="Times New Roman" pitchFamily="34" charset="-122"/>
                <a:cs typeface="Times New Roman" pitchFamily="34" charset="-120"/>
              </a:rPr>
              <a:t xml:space="preserve">RESERVA</a:t>
            </a:r>
            <a:endParaRPr lang="en-US" sz="900" dirty="0"/>
          </a:p>
        </p:txBody>
      </p:sp>
      <p:pic>
        <p:nvPicPr>
          <p:cNvPr id="4" name="Image 0" descr="C:/Users/Usuario/Documents/unv/mastertesis/tesis_mciencias_datos/docs/figures/fig_m3fd_detecciones.png">    </p:cNvPr>
          <p:cNvPicPr>
            <a:picLocks noChangeAspect="1"/>
          </p:cNvPicPr>
          <p:nvPr/>
        </p:nvPicPr>
        <p:blipFill>
          <a:blip r:embed="rId1"/>
          <a:stretch>
            <a:fillRect/>
          </a:stretch>
        </p:blipFill>
        <p:spPr>
          <a:xfrm>
            <a:off x="1672449" y="822960"/>
            <a:ext cx="5799101" cy="3740000"/>
          </a:xfrm>
          <a:prstGeom prst="rect">
            <a:avLst/>
          </a:prstGeom>
        </p:spPr>
      </p:pic>
      <p:sp>
        <p:nvSpPr>
          <p:cNvPr id="5" name="Text 2"/>
          <p:cNvSpPr/>
          <p:nvPr/>
        </p:nvSpPr>
        <p:spPr>
          <a:xfrm>
            <a:off x="457200" y="4620000"/>
            <a:ext cx="7680960" cy="462000"/>
          </a:xfrm>
          <a:prstGeom prst="rect">
            <a:avLst/>
          </a:prstGeom>
          <a:noFill/>
          <a:ln/>
        </p:spPr>
        <p:txBody>
          <a:bodyPr wrap="square" lIns="0" tIns="0" rIns="0" bIns="0" rtlCol="0" anchor="ctr"/>
          <a:lstStyle/>
          <a:p>
            <a:pPr indent="0" marL="0">
              <a:buNone/>
            </a:pPr>
            <a:r>
              <a:rPr lang="en-US" sz="1050" i="1" dirty="0">
                <a:solidFill>
                  <a:srgbClr val="666666"/>
                </a:solidFill>
                <a:latin typeface="Times New Roman" pitchFamily="34" charset="0"/>
                <a:ea typeface="Times New Roman" pitchFamily="34" charset="-122"/>
                <a:cs typeface="Times New Roman" pitchFamily="34" charset="-120"/>
              </a:rPr>
              <a:t xml:space="preserve">Arriba (escena 00389): la fusión detecta 11 personas, frente a 3 del visible y 10 del infrarrojo. Abajo (escena 00231): conserva 7 luces y 8 personas, frente a 5 luces del visible y una sola del infrarrojo. El infrarrojo no es ciego a las luces; lo que la fusión aporta es sostener las dos clases a la vez.</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2026-07-27T02:05:02Z</dcterms:created>
  <dcterms:modified xsi:type="dcterms:W3CDTF">2026-07-27T02:05:02Z</dcterms:modified>
</cp:coreProperties>
</file>