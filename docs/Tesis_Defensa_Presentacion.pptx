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Saludo a la mesa. Presentar el título y a los autores. Una frase: la tesis propone y valida un método de fusión de imágenes visibles e infrarrojas basado en morfología matemática de una sola escala, optimizado automáticamente.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 de 20 minutos: del problema al método, del método a la evidencia (calidad de imagen, estadística y detección), y de la evidencia a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Motivar con la imagen: la misma escena en VIS, IR y fusionada. El problema práctico es la vigilancia nocturna: ni VIS ni IR bastan por separado.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objetivo general y cuatro específicos: formular, optimizar, comparar y evaluar en tarea. Cada específico se responde en una sección de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hipótesis: H1 sobre el operador, H2 sobre la optimización, H3 sobre la utilidad en tarea. Adelantar que H3 dará el resultado más matizado y honesto de la tesis.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intuitivamente: la apertura elimina lo claro pequeño; restarla de la imagen lo aísla (WTH). El dual con el cierre da BTH. La fusión clásica reinyecta ese detalle sobre la base promediada.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corazón de la tesis, leído sobre el flujograma: cinco elementos estructurantes (un disco + cuatro líneas de largo 2r+1) por fuente; las respuestas lineales se promedian y se SUMAN a la del disco — la suma acumula evidencia de ambas geometrías, el máximo solo elige una. Entre fuentes sí se toma el máximo, y la reconstrucción pondera con m. El PSO (caja punteada) calibra r y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 controla la escala de las estructuras que se extraen; m cuánto realce se reinyecta. La aptitud combina fidelidad estructural, bordes y correlación, y castiga artefactos. El barrido replica el diseño del trabajo de la FPUNA: el óptimo r=25 con m pequeño (0,07) extrae estructuras grandes pero las pondera suavemente.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a la pregunta del tribunal sobre la elección de la aptitud: repetimos el barrido con la fórmula del trabajo replicado. Resultado: su propio óptimo cae al piso del rango (m=0,30) y, sin restricciones, coincide con el nuestro (m≈0,07). La aptitud de fidelidad pura además apaga el banco de SE (r=1). La curva demuestra que ningún enjambre puede converger en [0,5-2]: es el paisaje, no la búsqueda.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evaluaciones complementarias: calidad de imagen (TNO, sin referencia) y utilidad en tarea (LLVIP, con verdad de campo). En LLVIP solo cambian los píxeles de entrada; las etiquetas son las mismas, así el mAP aísla el efecto de la fusión.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Escena representativa: la propuesta (recuadro rojo) integra la firma térmica de las personas con la textura de la casa y la vegetación, con menos halos y ruido que RP/DWT y más contraste local que el clásico.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Negritas = mejor por columna. No hay método universalmente dominante: DTCWT lidera bordes por una milésima, RP la correlación, LP el contraste. El perfil de la propuesta es limpieza (Nabf) y estructura (SSIM), quedando segunda en el resto a distancias mínimas.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evidencia estadística sostiene las ventajas donde la propuesta las reclama: limpieza y estructura, con significancia tras corregir por comparaciones múltiples. El ranking global es honesto: la propuesta no domina todo; domina su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hallazgo más matizado: fusionar aporta muchísimo frente al VIS, pero ninguna fusión supera al IR puro en esta tarea nocturna. Entre fusiones, las diferencias son pequeñas: la calidad de imagen no se traslada automáticamente al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 y H2 quedan sostenidas con evidencia estadística. H3 solo parcialmente: es el resultado más honesto del trabajo y anticipa la pregunta natural del tribunal — calidad de imagen y utilidad en tarea son criterios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conclusiones: método formulado, óptimo hallado, perfil de calidad validado, ventaja sobre el clásico demostrada, y la lección sobre calidad vs.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recomendación práctica: qué método elegir según el criterio operativo. Dejar claro que el pipeline completo es reproducible desde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a la mesa y al orientador. Ofrecer el repositorio para cualquier verificación.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UNIVERSIDAD COMUNERA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CIENCIAS Y TECNOLOGÍA — MAESTRÍA EN CIENCIAS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de Imágenes Infrarrojas y Visibles</a:t>
            </a:r>
            <a:endParaRPr lang="en-US" sz="2700" dirty="0"/>
          </a:p>
          <a:p>
            <a:pPr algn="ctr"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mediante Morfología Matemática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731520" y="23317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propuesta de Top-Hat/Bottom-Hat de una sola escala con elementos estructurantes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 disco y lineales, optimizada por PSO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272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Defensa de Tesis de Maestría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 Lic. Juan Pablo Bazán   ·   Ing. Yan Bajac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Orientador:  D.Sc. Julio César Mello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Asunción – Paraguay · Septiembre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Contenido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Problema y justificación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Objetivos e hipótesis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Marco: la transformada Top-Hat y la fusión clásica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Propuesta novedosa: banco de elementos estructurantes y suma de ramas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 Optimización de hiperparámetros por PSO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 Diseño experimental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 Resultados: cualitativos, cuantitativos y estadísticos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 Evaluación orientada a tarea: detección en LLVIP</a:t>
            </a:r>
            <a:endParaRPr lang="en-US" sz="15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 Conclusiones y recomendaciones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Problema y justificación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visible (VIS) aporta detalle y textura, pero se degrada en baja iluminación.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sensor infrarrojo (IR) capta la firma térmica (personas, vehículos), pero pierde el contexto de la escena.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a nivel de píxel integra ambas fuentes en una sola imagen útil para vigilancia nocturna.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métodos multiescala (pirámides, wavelets, curvelets) son efectivos pero pueden introducir artefactos.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morfología matemática permite un operador de una sola escala: interpretable, de bajo costo y con pocos artefactos.</a:t>
            </a:r>
            <a:endParaRPr lang="en-US" sz="1350" dirty="0"/>
          </a:p>
        </p:txBody>
      </p:sp>
      <p:pic>
        <p:nvPicPr>
          <p:cNvPr id="5" name="Image 0" descr="C:/Users/Usuario/Documents/unv/mastertesis/tesis_mciencias_datos/docs/figures/ejemplo_modalid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63240"/>
            <a:ext cx="7863840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Objetivos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7043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Desarrollar y evaluar un método de fusión VIS/IR basado en transformadas Top-Hat de una sola escala, con un banco de elementos estructurantes de disco y líneas combinado por suma, optimizado por PSO, comparándolo con la metodología clásica Top-Hat y con métodos representativos del estado del arte.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103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Objetivos específicos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Formular el operador: disco de radio r + cuatro líneas orientadas (0°, 45°, 90°, 135°), con las respuestas lineales promediadas y sumadas a la del disco.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Ajustar los hiperparámetros (r, m) mediante PSO, con un barrido de 25 configuraciones del enjambre (Ortega y Espinoza, 2025).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Comparar con la fusión Top-Hat clásica y cinco métodos del estado del arte (LP, RP, DWT, DTCWT, CVT) sobre doce métricas, con pruebas de Friedman y Wilcoxon–Holm.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el efecto en detección de peatones (YOLOv8n reentrenado sobre LLVIP).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Hipótesis de trabajo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105156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combinación del disco con las líneas orientadas —promediadas y sumadas— mejora la fidelidad estructural (SSIM) y reduce los artefactos (Nabf) frente a la metodología clásica de fusión Top-Hat.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57200" y="225856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80160" y="2258568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optimización de (r, m) por PSO alcanza un desempeño superior al de la parametrización manual del operador clásico.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7200" y="346557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80160" y="3465576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mejor calidad de fusión se traduce en un mejor desempeño de detección de objetos (mAP) que el de las modalidades individuales.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La transformada Top-Hat y la fusión clásica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White Top-Hat (WTH): extrae las estructuras claras más pequeñas que el elemento estructurante B.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Black Top-Hat (BTH): extrae las estructuras oscuras correspondientes.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Fusión clásica: un único disco (r = 5), máximo entre fuentes y reconstrucción sin ponderación (m = 1).</a:t>
            </a:r>
            <a:endParaRPr lang="en-US" sz="1300" dirty="0"/>
          </a:p>
        </p:txBody>
      </p:sp>
      <p:pic>
        <p:nvPicPr>
          <p:cNvPr id="5" name="Image 0" descr="C:/Users/Usuario/Documents/unv/mastertesis/tesis_mciencias_datos/docs/figures/fig_morfologia_top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914400"/>
            <a:ext cx="3657600" cy="1792224"/>
          </a:xfrm>
          <a:prstGeom prst="rect">
            <a:avLst/>
          </a:prstGeom>
        </p:spPr>
      </p:pic>
      <p:pic>
        <p:nvPicPr>
          <p:cNvPr id="6" name="Image 1" descr="C:\Users\Usuario\AppData\Local\Temp\claude\C--Users-Usuario-Documents-unv-mastertesis\fa0a2acc-a0da-4701-a920-18b20c70d3b2\scratchpad\pptx_build/assets/f_top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971800"/>
            <a:ext cx="3566160" cy="31089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120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 = I_base + WTH_máx − BTH_máx      (apertura ∘, cierre •)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base I_base es el promedio de las fuentes; el detalle se reinyecta sobre ella.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Propuesta novedosa: banco de SE y suma de ramas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18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flujo_propues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777240"/>
            <a:ext cx="3246120" cy="4206240"/>
          </a:xfrm>
          <a:prstGeom prst="rect">
            <a:avLst/>
          </a:prstGeom>
        </p:spPr>
      </p:pic>
      <p:pic>
        <p:nvPicPr>
          <p:cNvPr id="5" name="Image 1" descr="C:/Users/Usuario/Documents/unv/mastertesis/tesis_mciencias_datos/docs/figures/fig_cinco_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868680"/>
            <a:ext cx="4754880" cy="95097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3977640" y="20574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sola escala (sin cascada multiescala).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Promedio de las 4 orientaciones lineales (ec. 7) + respuesta del disco (ec. 8).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Novedad: suma de la rama lineal y la del disco (en lugar del máximo).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Máximo entre fuentes (ec. 10) y reconstrucción ponderada con m (ec. 11).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Esquema de Bala et al. (2024), trasladado del realce de fondo de ojo a la fusión VIS/IR.</a:t>
            </a:r>
            <a:endParaRPr lang="en-US" sz="1200" dirty="0"/>
          </a:p>
        </p:txBody>
      </p:sp>
      <p:pic>
        <p:nvPicPr>
          <p:cNvPr id="7" name="Image 2" descr="C:\Users\Usuario\AppData\Local\Temp\claude\C--Users-Usuario-Documents-unv-mastertesis\fa0a2acc-a0da-4701-a920-18b20c70d3b2\scratchpad\pptx_build/assets/f_su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4343400"/>
            <a:ext cx="4480560" cy="3264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Optimización por enjambre de partículas (PSO)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optimizan dos hiperparámetros: r (radio del disco y largo 2r+1 de las líneas) y m (peso del realce).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Aptitud orientada a la fusión (cuatro métricas de calidad):</a:t>
            </a:r>
            <a:endParaRPr lang="en-US" sz="1300" dirty="0"/>
          </a:p>
        </p:txBody>
      </p:sp>
      <p:pic>
        <p:nvPicPr>
          <p:cNvPr id="5" name="Image 0" descr="C:\Users\Usuario\AppData\Local\Temp\claude\C--Users-Usuario-Documents-unv-mastertesis\fa0a2acc-a0da-4701-a920-18b20c70d3b2\scratchpad\pptx_build/assets/f_aptitu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8840"/>
            <a:ext cx="3840480" cy="4398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88036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Barrido de 25 configuraciones del enjambre: partículas 2–10 × iteraciones 10–50 (réplica de Ortega y Espinoza, 2025).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Óptimo: r = 25, m = 0,0703 (F = 1,9843), alcanzado de forma consistente con n = 10 y T ≥ 30.</a:t>
            </a:r>
            <a:endParaRPr lang="en-US" sz="1300" dirty="0"/>
          </a:p>
        </p:txBody>
      </p:sp>
      <p:pic>
        <p:nvPicPr>
          <p:cNvPr id="7" name="Image 1" descr="C:\Users\Usuario\AppData\Local\Temp\claude\C--Users-Usuario-Documents-unv-mastertesis\fa0a2acc-a0da-4701-a920-18b20c70d3b2\scratchpad\pptx_build/assets/pso_barr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3657600" cy="23500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292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ω: 0,9 → 0,4 · c₁ = c₂ = 1,5 · r ∈ [1, 25] · m ∈ [0,05; 1,20]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Ablación de la función de aptitud (pedido de la revisión)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18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fig_aptitud_vs_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51560"/>
            <a:ext cx="5212080" cy="27340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60720" y="10515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Mismo barrido 5×5 con la Fo del trabajo de referencia (SSIM_avg + E_n + PSNR_n) y su rango m ∈ [0,3–2,0].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las 50 corridas, m* = 0,30: el piso del rango.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tres curvas decrecen en [0,5–2]: ningún tamaño de enjambre ni número de iteraciones puede converger allí.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máximo real de Fo sobre la propuesta está en m ≈ 0,07 — coincide con nuestro óptimo (0,0703).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Sobre la propuesta, Fo elige r = 1 (óptimo trivial); sobre el clásico, r = 25 con 4,5× más artefactos que F_apt.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Ambas aptitudes acuerdan el peso del operador con suma; la orientada a la fusión controla además los artefactos (refuerza H2).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Diseño experimental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de calidad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20 pares VIS/IR del dataset TNO (Toet, 2014).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métodos: LP, RP, DWT, DTCWT, CVT, Top-Hat clásico y Propuesta → 140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métricas sin referencia (+ 4 descriptivas del review de Singh et al., 2023).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 global + Wilcoxon pareado con corrección de Holm (α = 0,05).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846320" y="8686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Evaluación orientada a tarea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846320" y="118872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etiquetado LLVIP (peatones nocturnos): 2.000 imágenes de entrenamiento y 500 de validación.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YOLOv8n reentrenado por modalidad (40 épocas), 9 entradas: VIS, IR y las 7 fusiones.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Etiquetas idénticas entre modalidades: la diferencia de mAP aísla el efecto del método de fusión.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Resultados cualitativos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18</a:t>
            </a:r>
            <a:endParaRPr lang="en-US" sz="900" dirty="0"/>
          </a:p>
        </p:txBody>
      </p:sp>
      <p:pic>
        <p:nvPicPr>
          <p:cNvPr id="4" name="Image 0" descr="C:/Users/Usuario/Documents/unv/mastertesis/tesis_mciencias_datos/docs/figures/cualitativas/montaj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792" y="777240"/>
            <a:ext cx="5623560" cy="40050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2803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Los 20 montajes por escena están disponibles en el repositorio (docs/figures/cualitativas/).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Resultados cuantitativos — medias sobre 20 pares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/ 18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42416"/>
                <a:gridCol w="1042416"/>
                <a:gridCol w="1042416"/>
                <a:gridCol w="1042416"/>
                <a:gridCol w="1042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Método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Qabf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Nabf ↓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SSIM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SCD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VIF ↑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Pirámide de Laplace (LP)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0,442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0,108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0,410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Ratio Pyramid (RP)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0,212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0,384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Wavelet discreta (DWT)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0,490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0,229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0,716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0,303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DTCWT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0,151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0,739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Curvelet (CVT)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0,476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0,192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0,730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1,321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0,307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Top-Hat clásico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0,305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0,585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0,578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1,360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0,334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Propuesta Novedosa (r=25; m=0,070)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0,500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0,041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B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0,782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1,450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0,368</a:t>
                      </a:r>
                      <a:endParaRPr lang="en-US" sz="12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947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logra la menor tasa de artefactos del estudio (Nabf = 0,041; 2,7 veces menos que el mejor rival) y la mayor similitud estructural (SSIM = 0,782).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 segunda en Qabf, SCD y VIF, a milésimas del líder de cada métrica; cede en contraste bruto (EN, SD).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Análisis estadístico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Friedman: diferencias significativas en las 12 métricas (p &lt; 0,05).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Wilcoxon pareado (corrección de Holm), Propuesta vs. los 5 métodos del estado del arte: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Nabf: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SSIM: mejor y significativa frente a los 5 rivales.</a:t>
            </a:r>
            <a:endParaRPr lang="en-US" sz="1300" dirty="0"/>
          </a:p>
          <a:p>
            <a:pPr lvl="1" marL="304800" indent="-152400"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SCD y VIF: mejor y significativa frente a 3 de 5; Qabf frente a 2 de 5.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al Top-Hat clásico, la propuesta mejora en todas las métricas de calidad de fusión (Qabf 0,500 vs 0,305 · Nabf 0,041 vs 0,585 · SSIM 0,782 vs 0,578).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Ranking global (12 métricas): LP 3,17 · RP 3,50 · DTCWT 3,58 · Propuesta 3,92 · TH clásico 4,17 · DWT 4,75 · CVT 4,92 — óptimos de criterios distintos y complementarios.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Detección en LLVIP — mAP@0,5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 / 18</a:t>
            </a:r>
            <a:endParaRPr lang="en-US" sz="900" dirty="0"/>
          </a:p>
        </p:txBody>
      </p:sp>
      <p:pic>
        <p:nvPicPr>
          <p:cNvPr id="4" name="Image 0" descr="C:\Users\Usuario\AppData\Local\Temp\claude\C--Users-Usuario-Documents-unv-mastertesis\fa0a2acc-a0da-4701-a920-18b20c70d3b2\scratchpad\pptx_build/assets/map_llv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822960"/>
            <a:ext cx="6766560" cy="30998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023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 fusión supera con claridad al visible solo (+0,12 a +0,14 en mAP@0,5).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infrarrojo solo lidera (0,957): en peatones nocturnos la firma térmica domina.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Entre las 7 fusiones la banda es estrecha (0,926–0,949); la propuesta es competitiva (0,936), pareja con el clásico (0,938).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Contraste de hipótesis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H1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3000" y="99669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697480" y="960120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banco disco + líneas con suma de ramas mejora SSIM (0,782 vs 0,578) y reduce Nabf (0,041 vs 0,585) frente al Top-Hat clásico, con significancia estadística (Wilcoxon–Holm).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225856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2951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5C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SOSTENIDA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697480" y="2258568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configuración hallada por PSO (r = 25; m = 0,0703) supera a la parametrización manual del operador clásico (r = 5; m = 1) en todas las métricas de calidad de fusión.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5570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H3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5935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PARCIAL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557016"/>
            <a:ext cx="5989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fusión supera al visible solo en detección, pero ninguna fusión supera al infrarrojo solo; la mejor calidad de imagen no garantiza el mejor mAP.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Conclusiones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 formuló e implementó de forma reproducible un operador Top-Hat de una sola escala con banco de disco + líneas orientadas y suma de ramas.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 barrido PSO de 25 configuraciones halló el óptimo r = 25, m = 0,0703 (F = 1,9843) de manera consistente.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propuesta exhibe el mejor perfil de calidad del benchmark: menor Nabf y mayor SSIM, con significancia estadística; segunda en Qabf, SCD y VIF.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Frente a la metodología clásica Top-Hat, mejora todas las métricas de calidad de fusión: el banco de SE y el ajuste automático aportan valor real.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 detección, la superioridad en calidad de imagen no se traslada automáticamente al mAP: la elección del método debe guiarse por el criterio operativo prioritario.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Recomendaciones y trabajo futuro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8229600" y="482803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 / 18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Extender la evaluación de detección a otros detectores y al conjunto completo de LLVIP.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Explorar reglas de fusión adaptativas para la rama Black Top-Hat.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Complementar las métricas objetivas con una validación perceptual por observadores.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Evaluar la transferencia a otros dominios (imágenes médicas, aéreas).</a:t>
            </a:r>
            <a:endParaRPr lang="en-US" sz="13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 aplicaciones donde los artefactos son críticos (interpretación humana, diagnóstico), la propuesta es la opción recomendada; donde prima el contraste bruto, LP sigue siendo competitiva.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Muchas gracias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Preguntas y comentarios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Código y experimentos reproducibles:  github.com/YanBajac/TFM_Fusion_Imagenes_Propuesta_Oficial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Lic. Juan Pablo Bazán  ·  Ing. Yan Bajac  —  Orientador: D.Sc. Julio César Mello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2026-07-21T18:30:42Z</dcterms:created>
  <dcterms:modified xsi:type="dcterms:W3CDTF">2026-07-21T18:30:42Z</dcterms:modified>
</cp:coreProperties>
</file>