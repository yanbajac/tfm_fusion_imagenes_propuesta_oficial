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bloques, no dos: el benchmark de calidad, los cuatro controles de la auditoría y los dos experimentos de detección. Antes esta lámina proyectaba sólo dos, así que el segundo aporte que la lámina 4 promete no tenía diseño experimental a la vista.</a:t>
            </a:r>
          </a:p>
          <a:p/>
          <a:p>
            <a:r>
              <a:t>En LLVIP sólo cambian los píxeles de entrada; las etiquetas son las mismas, así el mAP atribuye el efecto a la fusión.</a:t>
            </a:r>
          </a:p>
          <a:p/>
          <a:p>
            <a:r>
              <a:t>Declarar de entrada las limitaciones del pie —CVT como wavelet db4, las series de tomas de la misma escena, la ausencia de partición de prueba y la única semilla— porque son las cuatro primeras preguntas previsibles de la mesa. Es mejor decirlas antes de que las pregunten.</a:t>
            </a:r>
          </a:p>
          <a:p/>
          <a:p>
            <a:r>
              <a:t>Si preguntan cuántas escenas distintas son: hay series de hasta tres tomas de la misma escena (APC 1, APC 3 y soldier behind smoke, tres cada una), y las dos de soldier in trench son sesiones de medición distintas. Según se cuenten esas dos, son 13 o 14 escenas. No se proyecta un número porque el criterio de agrupamiento no está versionado; lo que sí está verificado es que las conclusiones se sostienen agregando por escena.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+0,214, p = 0,645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 +0,214 es con las nueve métricas reportadas sobre el mAP@0,5 de LLVIP, y ninguno de los cuatro contrastes con esas nueve alcanza significancia.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Siete conclusiones: las tres primeras son el primer aporte —dirección del desplazamiento, primer lugar bajo el criterio de referencia y aporte del banco aislado— y las cuatro siguientes el segundo: el orden es del criterio, la batería no discrimina ruido, la optimización no determina la configuración y la calidad no predice la utilidad.</a:t>
            </a:r>
          </a:p>
          <a:p/>
          <a:p>
            <a:r>
              <a:t>No decir «óptimo hallado»: la optimización no lo fija, y eso es H5. Dentro del rango publicado el máximo de la aptitud está en r = 1 (1,7350) contra 1,7057 en r = 25, y el peso queda en el piso en 499 de las 500 corridas. El r = 25 lo elige la batería de evaluación.</a:t>
            </a:r>
          </a:p>
          <a:p/>
          <a:p>
            <a:r>
              <a:t>En la conclusión 2, cuidado con la cifra: a peso igualado son 3,528 frente a 3,694. El «gana por 0,683» que circuló en el plan del deck viene de un cálculo que metía al Top-Hat clásico dos veces en el pool y diluía los siete rangos. No usarlo.</a:t>
            </a:r>
          </a:p>
          <a:p/>
          <a:p>
            <a:r>
              <a:t>Cerrar con el aporte metodológico, que es lo único de esta tesis transferible a cualquier trabajo de fusión, y que es también el puente a la lámina siguiente.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endParaRPr lang="en-US" sz="1200" dirty="0"/>
            <a:r>
              <a:rPr lang="en-US" sz="1100" dirty="0">
                <a:solidFill>
                  <a:srgbClr val="1A1A1A"/>
                </a:solidFill>
                <a:latin typeface="Times New Roman" pitchFamily="34" charset="0"/>
                <a:ea typeface="Times New Roman" pitchFamily="34" charset="-122"/>
                <a:cs typeface="Times New Roman" pitchFamily="34" charset="-120"/>
              </a:rPr>
              <a:t>Una sola escala (sin cascada multiescala).</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 (esquema de Bala et al., 2024, trasladado del realce de fondo de ojo a la fusión VIS/IR).</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Máximo entre fuentes (ec. 10) —no entre las ramas del banco— y reconstrucción ponderada con m sobre I_base = (VIS + IR)/2 (ec. 11).</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El aporte de la suma se aísla en la ablación con (r, m) igualados: es el mejor de los seis brazos con las nueve métricas y el cuarto con las diecisiete, y duplica la tasa de artefactos del disco único (Nabf 0,374 frente a 0,185). Lámina 16.</a:t>
            </a:r>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 (OE2 / H5)</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620000"/>
            <a:ext cx="43500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 La aptitud se promedia sobre 3 de las 20 escenas, que también integran el conjunto de evaluación: no hay partición separada para el ajuste.</a:t>
            </a:r>
            <a:endParaRPr lang="en-US" sz="1300" dirty="0"/>
          </a:p>
          <a:p>
            <a:pPr marL="177800" indent="-177800">
              <a:spcAft>
                <a:spcPts val="8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dentro del rango el máximo de la aptitud está en r = 1.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685800"/>
          </a:xfrm>
          <a:prstGeom prst="rect">
            <a:avLst/>
          </a:prstGeom>
          <a:noFill/>
          <a:ln/>
        </p:spPr>
        <p:txBody>
          <a:bodyPr wrap="square" lIns="0" tIns="0" rIns="0" bIns="0" rtlCol="0" anchor="ctr"/>
          <a:lstStyle/>
          <a:p>
            <a:pPr algn="ctr" indent="0" marL="0">
              <a:buNone/>
            </a:pPr>
            <a:endParaRPr lang="en-US" sz="1100" dirty="0"/>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p>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Dentro del rango publicado, no aplicar el operador puntúa mejor que aplicarlo: la base (VIS + IR)/2 obtiene F_o = 1,7583, por encima de 1,7350 y de 1,7057. Con el peso libre la relación se invierte (1,7715 con m = 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txBox="1"/>
          <p:nvPr/>
        </p:nvSpPr>
        <p:spPr>
          <a:xfrm>
            <a:off x="4572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Benchmark de calidad</a:t>
            </a:r>
          </a:p>
        </p:txBody>
      </p:sp>
      <p:sp>
        <p:nvSpPr>
          <p:cNvPr id="5" name="Text 3"/>
          <p:cNvSpPr txBox="1"/>
          <p:nvPr/>
        </p:nvSpPr>
        <p:spPr>
          <a:xfrm>
            <a:off x="4572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20 pares VIS/IR del dataset TNO (Toet, 2017). No son 20 escenas independientes: hay series de hasta tres tomas de la misma escena.</a:t>
            </a:r>
          </a:p>
          <a:p>
            <a:pPr>
              <a:spcAft>
                <a:spcPts val="400"/>
              </a:spcAft>
            </a:pPr>
            <a:r>
              <a:rPr sz="1050" b="0">
                <a:solidFill>
                  <a:srgbClr val="1A1A1A"/>
                </a:solidFill>
                <a:latin typeface="Times New Roman"/>
              </a:rPr>
              <a:t>7 métodos: LP, RP, DWT, DTCWT, CVT (aprox. wavelet db4), Top-Hat clásico y Propuesta → 140 fusiones.</a:t>
            </a:r>
          </a:p>
          <a:p>
            <a:pPr>
              <a:spcAft>
                <a:spcPts val="400"/>
              </a:spcAft>
            </a:pPr>
            <a:r>
              <a:rPr sz="1050" b="0">
                <a:solidFill>
                  <a:srgbClr val="1A1A1A"/>
                </a:solidFill>
                <a:latin typeface="Times New Roman"/>
              </a:rPr>
              <a:t>Nueve métricas sin imagen de referencia (EN, SD, FE, MG, MI_vis, MI_ir, SF, SSIM, PSNR). SSIM y PSNR se calculan contra las fuentes.</a:t>
            </a:r>
          </a:p>
          <a:p>
            <a:pPr>
              <a:spcAft>
                <a:spcPts val="400"/>
              </a:spcAft>
            </a:pPr>
            <a:r>
              <a:rPr sz="1050" b="0">
                <a:solidFill>
                  <a:srgbClr val="1A1A1A"/>
                </a:solidFill>
                <a:latin typeface="Times New Roman"/>
              </a:rPr>
              <a:t>Friedman global + Wilcoxon pareado con corrección de Holm (α = 0,05).</a:t>
            </a:r>
          </a:p>
        </p:txBody>
      </p:sp>
      <p:sp>
        <p:nvSpPr>
          <p:cNvPr id="6" name="Text 4"/>
          <p:cNvSpPr txBox="1"/>
          <p:nvPr/>
        </p:nvSpPr>
        <p:spPr>
          <a:xfrm>
            <a:off x="32720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Controles de la auditoría</a:t>
            </a:r>
          </a:p>
        </p:txBody>
      </p:sp>
      <p:sp>
        <p:nvSpPr>
          <p:cNvPr id="7" name="Text 5"/>
          <p:cNvSpPr txBox="1"/>
          <p:nvPr/>
        </p:nvSpPr>
        <p:spPr>
          <a:xfrm>
            <a:off x="32720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Control negativo: siete entradas degradadas añadidas al ranking —la imagen base sin operador, cuatro fusiones de ruido gaussiano (σ = 0,02 / 0,05 / 0,10 / 0,20) y dos desenfoques (5×5 y 11×11)—, con lo que el ranking pasa a 14 entradas.</a:t>
            </a:r>
          </a:p>
          <a:p>
            <a:pPr>
              <a:spcAft>
                <a:spcPts val="400"/>
              </a:spcAft>
            </a:pPr>
            <a:r>
              <a:rPr sz="1050" b="0">
                <a:solidFill>
                  <a:srgbClr val="1A1A1A"/>
                </a:solidFill>
                <a:latin typeface="Times New Roman"/>
              </a:rPr>
              <a:t>Ablación del banco con (r, m) = (25; 0,30) fijos en seis brazos que sólo difieren en cómo se combinan las respuestas morfológicas.</a:t>
            </a:r>
          </a:p>
          <a:p>
            <a:pPr>
              <a:spcAft>
                <a:spcPts val="400"/>
              </a:spcAft>
            </a:pPr>
            <a:r>
              <a:rPr sz="1050" b="0">
                <a:solidFill>
                  <a:srgbClr val="1A1A1A"/>
                </a:solidFill>
                <a:latin typeface="Times New Roman"/>
              </a:rPr>
              <a:t>Ajuste simétrico: el mismo tipo de barrido concedido a los cinco comparativos y al Top-Hat clásico.</a:t>
            </a:r>
          </a:p>
          <a:p>
            <a:pPr>
              <a:spcAft>
                <a:spcPts val="400"/>
              </a:spcAft>
            </a:pPr>
            <a:r>
              <a:rPr sz="1050" b="0">
                <a:solidFill>
                  <a:srgbClr val="1A1A1A"/>
                </a:solidFill>
                <a:latin typeface="Times New Roman"/>
              </a:rPr>
              <a:t>Sensibilidad del criterio: el mismo ranking con las diecisiete métricas que el evaluador ya computa (nueve + Qabf, Nabf, SCD, VIF, FMI, Q0, QW, QE).</a:t>
            </a:r>
          </a:p>
        </p:txBody>
      </p:sp>
      <p:sp>
        <p:nvSpPr>
          <p:cNvPr id="8" name="Text 6"/>
          <p:cNvSpPr txBox="1"/>
          <p:nvPr/>
        </p:nvSpPr>
        <p:spPr>
          <a:xfrm>
            <a:off x="60868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Evaluación en tarea (dos experimentos)</a:t>
            </a:r>
          </a:p>
        </p:txBody>
      </p:sp>
      <p:sp>
        <p:nvSpPr>
          <p:cNvPr id="9" name="Text 7"/>
          <p:cNvSpPr txBox="1"/>
          <p:nvPr/>
        </p:nvSpPr>
        <p:spPr>
          <a:xfrm>
            <a:off x="60868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LLVIP (peatones nocturnos): 2.000 imágenes de entrenamiento y 500 de validación. YOLOv8n reentrenado por modalidad (40 épocas), 9 entradas: VIS, IR y las 7 fusiones.</a:t>
            </a:r>
          </a:p>
          <a:p>
            <a:pPr>
              <a:spcAft>
                <a:spcPts val="400"/>
              </a:spcAft>
            </a:pPr>
            <a:r>
              <a:rPr sz="1050" b="0">
                <a:solidFill>
                  <a:srgbClr val="1A1A1A"/>
                </a:solidFill>
                <a:latin typeface="Times New Roman"/>
              </a:rPr>
              <a:t>Etiquetas idénticas entre modalidades: la diferencia de mAP atribuye el efecto al método de fusión.</a:t>
            </a:r>
          </a:p>
          <a:p>
            <a:pPr>
              <a:spcAft>
                <a:spcPts val="400"/>
              </a:spcAft>
            </a:pPr>
            <a:r>
              <a:rPr sz="1050" b="0">
                <a:solidFill>
                  <a:srgbClr val="1A1A1A"/>
                </a:solidFill>
                <a:latin typeface="Times New Roman"/>
              </a:rPr>
              <a:t>M3FD (clases de visibilidad opuesta: personas/IR y luces/VIS): detector único VIS+IR y conteo por escena sobre 232 escenas con ambas clases, 90 de ellas críticas.</a:t>
            </a:r>
          </a:p>
        </p:txBody>
      </p:sp>
      <p:sp>
        <p:nvSpPr>
          <p:cNvPr id="10" name="Text 8"/>
          <p:cNvSpPr txBox="1"/>
          <p:nvPr/>
        </p:nvSpPr>
        <p:spPr>
          <a:xfrm>
            <a:off x="457200" y="4320000"/>
            <a:ext cx="8229600" cy="600000"/>
          </a:xfrm>
          <a:prstGeom prst="rect">
            <a:avLst/>
          </a:prstGeom>
          <a:noFill/>
        </p:spPr>
        <p:txBody>
          <a:bodyPr wrap="square" anchor="t" lIns="0" rIns="0" tIns="0" bIns="0">
            <a:spAutoFit/>
          </a:bodyPr>
          <a:lstStyle/>
          <a:p>
            <a:pPr>
              <a:spcAft>
                <a:spcPts val="400"/>
              </a:spcAft>
            </a:pPr>
            <a:r>
              <a:rPr sz="900" b="0">
                <a:solidFill>
                  <a:srgbClr val="666666"/>
                </a:solidFill>
                <a:latin typeface="Times New Roman"/>
              </a:rPr>
              <a:t>Limitaciones declaradas: CVT es una aproximación de tipo curvelet con wavelet 2D db4, no la transformada curvelet, de modo que los cinco comparativos cubren cuatro familias; los 20 pares incluyen series de tomas de la misma escena, y las conclusiones se verificaron agregando por escena; LLVIP no tiene partición de prueba separada de la de selección, y se reporta el checkpoint final; y los experimentos de detección usan una sola semilla, por lo que diferencias de milésimas entre métodos no son distinguibles.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sp>
        <p:nvSpPr>
          <p:cNvPr id="5" name="Text 2"/>
          <p:cNvSpPr/>
          <p:nvPr/>
        </p:nvSpPr>
        <p:spPr>
          <a:xfrm>
            <a:off x="457200" y="3620000"/>
            <a:ext cx="8229600" cy="1097280"/>
          </a:xfrm>
          <a:prstGeom prst="rect">
            <a:avLst/>
          </a:prstGeom>
          <a:noFill/>
          <a:ln/>
        </p:spPr>
        <p:txBody>
          <a:bodyPr wrap="square" lIns="0" tIns="0" rIns="0" bIns="0" rtlCol="0" anchor="t"/>
          <a:lstStyle/>
          <a:p>
            <a:pPr marL="177800" indent="-177800">
              <a:spcAft>
                <a:spcPts val="500"/>
              </a:spcAft>
              <a:buSzPct val="100000"/>
              <a:buChar char="•"/>
            </a:pPr>
            <a:r>
              <a:rPr sz="1250">
                <a:solidFill>
                  <a:srgbClr val="1A1A1A"/>
                </a:solidFill>
                <a:latin typeface="Times New Roman"/>
              </a:rPr>
              <a:t>Ninguna fila domina. La propuesta lidera la entropía y con ella la eficiencia de fusión, que es esa misma entropía reescalada por una constante por escena y no una dimensión independiente; y queda segunda en contraste, gradiente medio y frecuencia espacial, detrás del Top-Hat clásico en las dos últimas.</a:t>
            </a:r>
            <a:endParaRPr lang="en-US" sz="1250" dirty="0"/>
          </a:p>
          <a:p>
            <a:pPr marL="177800" indent="-177800">
              <a:spcAft>
                <a:spcPts val="500"/>
              </a:spcAft>
              <a:buSzPct val="100000"/>
              <a:buChar char="•"/>
            </a:pPr>
            <a:r>
              <a:rPr sz="1250">
                <a:solidFill>
                  <a:srgbClr val="1A1A1A"/>
                </a:solidFill>
                <a:latin typeface="Times New Roman"/>
              </a:rPr>
              <a:t>Cede las cuatro métricas de fidelidad, lideradas por los multiescala. No hay dominancia global: hay un punto de operación desplazado. En el ranking de rangos medios intra-bloque de las nueve métricas la propuesta es 1.ª de 7 (3,394), por delante de la pirámide de Laplace (3,911) y del Top-Hat clásico (3,944) — bajo este criterio.</a:t>
            </a:r>
          </a:p>
        </p:txBody>
      </p:sp>
      <p:graphicFrame>
        <p:nvGraphicFramePr>
          <p:cNvPr id="6" name="Table 0"/>
          <p:cNvGraphicFramePr>
            <a:graphicFrameLocks noGrp="1"/>
          </p:cNvGraphicFramePr>
          <p:nvPr/>
        </p:nvGraphicFramePr>
        <p:xfrm>
          <a:off x="457200" y="1050000"/>
          <a:ext cx="8229593" cy="2487168"/>
        </p:xfrm>
        <a:graphic>
          <a:graphicData uri="http://schemas.openxmlformats.org/drawingml/2006/table">
            <a:tbl>
              <a:tblPr firstRow="1" bandRow="1">
                <a:tableStyleId>{5C22544A-7EE6-4342-B048-85BDC9FD1C3A}</a:tableStyleId>
              </a:tblPr>
              <a:tblGrid>
                <a:gridCol w="2000000"/>
                <a:gridCol w="692177"/>
                <a:gridCol w="692177"/>
                <a:gridCol w="692177"/>
                <a:gridCol w="692177"/>
                <a:gridCol w="692177"/>
                <a:gridCol w="692177"/>
                <a:gridCol w="692177"/>
                <a:gridCol w="692177"/>
                <a:gridCol w="692177"/>
              </a:tblGrid>
              <a:tr h="310896">
                <a:tc>
                  <a:txBody>
                    <a:bodyPr/>
                    <a:lstStyle/>
                    <a:p>
                      <a:pPr algn="l"/>
                      <a:r>
                        <a:rPr sz="1000" b="1">
                          <a:solidFill>
                            <a:srgbClr val="1A1A1A"/>
                          </a:solidFill>
                          <a:latin typeface="Times New Roman"/>
                        </a:rPr>
                        <a:t>Método</a:t>
                      </a:r>
                    </a:p>
                  </a:txBody>
                  <a:tcPr anchor="ctr" marL="45720" marR="45720" marT="45720" marB="45720">
                    <a:solidFill>
                      <a:srgbClr val="F2F2F2"/>
                    </a:solidFill>
                  </a:tcPr>
                </a:tc>
                <a:tc>
                  <a:txBody>
                    <a:bodyPr/>
                    <a:lstStyle/>
                    <a:p>
                      <a:pPr algn="ctr"/>
                      <a:r>
                        <a:rPr sz="1000" b="1">
                          <a:solidFill>
                            <a:srgbClr val="1A1A1A"/>
                          </a:solidFill>
                          <a:latin typeface="Times New Roman"/>
                        </a:rPr>
                        <a:t>EN ↑</a:t>
                      </a:r>
                    </a:p>
                  </a:txBody>
                  <a:tcPr anchor="ctr" marL="45720" marR="45720" marT="45720" marB="45720">
                    <a:solidFill>
                      <a:srgbClr val="F2F2F2"/>
                    </a:solidFill>
                  </a:tcPr>
                </a:tc>
                <a:tc>
                  <a:txBody>
                    <a:bodyPr/>
                    <a:lstStyle/>
                    <a:p>
                      <a:pPr algn="ctr"/>
                      <a:r>
                        <a:rPr sz="1000" b="1">
                          <a:solidFill>
                            <a:srgbClr val="1A1A1A"/>
                          </a:solidFill>
                          <a:latin typeface="Times New Roman"/>
                        </a:rPr>
                        <a:t>SD ↑</a:t>
                      </a:r>
                    </a:p>
                  </a:txBody>
                  <a:tcPr anchor="ctr" marL="45720" marR="45720" marT="45720" marB="45720">
                    <a:solidFill>
                      <a:srgbClr val="F2F2F2"/>
                    </a:solidFill>
                  </a:tcPr>
                </a:tc>
                <a:tc>
                  <a:txBody>
                    <a:bodyPr/>
                    <a:lstStyle/>
                    <a:p>
                      <a:pPr algn="ctr"/>
                      <a:r>
                        <a:rPr sz="1000" b="1">
                          <a:solidFill>
                            <a:srgbClr val="1A1A1A"/>
                          </a:solidFill>
                          <a:latin typeface="Times New Roman"/>
                        </a:rPr>
                        <a:t>FE ↑</a:t>
                      </a:r>
                    </a:p>
                  </a:txBody>
                  <a:tcPr anchor="ctr" marL="45720" marR="45720" marT="45720" marB="45720">
                    <a:solidFill>
                      <a:srgbClr val="F2F2F2"/>
                    </a:solidFill>
                  </a:tcPr>
                </a:tc>
                <a:tc>
                  <a:txBody>
                    <a:bodyPr/>
                    <a:lstStyle/>
                    <a:p>
                      <a:pPr algn="ctr"/>
                      <a:r>
                        <a:rPr sz="1000" b="1">
                          <a:solidFill>
                            <a:srgbClr val="1A1A1A"/>
                          </a:solidFill>
                          <a:latin typeface="Times New Roman"/>
                        </a:rPr>
                        <a:t>MG ↑</a:t>
                      </a:r>
                    </a:p>
                  </a:txBody>
                  <a:tcPr anchor="ctr" marL="45720" marR="45720" marT="45720" marB="45720">
                    <a:solidFill>
                      <a:srgbClr val="F2F2F2"/>
                    </a:solidFill>
                  </a:tcPr>
                </a:tc>
                <a:tc>
                  <a:txBody>
                    <a:bodyPr/>
                    <a:lstStyle/>
                    <a:p>
                      <a:pPr algn="ctr"/>
                      <a:r>
                        <a:rPr sz="1000" b="1">
                          <a:solidFill>
                            <a:srgbClr val="1A1A1A"/>
                          </a:solidFill>
                          <a:latin typeface="Times New Roman"/>
                        </a:rPr>
                        <a:t>SF ↑</a:t>
                      </a:r>
                    </a:p>
                  </a:txBody>
                  <a:tcPr anchor="ctr" marL="45720" marR="45720" marT="45720" marB="45720">
                    <a:solidFill>
                      <a:srgbClr val="F2F2F2"/>
                    </a:solidFill>
                  </a:tcPr>
                </a:tc>
                <a:tc>
                  <a:txBody>
                    <a:bodyPr/>
                    <a:lstStyle/>
                    <a:p>
                      <a:pPr algn="ctr"/>
                      <a:r>
                        <a:rPr sz="1000" b="1">
                          <a:solidFill>
                            <a:srgbClr val="1A1A1A"/>
                          </a:solidFill>
                          <a:latin typeface="Times New Roman"/>
                        </a:rPr>
                        <a:t>MI_vis ↑</a:t>
                      </a:r>
                    </a:p>
                  </a:txBody>
                  <a:tcPr anchor="ctr" marL="45720" marR="45720" marT="45720" marB="45720">
                    <a:solidFill>
                      <a:srgbClr val="E2E2E2"/>
                    </a:solidFill>
                  </a:tcPr>
                </a:tc>
                <a:tc>
                  <a:txBody>
                    <a:bodyPr/>
                    <a:lstStyle/>
                    <a:p>
                      <a:pPr algn="ctr"/>
                      <a:r>
                        <a:rPr sz="1000" b="1">
                          <a:solidFill>
                            <a:srgbClr val="1A1A1A"/>
                          </a:solidFill>
                          <a:latin typeface="Times New Roman"/>
                        </a:rPr>
                        <a:t>MI_ir ↑</a:t>
                      </a:r>
                    </a:p>
                  </a:txBody>
                  <a:tcPr anchor="ctr" marL="45720" marR="45720" marT="45720" marB="45720">
                    <a:solidFill>
                      <a:srgbClr val="E2E2E2"/>
                    </a:solidFill>
                  </a:tcPr>
                </a:tc>
                <a:tc>
                  <a:txBody>
                    <a:bodyPr/>
                    <a:lstStyle/>
                    <a:p>
                      <a:pPr algn="ctr"/>
                      <a:r>
                        <a:rPr sz="1000" b="1">
                          <a:solidFill>
                            <a:srgbClr val="1A1A1A"/>
                          </a:solidFill>
                          <a:latin typeface="Times New Roman"/>
                        </a:rPr>
                        <a:t>SSIM ↑</a:t>
                      </a:r>
                    </a:p>
                  </a:txBody>
                  <a:tcPr anchor="ctr" marL="45720" marR="45720" marT="45720" marB="45720">
                    <a:solidFill>
                      <a:srgbClr val="E2E2E2"/>
                    </a:solidFill>
                  </a:tcPr>
                </a:tc>
                <a:tc>
                  <a:txBody>
                    <a:bodyPr/>
                    <a:lstStyle/>
                    <a:p>
                      <a:pPr algn="ctr"/>
                      <a:r>
                        <a:rPr sz="1000" b="1">
                          <a:solidFill>
                            <a:srgbClr val="1A1A1A"/>
                          </a:solidFill>
                          <a:latin typeface="Times New Roman"/>
                        </a:rPr>
                        <a:t>PSNR ↑</a:t>
                      </a:r>
                    </a:p>
                  </a:txBody>
                  <a:tcPr anchor="ctr" marL="45720" marR="45720" marT="45720" marB="45720">
                    <a:solidFill>
                      <a:srgbClr val="E2E2E2"/>
                    </a:solidFill>
                  </a:tcPr>
                </a:tc>
              </a:tr>
              <a:tr h="310896">
                <a:tc>
                  <a:txBody>
                    <a:bodyPr/>
                    <a:lstStyle/>
                    <a:p>
                      <a:pPr algn="l"/>
                      <a:r>
                        <a:rPr sz="1000" b="0">
                          <a:solidFill>
                            <a:srgbClr val="1A1A1A"/>
                          </a:solidFill>
                          <a:latin typeface="Times New Roman"/>
                        </a:rPr>
                        <a:t>Pirámide de Laplace (LP)</a:t>
                      </a:r>
                    </a:p>
                  </a:txBody>
                  <a:tcPr anchor="ctr" marL="45720" marR="45720" marT="45720" marB="45720">
                    <a:noFill/>
                  </a:tcPr>
                </a:tc>
                <a:tc>
                  <a:txBody>
                    <a:bodyPr/>
                    <a:lstStyle/>
                    <a:p>
                      <a:pPr algn="ctr"/>
                      <a:r>
                        <a:rPr sz="1000" b="0">
                          <a:solidFill>
                            <a:srgbClr val="1A1A1A"/>
                          </a:solidFill>
                          <a:latin typeface="Times New Roman"/>
                        </a:rPr>
                        <a:t>6,840</a:t>
                      </a:r>
                    </a:p>
                  </a:txBody>
                  <a:tcPr anchor="ctr" marL="45720" marR="45720" marT="45720" marB="45720">
                    <a:noFill/>
                  </a:tcPr>
                </a:tc>
                <a:tc>
                  <a:txBody>
                    <a:bodyPr/>
                    <a:lstStyle/>
                    <a:p>
                      <a:pPr algn="ctr"/>
                      <a:r>
                        <a:rPr sz="1000" b="1">
                          <a:solidFill>
                            <a:srgbClr val="1A1A1A"/>
                          </a:solidFill>
                          <a:latin typeface="Times New Roman"/>
                        </a:rPr>
                        <a:t>0,155</a:t>
                      </a:r>
                    </a:p>
                  </a:txBody>
                  <a:tcPr anchor="ctr" marL="45720" marR="45720" marT="45720" marB="45720">
                    <a:noFill/>
                  </a:tcPr>
                </a:tc>
                <a:tc>
                  <a:txBody>
                    <a:bodyPr/>
                    <a:lstStyle/>
                    <a:p>
                      <a:pPr algn="ctr"/>
                      <a:r>
                        <a:rPr sz="1000" b="0">
                          <a:solidFill>
                            <a:srgbClr val="1A1A1A"/>
                          </a:solidFill>
                          <a:latin typeface="Times New Roman"/>
                        </a:rPr>
                        <a:t>1,081</a:t>
                      </a:r>
                    </a:p>
                  </a:txBody>
                  <a:tcPr anchor="ctr" marL="45720" marR="45720" marT="45720" marB="45720">
                    <a:noFill/>
                  </a:tcPr>
                </a:tc>
                <a:tc>
                  <a:txBody>
                    <a:bodyPr/>
                    <a:lstStyle/>
                    <a:p>
                      <a:pPr algn="ctr"/>
                      <a:r>
                        <a:rPr sz="1000" b="0">
                          <a:solidFill>
                            <a:srgbClr val="1A1A1A"/>
                          </a:solidFill>
                          <a:latin typeface="Times New Roman"/>
                        </a:rPr>
                        <a:t>0,0252</a:t>
                      </a:r>
                    </a:p>
                  </a:txBody>
                  <a:tcPr anchor="ctr" marL="45720" marR="45720" marT="45720" marB="45720">
                    <a:noFill/>
                  </a:tcPr>
                </a:tc>
                <a:tc>
                  <a:txBody>
                    <a:bodyPr/>
                    <a:lstStyle/>
                    <a:p>
                      <a:pPr algn="ctr"/>
                      <a:r>
                        <a:rPr sz="1000" b="0">
                          <a:solidFill>
                            <a:srgbClr val="1A1A1A"/>
                          </a:solidFill>
                          <a:latin typeface="Times New Roman"/>
                        </a:rPr>
                        <a:t>13,22</a:t>
                      </a:r>
                    </a:p>
                  </a:txBody>
                  <a:tcPr anchor="ctr" marL="45720" marR="45720" marT="45720" marB="45720">
                    <a:noFill/>
                  </a:tcPr>
                </a:tc>
                <a:tc>
                  <a:txBody>
                    <a:bodyPr/>
                    <a:lstStyle/>
                    <a:p>
                      <a:pPr algn="ctr"/>
                      <a:r>
                        <a:rPr sz="1000" b="1">
                          <a:solidFill>
                            <a:srgbClr val="1A1A1A"/>
                          </a:solidFill>
                          <a:latin typeface="Times New Roman"/>
                        </a:rPr>
                        <a:t>1,924</a:t>
                      </a:r>
                    </a:p>
                  </a:txBody>
                  <a:tcPr anchor="ctr" marL="45720" marR="45720" marT="45720" marB="45720">
                    <a:noFill/>
                  </a:tcPr>
                </a:tc>
                <a:tc>
                  <a:txBody>
                    <a:bodyPr/>
                    <a:lstStyle/>
                    <a:p>
                      <a:pPr algn="ctr"/>
                      <a:r>
                        <a:rPr sz="1000" b="1">
                          <a:solidFill>
                            <a:srgbClr val="1A1A1A"/>
                          </a:solidFill>
                          <a:latin typeface="Times New Roman"/>
                        </a:rPr>
                        <a:t>0,918</a:t>
                      </a:r>
                    </a:p>
                  </a:txBody>
                  <a:tcPr anchor="ctr" marL="45720" marR="45720" marT="45720" marB="45720">
                    <a:noFill/>
                  </a:tcPr>
                </a:tc>
                <a:tc>
                  <a:txBody>
                    <a:bodyPr/>
                    <a:lstStyle/>
                    <a:p>
                      <a:pPr algn="ctr"/>
                      <a:r>
                        <a:rPr sz="1000" b="0">
                          <a:solidFill>
                            <a:srgbClr val="1A1A1A"/>
                          </a:solidFill>
                          <a:latin typeface="Times New Roman"/>
                        </a:rPr>
                        <a:t>0,706</a:t>
                      </a:r>
                    </a:p>
                  </a:txBody>
                  <a:tcPr anchor="ctr" marL="45720" marR="45720" marT="45720" marB="45720">
                    <a:noFill/>
                  </a:tcPr>
                </a:tc>
                <a:tc>
                  <a:txBody>
                    <a:bodyPr/>
                    <a:lstStyle/>
                    <a:p>
                      <a:pPr algn="ctr"/>
                      <a:r>
                        <a:rPr sz="1000" b="0">
                          <a:solidFill>
                            <a:srgbClr val="1A1A1A"/>
                          </a:solidFill>
                          <a:latin typeface="Times New Roman"/>
                        </a:rPr>
                        <a:t>14,94</a:t>
                      </a:r>
                    </a:p>
                  </a:txBody>
                  <a:tcPr anchor="ctr" marL="45720" marR="45720" marT="45720" marB="45720">
                    <a:noFill/>
                  </a:tcPr>
                </a:tc>
              </a:tr>
              <a:tr h="310896">
                <a:tc>
                  <a:txBody>
                    <a:bodyPr/>
                    <a:lstStyle/>
                    <a:p>
                      <a:pPr algn="l"/>
                      <a:r>
                        <a:rPr sz="1000" b="0">
                          <a:solidFill>
                            <a:srgbClr val="1A1A1A"/>
                          </a:solidFill>
                          <a:latin typeface="Times New Roman"/>
                        </a:rPr>
                        <a:t>Ratio Pyramid (RP)</a:t>
                      </a:r>
                    </a:p>
                  </a:txBody>
                  <a:tcPr anchor="ctr" marL="45720" marR="45720" marT="45720" marB="45720">
                    <a:noFill/>
                  </a:tcPr>
                </a:tc>
                <a:tc>
                  <a:txBody>
                    <a:bodyPr/>
                    <a:lstStyle/>
                    <a:p>
                      <a:pPr algn="ctr"/>
                      <a:r>
                        <a:rPr sz="1000" b="0">
                          <a:solidFill>
                            <a:srgbClr val="1A1A1A"/>
                          </a:solidFill>
                          <a:latin typeface="Times New Roman"/>
                        </a:rPr>
                        <a:t>6,810</a:t>
                      </a:r>
                    </a:p>
                  </a:txBody>
                  <a:tcPr anchor="ctr" marL="45720" marR="45720" marT="45720" marB="45720">
                    <a:noFill/>
                  </a:tcPr>
                </a:tc>
                <a:tc>
                  <a:txBody>
                    <a:bodyPr/>
                    <a:lstStyle/>
                    <a:p>
                      <a:pPr algn="ctr"/>
                      <a:r>
                        <a:rPr sz="1000" b="0">
                          <a:solidFill>
                            <a:srgbClr val="1A1A1A"/>
                          </a:solidFill>
                          <a:latin typeface="Times New Roman"/>
                        </a:rPr>
                        <a:t>0,127</a:t>
                      </a:r>
                    </a:p>
                  </a:txBody>
                  <a:tcPr anchor="ctr" marL="45720" marR="45720" marT="45720" marB="45720">
                    <a:noFill/>
                  </a:tcPr>
                </a:tc>
                <a:tc>
                  <a:txBody>
                    <a:bodyPr/>
                    <a:lstStyle/>
                    <a:p>
                      <a:pPr algn="ctr"/>
                      <a:r>
                        <a:rPr sz="1000" b="0">
                          <a:solidFill>
                            <a:srgbClr val="1A1A1A"/>
                          </a:solidFill>
                          <a:latin typeface="Times New Roman"/>
                        </a:rPr>
                        <a:t>1,077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13,62</a:t>
                      </a:r>
                    </a:p>
                  </a:txBody>
                  <a:tcPr anchor="ctr" marL="45720" marR="45720" marT="45720" marB="45720">
                    <a:noFill/>
                  </a:tcPr>
                </a:tc>
                <a:tc>
                  <a:txBody>
                    <a:bodyPr/>
                    <a:lstStyle/>
                    <a:p>
                      <a:pPr algn="ctr"/>
                      <a:r>
                        <a:rPr sz="1000" b="0">
                          <a:solidFill>
                            <a:srgbClr val="1A1A1A"/>
                          </a:solidFill>
                          <a:latin typeface="Times New Roman"/>
                        </a:rPr>
                        <a:t>0,949</a:t>
                      </a:r>
                    </a:p>
                  </a:txBody>
                  <a:tcPr anchor="ctr" marL="45720" marR="45720" marT="45720" marB="45720">
                    <a:noFill/>
                  </a:tcPr>
                </a:tc>
                <a:tc>
                  <a:txBody>
                    <a:bodyPr/>
                    <a:lstStyle/>
                    <a:p>
                      <a:pPr algn="ctr"/>
                      <a:r>
                        <a:rPr sz="1000" b="0">
                          <a:solidFill>
                            <a:srgbClr val="1A1A1A"/>
                          </a:solidFill>
                          <a:latin typeface="Times New Roman"/>
                        </a:rPr>
                        <a:t>0,650</a:t>
                      </a:r>
                    </a:p>
                  </a:txBody>
                  <a:tcPr anchor="ctr" marL="45720" marR="45720" marT="45720" marB="45720">
                    <a:noFill/>
                  </a:tcPr>
                </a:tc>
                <a:tc>
                  <a:txBody>
                    <a:bodyPr/>
                    <a:lstStyle/>
                    <a:p>
                      <a:pPr algn="ctr"/>
                      <a:r>
                        <a:rPr sz="1000" b="0">
                          <a:solidFill>
                            <a:srgbClr val="1A1A1A"/>
                          </a:solidFill>
                          <a:latin typeface="Times New Roman"/>
                        </a:rPr>
                        <a:t>0,705</a:t>
                      </a:r>
                    </a:p>
                  </a:txBody>
                  <a:tcPr anchor="ctr" marL="45720" marR="45720" marT="45720" marB="45720">
                    <a:noFill/>
                  </a:tcPr>
                </a:tc>
                <a:tc>
                  <a:txBody>
                    <a:bodyPr/>
                    <a:lstStyle/>
                    <a:p>
                      <a:pPr algn="ctr"/>
                      <a:r>
                        <a:rPr sz="1000" b="0">
                          <a:solidFill>
                            <a:srgbClr val="1A1A1A"/>
                          </a:solidFill>
                          <a:latin typeface="Times New Roman"/>
                        </a:rPr>
                        <a:t>17,37</a:t>
                      </a:r>
                    </a:p>
                  </a:txBody>
                  <a:tcPr anchor="ctr" marL="45720" marR="45720" marT="45720" marB="45720">
                    <a:noFill/>
                  </a:tcPr>
                </a:tc>
              </a:tr>
              <a:tr h="310896">
                <a:tc>
                  <a:txBody>
                    <a:bodyPr/>
                    <a:lstStyle/>
                    <a:p>
                      <a:pPr algn="l"/>
                      <a:r>
                        <a:rPr sz="1000" b="0">
                          <a:solidFill>
                            <a:srgbClr val="1A1A1A"/>
                          </a:solidFill>
                          <a:latin typeface="Times New Roman"/>
                        </a:rPr>
                        <a:t>Wavelet discreta (DWT)</a:t>
                      </a:r>
                    </a:p>
                  </a:txBody>
                  <a:tcPr anchor="ctr" marL="45720" marR="45720" marT="45720" marB="45720">
                    <a:noFill/>
                  </a:tcPr>
                </a:tc>
                <a:tc>
                  <a:txBody>
                    <a:bodyPr/>
                    <a:lstStyle/>
                    <a:p>
                      <a:pPr algn="ctr"/>
                      <a:r>
                        <a:rPr sz="1000" b="0">
                          <a:solidFill>
                            <a:srgbClr val="1A1A1A"/>
                          </a:solidFill>
                          <a:latin typeface="Times New Roman"/>
                        </a:rPr>
                        <a:t>6,682</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14,19</a:t>
                      </a:r>
                    </a:p>
                  </a:txBody>
                  <a:tcPr anchor="ctr" marL="45720" marR="45720" marT="45720" marB="45720">
                    <a:noFill/>
                  </a:tcPr>
                </a:tc>
                <a:tc>
                  <a:txBody>
                    <a:bodyPr/>
                    <a:lstStyle/>
                    <a:p>
                      <a:pPr algn="ctr"/>
                      <a:r>
                        <a:rPr sz="1000" b="0">
                          <a:solidFill>
                            <a:srgbClr val="1A1A1A"/>
                          </a:solidFill>
                          <a:latin typeface="Times New Roman"/>
                        </a:rPr>
                        <a:t>1,076</a:t>
                      </a:r>
                    </a:p>
                  </a:txBody>
                  <a:tcPr anchor="ctr" marL="45720" marR="45720" marT="45720" marB="45720">
                    <a:noFill/>
                  </a:tcPr>
                </a:tc>
                <a:tc>
                  <a:txBody>
                    <a:bodyPr/>
                    <a:lstStyle/>
                    <a:p>
                      <a:pPr algn="ctr"/>
                      <a:r>
                        <a:rPr sz="1000" b="0">
                          <a:solidFill>
                            <a:srgbClr val="1A1A1A"/>
                          </a:solidFill>
                          <a:latin typeface="Times New Roman"/>
                        </a:rPr>
                        <a:t>0,666</a:t>
                      </a:r>
                    </a:p>
                  </a:txBody>
                  <a:tcPr anchor="ctr" marL="45720" marR="45720" marT="45720" marB="45720">
                    <a:noFill/>
                  </a:tcPr>
                </a:tc>
                <a:tc>
                  <a:txBody>
                    <a:bodyPr/>
                    <a:lstStyle/>
                    <a:p>
                      <a:pPr algn="ctr"/>
                      <a:r>
                        <a:rPr sz="1000" b="0">
                          <a:solidFill>
                            <a:srgbClr val="1A1A1A"/>
                          </a:solidFill>
                          <a:latin typeface="Times New Roman"/>
                        </a:rPr>
                        <a:t>0,701</a:t>
                      </a:r>
                    </a:p>
                  </a:txBody>
                  <a:tcPr anchor="ctr" marL="45720" marR="45720" marT="45720" marB="45720">
                    <a:noFill/>
                  </a:tcPr>
                </a:tc>
                <a:tc>
                  <a:txBody>
                    <a:bodyPr/>
                    <a:lstStyle/>
                    <a:p>
                      <a:pPr algn="ctr"/>
                      <a:r>
                        <a:rPr sz="1000" b="0">
                          <a:solidFill>
                            <a:srgbClr val="1A1A1A"/>
                          </a:solidFill>
                          <a:latin typeface="Times New Roman"/>
                        </a:rPr>
                        <a:t>17,59</a:t>
                      </a:r>
                    </a:p>
                  </a:txBody>
                  <a:tcPr anchor="ctr" marL="45720" marR="45720" marT="45720" marB="45720">
                    <a:noFill/>
                  </a:tcPr>
                </a:tc>
              </a:tr>
              <a:tr h="310896">
                <a:tc>
                  <a:txBody>
                    <a:bodyPr/>
                    <a:lstStyle/>
                    <a:p>
                      <a:pPr algn="l"/>
                      <a:r>
                        <a:rPr sz="1000" b="0">
                          <a:solidFill>
                            <a:srgbClr val="1A1A1A"/>
                          </a:solidFill>
                          <a:latin typeface="Times New Roman"/>
                        </a:rPr>
                        <a:t>DTCWT</a:t>
                      </a:r>
                    </a:p>
                  </a:txBody>
                  <a:tcPr anchor="ctr" marL="45720" marR="45720" marT="45720" marB="45720">
                    <a:noFill/>
                  </a:tcPr>
                </a:tc>
                <a:tc>
                  <a:txBody>
                    <a:bodyPr/>
                    <a:lstStyle/>
                    <a:p>
                      <a:pPr algn="ctr"/>
                      <a:r>
                        <a:rPr sz="1000" b="0">
                          <a:solidFill>
                            <a:srgbClr val="1A1A1A"/>
                          </a:solidFill>
                          <a:latin typeface="Times New Roman"/>
                        </a:rPr>
                        <a:t>6,688</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1,058</a:t>
                      </a:r>
                    </a:p>
                  </a:txBody>
                  <a:tcPr anchor="ctr" marL="45720" marR="45720" marT="45720" marB="45720">
                    <a:noFill/>
                  </a:tcPr>
                </a:tc>
                <a:tc>
                  <a:txBody>
                    <a:bodyPr/>
                    <a:lstStyle/>
                    <a:p>
                      <a:pPr algn="ctr"/>
                      <a:r>
                        <a:rPr sz="1000" b="0">
                          <a:solidFill>
                            <a:srgbClr val="1A1A1A"/>
                          </a:solidFill>
                          <a:latin typeface="Times New Roman"/>
                        </a:rPr>
                        <a:t>0,0255</a:t>
                      </a:r>
                    </a:p>
                  </a:txBody>
                  <a:tcPr anchor="ctr" marL="45720" marR="45720" marT="45720" marB="45720">
                    <a:noFill/>
                  </a:tcPr>
                </a:tc>
                <a:tc>
                  <a:txBody>
                    <a:bodyPr/>
                    <a:lstStyle/>
                    <a:p>
                      <a:pPr algn="ctr"/>
                      <a:r>
                        <a:rPr sz="1000" b="0">
                          <a:solidFill>
                            <a:srgbClr val="1A1A1A"/>
                          </a:solidFill>
                          <a:latin typeface="Times New Roman"/>
                        </a:rPr>
                        <a:t>13,20</a:t>
                      </a:r>
                    </a:p>
                  </a:txBody>
                  <a:tcPr anchor="ctr" marL="45720" marR="45720" marT="45720" marB="45720">
                    <a:noFill/>
                  </a:tcPr>
                </a:tc>
                <a:tc>
                  <a:txBody>
                    <a:bodyPr/>
                    <a:lstStyle/>
                    <a:p>
                      <a:pPr algn="ctr"/>
                      <a:r>
                        <a:rPr sz="1000" b="0">
                          <a:solidFill>
                            <a:srgbClr val="1A1A1A"/>
                          </a:solidFill>
                          <a:latin typeface="Times New Roman"/>
                        </a:rPr>
                        <a:t>1,078</a:t>
                      </a:r>
                    </a:p>
                  </a:txBody>
                  <a:tcPr anchor="ctr" marL="45720" marR="45720" marT="45720" marB="45720">
                    <a:noFill/>
                  </a:tcPr>
                </a:tc>
                <a:tc>
                  <a:txBody>
                    <a:bodyPr/>
                    <a:lstStyle/>
                    <a:p>
                      <a:pPr algn="ctr"/>
                      <a:r>
                        <a:rPr sz="1000" b="0">
                          <a:solidFill>
                            <a:srgbClr val="1A1A1A"/>
                          </a:solidFill>
                          <a:latin typeface="Times New Roman"/>
                        </a:rPr>
                        <a:t>0,673</a:t>
                      </a:r>
                    </a:p>
                  </a:txBody>
                  <a:tcPr anchor="ctr" marL="45720" marR="45720" marT="45720" marB="45720">
                    <a:noFill/>
                  </a:tcPr>
                </a:tc>
                <a:tc>
                  <a:txBody>
                    <a:bodyPr/>
                    <a:lstStyle/>
                    <a:p>
                      <a:pPr algn="ctr"/>
                      <a:r>
                        <a:rPr sz="1000" b="1">
                          <a:solidFill>
                            <a:srgbClr val="1A1A1A"/>
                          </a:solidFill>
                          <a:latin typeface="Times New Roman"/>
                        </a:rPr>
                        <a:t>0,725</a:t>
                      </a:r>
                    </a:p>
                  </a:txBody>
                  <a:tcPr anchor="ctr" marL="45720" marR="45720" marT="45720" marB="45720">
                    <a:noFill/>
                  </a:tcPr>
                </a:tc>
                <a:tc>
                  <a:txBody>
                    <a:bodyPr/>
                    <a:lstStyle/>
                    <a:p>
                      <a:pPr algn="ctr"/>
                      <a:r>
                        <a:rPr sz="1000" b="0">
                          <a:solidFill>
                            <a:srgbClr val="1A1A1A"/>
                          </a:solidFill>
                          <a:latin typeface="Times New Roman"/>
                        </a:rPr>
                        <a:t>17,60</a:t>
                      </a:r>
                    </a:p>
                  </a:txBody>
                  <a:tcPr anchor="ctr" marL="45720" marR="45720" marT="45720" marB="45720">
                    <a:noFill/>
                  </a:tcPr>
                </a:tc>
              </a:tr>
              <a:tr h="310896">
                <a:tc>
                  <a:txBody>
                    <a:bodyPr/>
                    <a:lstStyle/>
                    <a:p>
                      <a:pPr algn="l"/>
                      <a:r>
                        <a:rPr sz="1000" b="0">
                          <a:solidFill>
                            <a:srgbClr val="1A1A1A"/>
                          </a:solidFill>
                          <a:latin typeface="Times New Roman"/>
                        </a:rPr>
                        <a:t>CVT (aprox. wavelet db4)</a:t>
                      </a:r>
                    </a:p>
                  </a:txBody>
                  <a:tcPr anchor="ctr" marL="45720" marR="45720" marT="45720" marB="45720">
                    <a:noFill/>
                  </a:tcPr>
                </a:tc>
                <a:tc>
                  <a:txBody>
                    <a:bodyPr/>
                    <a:lstStyle/>
                    <a:p>
                      <a:pPr algn="ctr"/>
                      <a:r>
                        <a:rPr sz="1000" b="0">
                          <a:solidFill>
                            <a:srgbClr val="1A1A1A"/>
                          </a:solidFill>
                          <a:latin typeface="Times New Roman"/>
                        </a:rPr>
                        <a:t>6,644</a:t>
                      </a:r>
                    </a:p>
                  </a:txBody>
                  <a:tcPr anchor="ctr" marL="45720" marR="45720" marT="45720" marB="45720">
                    <a:noFill/>
                  </a:tcPr>
                </a:tc>
                <a:tc>
                  <a:txBody>
                    <a:bodyPr/>
                    <a:lstStyle/>
                    <a:p>
                      <a:pPr algn="ctr"/>
                      <a:r>
                        <a:rPr sz="1000" b="0">
                          <a:solidFill>
                            <a:srgbClr val="1A1A1A"/>
                          </a:solidFill>
                          <a:latin typeface="Times New Roman"/>
                        </a:rPr>
                        <a:t>0,113</a:t>
                      </a:r>
                    </a:p>
                  </a:txBody>
                  <a:tcPr anchor="ctr" marL="45720" marR="45720" marT="45720" marB="45720">
                    <a:noFill/>
                  </a:tcPr>
                </a:tc>
                <a:tc>
                  <a:txBody>
                    <a:bodyPr/>
                    <a:lstStyle/>
                    <a:p>
                      <a:pPr algn="ctr"/>
                      <a:r>
                        <a:rPr sz="1000" b="0">
                          <a:solidFill>
                            <a:srgbClr val="1A1A1A"/>
                          </a:solidFill>
                          <a:latin typeface="Times New Roman"/>
                        </a:rPr>
                        <a:t>1,051</a:t>
                      </a:r>
                    </a:p>
                  </a:txBody>
                  <a:tcPr anchor="ctr" marL="45720" marR="45720" marT="45720" marB="45720">
                    <a:noFill/>
                  </a:tcPr>
                </a:tc>
                <a:tc>
                  <a:txBody>
                    <a:bodyPr/>
                    <a:lstStyle/>
                    <a:p>
                      <a:pPr algn="ctr"/>
                      <a:r>
                        <a:rPr sz="1000" b="0">
                          <a:solidFill>
                            <a:srgbClr val="1A1A1A"/>
                          </a:solidFill>
                          <a:latin typeface="Times New Roman"/>
                        </a:rPr>
                        <a:t>0,0260</a:t>
                      </a:r>
                    </a:p>
                  </a:txBody>
                  <a:tcPr anchor="ctr" marL="45720" marR="45720" marT="45720" marB="45720">
                    <a:noFill/>
                  </a:tcPr>
                </a:tc>
                <a:tc>
                  <a:txBody>
                    <a:bodyPr/>
                    <a:lstStyle/>
                    <a:p>
                      <a:pPr algn="ctr"/>
                      <a:r>
                        <a:rPr sz="1000" b="0">
                          <a:solidFill>
                            <a:srgbClr val="1A1A1A"/>
                          </a:solidFill>
                          <a:latin typeface="Times New Roman"/>
                        </a:rPr>
                        <a:t>13,34</a:t>
                      </a:r>
                    </a:p>
                  </a:txBody>
                  <a:tcPr anchor="ctr" marL="45720" marR="45720" marT="45720" marB="45720">
                    <a:noFill/>
                  </a:tcPr>
                </a:tc>
                <a:tc>
                  <a:txBody>
                    <a:bodyPr/>
                    <a:lstStyle/>
                    <a:p>
                      <a:pPr algn="ctr"/>
                      <a:r>
                        <a:rPr sz="1000" b="0">
                          <a:solidFill>
                            <a:srgbClr val="1A1A1A"/>
                          </a:solidFill>
                          <a:latin typeface="Times New Roman"/>
                        </a:rPr>
                        <a:t>1,096</a:t>
                      </a:r>
                    </a:p>
                  </a:txBody>
                  <a:tcPr anchor="ctr" marL="45720" marR="45720" marT="45720" marB="45720">
                    <a:noFill/>
                  </a:tcPr>
                </a:tc>
                <a:tc>
                  <a:txBody>
                    <a:bodyPr/>
                    <a:lstStyle/>
                    <a:p>
                      <a:pPr algn="ctr"/>
                      <a:r>
                        <a:rPr sz="1000" b="0">
                          <a:solidFill>
                            <a:srgbClr val="1A1A1A"/>
                          </a:solidFill>
                          <a:latin typeface="Times New Roman"/>
                        </a:rPr>
                        <a:t>0,669</a:t>
                      </a:r>
                    </a:p>
                  </a:txBody>
                  <a:tcPr anchor="ctr" marL="45720" marR="45720" marT="45720" marB="45720">
                    <a:noFill/>
                  </a:tcPr>
                </a:tc>
                <a:tc>
                  <a:txBody>
                    <a:bodyPr/>
                    <a:lstStyle/>
                    <a:p>
                      <a:pPr algn="ctr"/>
                      <a:r>
                        <a:rPr sz="1000" b="0">
                          <a:solidFill>
                            <a:srgbClr val="1A1A1A"/>
                          </a:solidFill>
                          <a:latin typeface="Times New Roman"/>
                        </a:rPr>
                        <a:t>0,716</a:t>
                      </a:r>
                    </a:p>
                  </a:txBody>
                  <a:tcPr anchor="ctr" marL="45720" marR="45720" marT="45720" marB="45720">
                    <a:noFill/>
                  </a:tcPr>
                </a:tc>
                <a:tc>
                  <a:txBody>
                    <a:bodyPr/>
                    <a:lstStyle/>
                    <a:p>
                      <a:pPr algn="ctr"/>
                      <a:r>
                        <a:rPr sz="1000" b="1">
                          <a:solidFill>
                            <a:srgbClr val="1A1A1A"/>
                          </a:solidFill>
                          <a:latin typeface="Times New Roman"/>
                        </a:rPr>
                        <a:t>17,65</a:t>
                      </a:r>
                    </a:p>
                  </a:txBody>
                  <a:tcPr anchor="ctr" marL="45720" marR="45720" marT="45720" marB="45720">
                    <a:noFill/>
                  </a:tcPr>
                </a:tc>
              </a:tr>
              <a:tr h="310896">
                <a:tc>
                  <a:txBody>
                    <a:bodyPr/>
                    <a:lstStyle/>
                    <a:p>
                      <a:pPr algn="l"/>
                      <a:r>
                        <a:rPr sz="1000" b="0">
                          <a:solidFill>
                            <a:srgbClr val="1A1A1A"/>
                          </a:solidFill>
                          <a:latin typeface="Times New Roman"/>
                        </a:rPr>
                        <a:t>Top-Hat clásico (r=5; m=1)</a:t>
                      </a:r>
                    </a:p>
                  </a:txBody>
                  <a:tcPr anchor="ctr" marL="45720" marR="45720" marT="45720" marB="45720">
                    <a:noFill/>
                  </a:tcPr>
                </a:tc>
                <a:tc>
                  <a:txBody>
                    <a:bodyPr/>
                    <a:lstStyle/>
                    <a:p>
                      <a:pPr algn="ctr"/>
                      <a:r>
                        <a:rPr sz="1000" b="0">
                          <a:solidFill>
                            <a:srgbClr val="1A1A1A"/>
                          </a:solidFill>
                          <a:latin typeface="Times New Roman"/>
                        </a:rPr>
                        <a:t>6,922</a:t>
                      </a:r>
                    </a:p>
                  </a:txBody>
                  <a:tcPr anchor="ctr" marL="45720" marR="45720" marT="45720" marB="45720">
                    <a:noFill/>
                  </a:tcPr>
                </a:tc>
                <a:tc>
                  <a:txBody>
                    <a:bodyPr/>
                    <a:lstStyle/>
                    <a:p>
                      <a:pPr algn="ctr"/>
                      <a:r>
                        <a:rPr sz="1000" b="0">
                          <a:solidFill>
                            <a:srgbClr val="1A1A1A"/>
                          </a:solidFill>
                          <a:latin typeface="Times New Roman"/>
                        </a:rPr>
                        <a:t>0,135</a:t>
                      </a:r>
                    </a:p>
                  </a:txBody>
                  <a:tcPr anchor="ctr" marL="45720" marR="45720" marT="45720" marB="45720">
                    <a:noFill/>
                  </a:tcPr>
                </a:tc>
                <a:tc>
                  <a:txBody>
                    <a:bodyPr/>
                    <a:lstStyle/>
                    <a:p>
                      <a:pPr algn="ctr"/>
                      <a:r>
                        <a:rPr sz="1000" b="0">
                          <a:solidFill>
                            <a:srgbClr val="1A1A1A"/>
                          </a:solidFill>
                          <a:latin typeface="Times New Roman"/>
                        </a:rPr>
                        <a:t>1,095</a:t>
                      </a:r>
                    </a:p>
                  </a:txBody>
                  <a:tcPr anchor="ctr" marL="45720" marR="45720" marT="45720" marB="45720">
                    <a:noFill/>
                  </a:tcPr>
                </a:tc>
                <a:tc>
                  <a:txBody>
                    <a:bodyPr/>
                    <a:lstStyle/>
                    <a:p>
                      <a:pPr algn="ctr"/>
                      <a:r>
                        <a:rPr sz="1000" b="1">
                          <a:solidFill>
                            <a:srgbClr val="1A1A1A"/>
                          </a:solidFill>
                          <a:latin typeface="Times New Roman"/>
                        </a:rPr>
                        <a:t>0,0478</a:t>
                      </a:r>
                    </a:p>
                  </a:txBody>
                  <a:tcPr anchor="ctr" marL="45720" marR="45720" marT="45720" marB="45720">
                    <a:noFill/>
                  </a:tcPr>
                </a:tc>
                <a:tc>
                  <a:txBody>
                    <a:bodyPr/>
                    <a:lstStyle/>
                    <a:p>
                      <a:pPr algn="ctr"/>
                      <a:r>
                        <a:rPr sz="1000" b="1">
                          <a:solidFill>
                            <a:srgbClr val="1A1A1A"/>
                          </a:solidFill>
                          <a:latin typeface="Times New Roman"/>
                        </a:rPr>
                        <a:t>23,10</a:t>
                      </a:r>
                    </a:p>
                  </a:txBody>
                  <a:tcPr anchor="ctr" marL="45720" marR="45720" marT="45720" marB="45720">
                    <a:noFill/>
                  </a:tcPr>
                </a:tc>
                <a:tc>
                  <a:txBody>
                    <a:bodyPr/>
                    <a:lstStyle/>
                    <a:p>
                      <a:pPr algn="ctr"/>
                      <a:r>
                        <a:rPr sz="1000" b="0">
                          <a:solidFill>
                            <a:srgbClr val="1A1A1A"/>
                          </a:solidFill>
                          <a:latin typeface="Times New Roman"/>
                        </a:rPr>
                        <a:t>0,787</a:t>
                      </a:r>
                    </a:p>
                  </a:txBody>
                  <a:tcPr anchor="ctr" marL="45720" marR="45720" marT="45720" marB="45720">
                    <a:noFill/>
                  </a:tcPr>
                </a:tc>
                <a:tc>
                  <a:txBody>
                    <a:bodyPr/>
                    <a:lstStyle/>
                    <a:p>
                      <a:pPr algn="ctr"/>
                      <a:r>
                        <a:rPr sz="1000" b="0">
                          <a:solidFill>
                            <a:srgbClr val="1A1A1A"/>
                          </a:solidFill>
                          <a:latin typeface="Times New Roman"/>
                        </a:rPr>
                        <a:t>0,493</a:t>
                      </a:r>
                    </a:p>
                  </a:txBody>
                  <a:tcPr anchor="ctr" marL="45720" marR="45720" marT="45720" marB="45720">
                    <a:noFill/>
                  </a:tcPr>
                </a:tc>
                <a:tc>
                  <a:txBody>
                    <a:bodyPr/>
                    <a:lstStyle/>
                    <a:p>
                      <a:pPr algn="ctr"/>
                      <a:r>
                        <a:rPr sz="1000" b="0">
                          <a:solidFill>
                            <a:srgbClr val="1A1A1A"/>
                          </a:solidFill>
                          <a:latin typeface="Times New Roman"/>
                        </a:rPr>
                        <a:t>0,564</a:t>
                      </a:r>
                    </a:p>
                  </a:txBody>
                  <a:tcPr anchor="ctr" marL="45720" marR="45720" marT="45720" marB="45720">
                    <a:noFill/>
                  </a:tcPr>
                </a:tc>
                <a:tc>
                  <a:txBody>
                    <a:bodyPr/>
                    <a:lstStyle/>
                    <a:p>
                      <a:pPr algn="ctr"/>
                      <a:r>
                        <a:rPr sz="1000" b="0">
                          <a:solidFill>
                            <a:srgbClr val="1A1A1A"/>
                          </a:solidFill>
                          <a:latin typeface="Times New Roman"/>
                        </a:rPr>
                        <a:t>16,87</a:t>
                      </a:r>
                    </a:p>
                  </a:txBody>
                  <a:tcPr anchor="ctr" marL="45720" marR="45720" marT="45720" marB="45720">
                    <a:noFill/>
                  </a:tcPr>
                </a:tc>
              </a:tr>
              <a:tr h="310896">
                <a:tc>
                  <a:txBody>
                    <a:bodyPr/>
                    <a:lstStyle/>
                    <a:p>
                      <a:pPr algn="l"/>
                      <a:r>
                        <a:rPr sz="1000" b="1">
                          <a:solidFill>
                            <a:srgbClr val="1A1A1A"/>
                          </a:solidFill>
                          <a:latin typeface="Times New Roman"/>
                        </a:rPr>
                        <a:t>Propuesta (r=25; m=0,30)</a:t>
                      </a:r>
                    </a:p>
                  </a:txBody>
                  <a:tcPr anchor="ctr" marL="45720" marR="45720" marT="45720" marB="45720">
                    <a:noFill/>
                  </a:tcPr>
                </a:tc>
                <a:tc>
                  <a:txBody>
                    <a:bodyPr/>
                    <a:lstStyle/>
                    <a:p>
                      <a:pPr algn="ctr"/>
                      <a:r>
                        <a:rPr sz="1000" b="1">
                          <a:solidFill>
                            <a:srgbClr val="1A1A1A"/>
                          </a:solidFill>
                          <a:latin typeface="Times New Roman"/>
                        </a:rPr>
                        <a:t>6,986</a:t>
                      </a:r>
                    </a:p>
                  </a:txBody>
                  <a:tcPr anchor="ctr" marL="45720" marR="45720" marT="45720" marB="45720">
                    <a:noFill/>
                  </a:tcPr>
                </a:tc>
                <a:tc>
                  <a:txBody>
                    <a:bodyPr/>
                    <a:lstStyle/>
                    <a:p>
                      <a:pPr algn="ctr"/>
                      <a:r>
                        <a:rPr sz="1000" b="0">
                          <a:solidFill>
                            <a:srgbClr val="1A1A1A"/>
                          </a:solidFill>
                          <a:latin typeface="Times New Roman"/>
                        </a:rPr>
                        <a:t>0,144</a:t>
                      </a:r>
                    </a:p>
                  </a:txBody>
                  <a:tcPr anchor="ctr" marL="45720" marR="45720" marT="45720" marB="45720">
                    <a:noFill/>
                  </a:tcPr>
                </a:tc>
                <a:tc>
                  <a:txBody>
                    <a:bodyPr/>
                    <a:lstStyle/>
                    <a:p>
                      <a:pPr algn="ctr"/>
                      <a:r>
                        <a:rPr sz="1000" b="1">
                          <a:solidFill>
                            <a:srgbClr val="1A1A1A"/>
                          </a:solidFill>
                          <a:latin typeface="Times New Roman"/>
                        </a:rPr>
                        <a:t>1,105</a:t>
                      </a:r>
                    </a:p>
                  </a:txBody>
                  <a:tcPr anchor="ctr" marL="45720" marR="45720" marT="45720" marB="45720">
                    <a:noFill/>
                  </a:tcPr>
                </a:tc>
                <a:tc>
                  <a:txBody>
                    <a:bodyPr/>
                    <a:lstStyle/>
                    <a:p>
                      <a:pPr algn="ctr"/>
                      <a:r>
                        <a:rPr sz="1000" b="0">
                          <a:solidFill>
                            <a:srgbClr val="1A1A1A"/>
                          </a:solidFill>
                          <a:latin typeface="Times New Roman"/>
                        </a:rPr>
                        <a:t>0,0355</a:t>
                      </a:r>
                    </a:p>
                  </a:txBody>
                  <a:tcPr anchor="ctr" marL="45720" marR="45720" marT="45720" marB="45720">
                    <a:noFill/>
                  </a:tcPr>
                </a:tc>
                <a:tc>
                  <a:txBody>
                    <a:bodyPr/>
                    <a:lstStyle/>
                    <a:p>
                      <a:pPr algn="ctr"/>
                      <a:r>
                        <a:rPr sz="1000" b="0">
                          <a:solidFill>
                            <a:srgbClr val="1A1A1A"/>
                          </a:solidFill>
                          <a:latin typeface="Times New Roman"/>
                        </a:rPr>
                        <a:t>17,44</a:t>
                      </a:r>
                    </a:p>
                  </a:txBody>
                  <a:tcPr anchor="ctr" marL="45720" marR="45720" marT="45720" marB="45720">
                    <a:noFill/>
                  </a:tcPr>
                </a:tc>
                <a:tc>
                  <a:txBody>
                    <a:bodyPr/>
                    <a:lstStyle/>
                    <a:p>
                      <a:pPr algn="ctr"/>
                      <a:r>
                        <a:rPr sz="1000" b="0">
                          <a:solidFill>
                            <a:srgbClr val="1A1A1A"/>
                          </a:solidFill>
                          <a:latin typeface="Times New Roman"/>
                        </a:rPr>
                        <a:t>0,897</a:t>
                      </a:r>
                    </a:p>
                  </a:txBody>
                  <a:tcPr anchor="ctr" marL="45720" marR="45720" marT="45720" marB="45720">
                    <a:noFill/>
                  </a:tcPr>
                </a:tc>
                <a:tc>
                  <a:txBody>
                    <a:bodyPr/>
                    <a:lstStyle/>
                    <a:p>
                      <a:pPr algn="ctr"/>
                      <a:r>
                        <a:rPr sz="1000" b="0">
                          <a:solidFill>
                            <a:srgbClr val="1A1A1A"/>
                          </a:solidFill>
                          <a:latin typeface="Times New Roman"/>
                        </a:rPr>
                        <a:t>0,600</a:t>
                      </a:r>
                    </a:p>
                  </a:txBody>
                  <a:tcPr anchor="ctr" marL="45720" marR="45720" marT="45720" marB="45720">
                    <a:noFill/>
                  </a:tcPr>
                </a:tc>
                <a:tc>
                  <a:txBody>
                    <a:bodyPr/>
                    <a:lstStyle/>
                    <a:p>
                      <a:pPr algn="ctr"/>
                      <a:r>
                        <a:rPr sz="1000" b="0">
                          <a:solidFill>
                            <a:srgbClr val="1A1A1A"/>
                          </a:solidFill>
                          <a:latin typeface="Times New Roman"/>
                        </a:rPr>
                        <a:t>0,658</a:t>
                      </a:r>
                    </a:p>
                  </a:txBody>
                  <a:tcPr anchor="ctr" marL="45720" marR="45720" marT="45720" marB="45720">
                    <a:noFill/>
                  </a:tcPr>
                </a:tc>
                <a:tc>
                  <a:txBody>
                    <a:bodyPr/>
                    <a:lstStyle/>
                    <a:p>
                      <a:pPr algn="ctr"/>
                      <a:r>
                        <a:rPr sz="1000" b="0">
                          <a:solidFill>
                            <a:srgbClr val="1A1A1A"/>
                          </a:solidFill>
                          <a:latin typeface="Times New Roman"/>
                        </a:rPr>
                        <a:t>16,84</a:t>
                      </a:r>
                    </a:p>
                  </a:txBody>
                  <a:tcPr anchor="ctr" marL="45720" marR="45720" marT="45720" marB="45720">
                    <a:noFill/>
                  </a:tcPr>
                </a:tc>
              </a:tr>
            </a:tbl>
          </a:graphicData>
        </a:graphic>
      </p:graphicFrame>
      <p:sp>
        <p:nvSpPr>
          <p:cNvPr id="7" name="Text 3"/>
          <p:cNvSpPr txBox="1"/>
          <p:nvPr/>
        </p:nvSpPr>
        <p:spPr>
          <a:xfrm>
            <a:off x="2457200" y="800100"/>
            <a:ext cx="3460885" cy="228600"/>
          </a:xfrm>
          <a:prstGeom prst="rect">
            <a:avLst/>
          </a:prstGeom>
          <a:noFill/>
        </p:spPr>
        <p:txBody>
          <a:bodyPr wrap="square" lIns="0" rIns="0" tIns="0" bIns="0" anchor="b">
            <a:spAutoFit/>
          </a:bodyPr>
          <a:lstStyle/>
          <a:p>
            <a:pPr algn="ctr"/>
            <a:r>
              <a:rPr sz="950" b="1">
                <a:solidFill>
                  <a:srgbClr val="1A1A1A"/>
                </a:solidFill>
                <a:latin typeface="Times New Roman"/>
              </a:rPr>
              <a:t>Bloque de ACTIVIDAD ESPACIAL</a:t>
            </a:r>
          </a:p>
        </p:txBody>
      </p:sp>
      <p:sp>
        <p:nvSpPr>
          <p:cNvPr id="8" name="Text 4"/>
          <p:cNvSpPr txBox="1"/>
          <p:nvPr/>
        </p:nvSpPr>
        <p:spPr>
          <a:xfrm>
            <a:off x="5918085" y="800100"/>
            <a:ext cx="2768708" cy="228600"/>
          </a:xfrm>
          <a:prstGeom prst="rect">
            <a:avLst/>
          </a:prstGeom>
          <a:noFill/>
        </p:spPr>
        <p:txBody>
          <a:bodyPr wrap="square" lIns="0" rIns="0" tIns="0" bIns="0" anchor="b">
            <a:spAutoFit/>
          </a:bodyPr>
          <a:lstStyle/>
          <a:p>
            <a:pPr algn="ctr"/>
            <a:r>
              <a:rPr sz="950" b="1">
                <a:solidFill>
                  <a:srgbClr val="1A1A1A"/>
                </a:solidFill>
                <a:latin typeface="Times New Roman"/>
              </a:rPr>
              <a:t>Bloque de FIDELIDAD A LAS FUENTES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Ninguna fusión supera al infrarrojo solo en LLVIP (0,971 frente a 0,952 de la mejor fusión), el orden de calidad no predice el mAP (ρ = +0,214; p = 0,645)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1. </a:t>
            </a:r>
            <a:r>
              <a:rPr sz="1100" b="0">
                <a:solidFill>
                  <a:srgbClr val="1A1A1A"/>
                </a:solidFill>
                <a:latin typeface="Times New Roman"/>
              </a:rPr>
              <a:t>El operador desplaza el punto de operación de la fusión y no la mejora de manera uniforme: gana en actividad espacial (24 de 25 contrastes favorables, ninguno adverso con significancia) y cede en fidelidad a las fuentes (17 de 20 adversos).</a:t>
            </a:r>
            <a:endParaRPr lang="en-US" sz="1350" dirty="0"/>
          </a:p>
          <a:p>
            <a:pPr>
              <a:spcAft>
                <a:spcPts val="400"/>
              </a:spcAft>
            </a:pPr>
            <a:r>
              <a:rPr sz="1100" b="1">
                <a:solidFill>
                  <a:srgbClr val="1A1A1A"/>
                </a:solidFill>
                <a:latin typeface="Times New Roman"/>
              </a:rPr>
              <a:t>2. </a:t>
            </a:r>
            <a:r>
              <a:rPr sz="1100" b="0">
                <a:solidFill>
                  <a:srgbClr val="1A1A1A"/>
                </a:solidFill>
                <a:latin typeface="Times New Roman"/>
              </a:rPr>
              <a:t>Bajo el criterio del trabajo de referencia encabeza el benchmark: 1.º de 7 con rango medio 3,394. Concediendo a los comparativos el mismo paso de ajuste, ninguna de las cinco configuraciones de referencia lo alcanza; el Top-Hat clásico lo supera por 0,061, pero con m = 1, y a peso igualado la propuesta vuelve al primer lugar: 3,528 frente a 3,694.</a:t>
            </a:r>
          </a:p>
          <a:p>
            <a:pPr>
              <a:spcAft>
                <a:spcPts val="400"/>
              </a:spcAft>
            </a:pPr>
            <a:r>
              <a:rPr sz="1100" b="1">
                <a:solidFill>
                  <a:srgbClr val="1A1A1A"/>
                </a:solidFill>
                <a:latin typeface="Times New Roman"/>
              </a:rPr>
              <a:t>3. </a:t>
            </a:r>
            <a:r>
              <a:rPr sz="1100" b="0">
                <a:solidFill>
                  <a:srgbClr val="1A1A1A"/>
                </a:solidFill>
                <a:latin typeface="Times New Roman"/>
              </a:rPr>
              <a:t>El banco aporta sobre el disco único con hiperparámetros igualados (3,222 frente a 3,367 con las nueve métricas), y el mérito no proviene de la imagen base, que queda última con las diecisiete (4,359).</a:t>
            </a:r>
          </a:p>
          <a:p>
            <a:pPr>
              <a:spcAft>
                <a:spcPts val="400"/>
              </a:spcAft>
            </a:pPr>
            <a:r>
              <a:rPr sz="1100" b="1">
                <a:solidFill>
                  <a:srgbClr val="1A1A1A"/>
                </a:solidFill>
                <a:latin typeface="Times New Roman"/>
              </a:rPr>
              <a:t>4. </a:t>
            </a:r>
            <a:r>
              <a:rPr sz="1100" b="0">
                <a:solidFill>
                  <a:srgbClr val="1A1A1A"/>
                </a:solidFill>
                <a:latin typeface="Times New Roman"/>
              </a:rPr>
              <a:t>Ese orden es propiedad del criterio: con las diecisiete métricas que el mismo evaluador calcula la propuesta es 3.ª (3,459) y el primer lugar pasa a la pirámide de Laplace (3,147). Ninguna imagen fusionada cambió.</a:t>
            </a:r>
          </a:p>
          <a:p>
            <a:pPr>
              <a:spcAft>
                <a:spcPts val="400"/>
              </a:spcAft>
            </a:pPr>
            <a:r>
              <a:rPr sz="1100" b="1">
                <a:solidFill>
                  <a:srgbClr val="1A1A1A"/>
                </a:solidFill>
                <a:latin typeface="Times New Roman"/>
              </a:rPr>
              <a:t>5. </a:t>
            </a:r>
            <a:r>
              <a:rPr sz="1100" b="0">
                <a:solidFill>
                  <a:srgbClr val="1A1A1A"/>
                </a:solidFill>
                <a:latin typeface="Times New Roman"/>
              </a:rPr>
              <a:t>La batería de nueve métricas no discrimina detalle útil de ruido —una fusión artificial de ruido queda 3.ª de 14 y su rango mejora al aumentar la varianza— y contiene redundancia: FE es la entropía reescalada, así que las dimensiones efectivas son ocho.</a:t>
            </a:r>
          </a:p>
          <a:p>
            <a:pPr>
              <a:spcAft>
                <a:spcPts val="400"/>
              </a:spcAft>
            </a:pPr>
            <a:r>
              <a:rPr sz="1100" b="1">
                <a:solidFill>
                  <a:srgbClr val="1A1A1A"/>
                </a:solidFill>
                <a:latin typeface="Times New Roman"/>
              </a:rPr>
              <a:t>6. </a:t>
            </a:r>
            <a:r>
              <a:rPr sz="1100" b="0">
                <a:solidFill>
                  <a:srgbClr val="1A1A1A"/>
                </a:solidFill>
                <a:latin typeface="Times New Roman"/>
              </a:rPr>
              <a:t>La optimización no determina la configuración evaluada: el máximo de la aptitud dentro del rango publicado está en r = 1 y el peso queda en el piso, 0,30, en 499 de las 500 corridas. El peso sí tiene justificación independiente: con m = 0,30 el recorte satura el 0,73 % de los píxeles en promedio, contra el 6,50 % que produciría m = 1.</a:t>
            </a:r>
          </a:p>
          <a:p>
            <a:pPr>
              <a:spcAft>
                <a:spcPts val="400"/>
              </a:spcAft>
            </a:pPr>
            <a:r>
              <a:rPr sz="1100" b="1">
                <a:solidFill>
                  <a:srgbClr val="1A1A1A"/>
                </a:solidFill>
                <a:latin typeface="Times New Roman"/>
              </a:rPr>
              <a:t>7. </a:t>
            </a:r>
            <a:r>
              <a:rPr sz="1100" b="0">
                <a:solidFill>
                  <a:srgbClr val="1A1A1A"/>
                </a:solidFill>
                <a:latin typeface="Times New Roman"/>
              </a:rPr>
              <a:t>El orden de calidad no predice la utilidad en detección (ρ = +0,214; p = 0,645) y ninguna fusión supera a la mejor modalidad individual por un margen distinguible: en LLVIP lidera el infrarrojo (0,971) y en el conteo por escena de M3FD la propuesta queda por debajo del visible (50,0 % frente a 53,0 %; n = 232). Aporte metodológico: un protocolo de evaluación de fusión debe incluir al menos una métrica que penalice artefactos, declarar la redundancia entre sus componentes y separar el ajuste de hiperparámetros del criterio de evaluación.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