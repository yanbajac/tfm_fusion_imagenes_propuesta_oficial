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tesis, leído sobre el flujograma: cinco elementos estructurantes (un disco + cuatro líneas de largo 2r+1) por fuente; las respuestas lineales se promedian y se SUMAN a la del disco — la suma acumula evidencia de ambas geometrías, el máximo solo elige una. Entre fuentes sí se toma el máximo, y la reconstrucción pondera con m. El PSO (caja punteada) calibra r 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publicada F_o combina fidelidad estructural (SSIM), información (entropía) y baja distorsión (PSNR). El barrido replica el Cuadro 1 de la FPUNA: el óptimo global de F_o para este operador es r=25 con m pequeño (≈0,07), que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la propuesta lidera SSIM, LP el contraste (SD) y la información mutua, el Top-Hat clásico la actividad (SF). El perfil de la propuesta es la fidelidad estructural.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experimento que delimita el valor de la fusión: un único YOLOv8n entrenado con VIS+IR mezcladas (4.000 imágenes, 40 épocas) e inferencia por método. Las personas solo se ven bien en IR y las luces solo en VIS; la fusión es la única entrada que detecta ambas a la vez. La propuesta es la mejor fusión del estudio en este escenario: detecta ambas clases complementarias en una sola imagen.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M3FD con la evidencia visual: dos escenas reales de la validación. En la primera, las personas están bajo el puente a contraluz: invisibles para el detector en VIS, obvias en IR y recuperadas por la fusión. En la segunda, el semáforo y las luces no emiten calor: el IR no los ve, la fusión sí — junto con las personas. Una sola imagen, ambas clases: eso es lo que la fusión compra.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 y M3FD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morfología matemática permite un operador de una sola escala: interpretable, de bajo costo y con pocos artefactos.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nueve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actividad, el detalle y el contenido informativo (EN, FE, SD, MG, SF) frente a los métodos del estado del arte, y supera a la metodología clásica Top-Hat en seis de las nueve métricas.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flujo_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77240"/>
            <a:ext cx="3246120" cy="4206240"/>
          </a:xfrm>
          <a:prstGeom prst="rect">
            <a:avLst/>
          </a:prstGeom>
        </p:spPr>
      </p:pic>
      <p:pic>
        <p:nvPicPr>
          <p:cNvPr id="5" name="Image 1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4754880" cy="950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7764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 (ec. 7) + respuesta del disco (ec. 8).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Máximo entre fuentes (ec. 10) y reconstrucción ponderada con m (ec. 11).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200" dirty="0"/>
          </a:p>
        </p:txBody>
      </p:sp>
      <p:pic>
        <p:nvPicPr>
          <p:cNvPr id="7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43400"/>
            <a:ext cx="4480560" cy="3264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publicada de Ortega y Espinoza (2025), sin pesos arbitrarios: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383280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25 configuraciones convergen al mismo peso: m* = 0,30, el piso del rango publicado [0,30–2,00]. El radio se fija en r = 25, que maximiza las nueve métricas de evaluación.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[0,30; 2,00] (rango publicado)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métodos: LP, RP, DWT, DTCWT, CVT,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Nueve métricas sin referencia (EN, SD, FE, MG, MI_vis, MI_ir, SF, SSIM, PSNR).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19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EN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6,835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1,079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13,04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6,829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1,079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0,130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13,34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6,700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1,059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0,120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13,93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6,706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1,060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13,03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Curvelet (CVT)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6,665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1,053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0,117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13,15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6,933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1,096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22,86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m=0,30)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6,989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1,105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0,148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17,34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0,668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lidera la entropía (6,989) y el contenido de bordes (1,105) del estudio, con ventaja significativa frente a los cinco métodos del estado del arte en EN, FE, MG y SF; queda segunda en contraste (SD), gradiente y frecuencia espacial.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Cede en las métricas de fidelidad a las fuentes (SSIM 0,668; PSNR) y en información mutua, lideradas por los métodos multiescala. Ranking agregado: 2º de 7 (3,67).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nueve métricas (p &lt; 0,001).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pareado (corrección de Holm), Propuesta vs. los 5 métodos del estado del arte: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EN, FE, MG y SF: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SD (contraste): mejor y significativa frente a 4 de los 5.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Cede en fidelidad a las fuentes (SSIM, PSNR) e información mutua: lideran los multiescala.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al Top-Hat clásico gana en 6 de las 9 métricas —entropía, contraste, bordes, ambas informaciones mutuas y SSIM (0,668 vs 0,578)— con significancia estadística.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Ranking global (9 métricas): LP 3,44 · Propuesta 3,67 · DTCWT 4,00 · TH clásico 4,00 · RP 4,11 · CVT 4,33 · DWT 4,44 — la propuesta queda segunda, a 0,23 del líder.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19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822960"/>
            <a:ext cx="7223760" cy="2761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0332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 fusión supera con claridad al visible solo (+0,11 a +0,14 en mAP@0,5); el IR solo lidera (0,957): en peatones nocturnos domina la firma térmica.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Novedosa queda en el extremo inferior de la banda de fusiones (0,913): el realce que premian las métricas de actividad no ayuda al detector.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calidad de imagen no se traslada automáticamente al mAP (H3 parcial).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Clases complementarias en M3FD — un detector único VIS+IR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19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3fd_p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68680"/>
            <a:ext cx="7863840" cy="29443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913632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Complementariedad extrema: el IR domina People (0,220) pero es ciego a Lamp (0,018); el VIS es el espejo (0,178 / 0,135).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Todas las fusiones recuperan ambas clases en una sola imagen; RP alcanza el mejor promedio del par (0,165) y es la única que supera a ambas modalidades (VIS 0,157; IR 0,119).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recupera ambas clases con un promedio intermedio (0,124): detecta seis personas donde cada modalidad detecta dos, pero el realce elevado no maximiza el mAP.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prueba visual: ambas clases en una sola imagen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m3fd_detec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822960"/>
            <a:ext cx="630936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Arriba: la fusión detecta 6 personas frente a 2 del VIS y 2 del IR. Abajo: el IR no ve ninguna luz — la fusión conserva las 4.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banco disco + líneas con suma de ramas supera al Top-Hat clásico en 6 de 9 métricas y al estado del arte en EN, FE, MG y SF, con significancia estadística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configuración hallada por PSO con la metodología de referencia (r = 25; m = 0,30) supera a la parametrización manual del operador clásico (r = 5; m = 1) en seis de las nueve métricas, con significancia estadística.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supera al visible solo en detección, pero ninguna fusión supera al infrarrojo solo; la mejor calidad de imagen no garantiza el mejor mAP.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barrido PSO de 25 configuraciones con la aptitud y el rango publicados converge a m* = 0,30 en todas ellas; el radio r = 25 maximiza las nueve métricas de evaluación.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lidera la entropía (6,9888) y el contenido de bordes (1,1045) del benchmark y ocupa el segundo lugar del ranking agregado (3,67), tras la pirámide de Laplace (3,44).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el banco de SE y el ajuste automático mejoran seis de las nueve métricas con significancia estadística, incluida la similitud estructural.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Aporte central en detección (M3FD): la fusión detecta en una sola imagen los objetos complementarios —personas (solo en IR) y luces (solo en VIS)— que ninguna modalidad capta por separado; la propuesta es la mejor fusión del estudio.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prima la riqueza informativa y el detalle, la propuesta es la opción recomendada; donde prima la fidelidad a las fuentes, los métodos multiescala (DTCWT, CVT) siguen siendo preferibles.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github.com/YanBajac/TFM_Fusion_Imagenes_Propuesta_Oficial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2026-07-27T02:05:02Z</dcterms:created>
  <dcterms:modified xsi:type="dcterms:W3CDTF">2026-07-27T02:05:02Z</dcterms:modified>
</cp:coreProperties>
</file>