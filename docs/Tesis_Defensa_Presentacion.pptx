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Esta lámina proyectaba sólo tres: faltaban H2, H3, H4 y H7.</a:t>
            </a:r>
          </a:p>
          <a:p/>
          <a:p>
            <a:r>
              <a:t>No usar la etiqueta «parcial» para H6: con ρ = +0,214, p = 0,645 y 232 escenas, el rechazo de la hipótesis de traslación es limpio y es un aporte.</a:t>
            </a:r>
          </a:p>
          <a:p/>
          <a:p>
            <a:r>
              <a:t>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a:p/>
          <a:p>
            <a:r>
              <a:t>SI PREGUNTAN POR LA CORRELACIÓN DE H6, hay una respuesta preparada y conviene darla antes de que la busquen. El ρ = +0,214 es con las nueve métricas reportadas sobre el mAP@0,5 de LLVIP, y ninguno de los cuatro contrastes con esas nueve alcanza significancia. Pero al repetir la correlación con el conjunto ampliado de diecisiete sobre el mAP@0,5:0,95 de M3FD, sí aparece asociación y en la dirección esperada: ρ = −0,8929 con p = 0,0068. Son doce contrastes sobre siete métodos, así que ese único hallazgo no sobrevive a la corrección por multiplicidad (Bonferroni 0,0816) y hay que presentarlo como una pista, no como un resultado. Lo que dice es lo mismo que el control negativo: la batería de nueve no predice la utilidad y la ampliada apunta a que sí. Lo calcula experiments/run_correlacion_calidad_deteccion.py.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punto de operación adoptado; perfil de calidad validado; ventaja sobre el clásico demostrada; y la lección sobre calidad vs. tarea. No decir «óptimo hallado»: la optimización no lo fija, y eso es H5. Dentro del rango publicado el máximo de la aptitud está en r = 1 (1,7350) contra 1,7057 en r = 25, y el peso queda en el piso, m = 0,30, en 499 de las 500 corridas. El r = 25 lo elige la batería de evaluación.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familias de recomendaciones, y la primera es la que trasciende el trabajo: cómo debería evaluarse la fusión VIS/IR. Antes esta lámina no mencionaba el protocolo en ninguna parte.</a:t>
            </a:r>
          </a:p>
          <a:p/>
          <a:p>
            <a:r>
              <a:t>Ojo con la primera recomendación, que es la que más se malinterpreta: Nabf NO arregla el control negativo por sí sola. Lo mejora —el brazo de ruido baja del 3.er al 7.º puesto de 14— pero sigue por delante de Curvelet y del Top-Hat clásico. Recién con las diecisiete métricas queda último. Ese es el argumento de la cuarta recomendación: el control negativo tiene que ser un requisito del benchmark, no se resuelve agregando una métrica.</a:t>
            </a:r>
          </a:p>
          <a:p/>
          <a:p>
            <a:r>
              <a:t>La recomendación de uso ya no dice «la propuesta es la opción recomendada» sin más: la acota al requisito de maximizar actividad y declara el costo, con el líder de cada métrica de fidelidad nombrado. Y agrega la advertencia que se desprende de los dos experimentos de detección: para alimentar un detector, ninguna fusión antes que la mejor modalidad sola.</a:t>
            </a:r>
          </a:p>
          <a:p/>
          <a:p>
            <a:r>
              <a:t>Cerrar recordando que el pipeline completo es reproducible desde el repositorio.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el máximo de la aptitud dentro del rango está en r = 1 (1,7350) contra 1,7057 en r = 25.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2017).</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txBox="1"/>
          <p:nvPr/>
        </p:nvSpPr>
        <p:spPr>
          <a:xfrm>
            <a:off x="457200" y="914400"/>
            <a:ext cx="8229600" cy="3931920"/>
          </a:xfrm>
          <a:prstGeom prst="rect">
            <a:avLst/>
          </a:prstGeom>
          <a:noFill/>
        </p:spPr>
        <p:txBody>
          <a:bodyPr wrap="square" anchor="t" lIns="0" rIns="0" tIns="0" bIns="0">
            <a:spAutoFit/>
          </a:bodyPr>
          <a:lstStyle/>
          <a:p>
            <a:pPr>
              <a:spcAft>
                <a:spcPts val="500"/>
              </a:spcAft>
            </a:pPr>
            <a:r>
              <a:rPr sz="1150" b="1">
                <a:solidFill>
                  <a:srgbClr val="1A1A1A"/>
                </a:solidFill>
                <a:latin typeface="Times New Roman"/>
              </a:rPr>
              <a:t>H1 SE SOSTIENE — </a:t>
            </a:r>
            <a:r>
              <a:rPr sz="1150" b="0">
                <a:solidFill>
                  <a:srgbClr val="1A1A1A"/>
                </a:solidFill>
                <a:latin typeface="Times New Roman"/>
              </a:rPr>
              <a:t>El operador desplaza el punto de operación y no mejora de forma uniforme: en actividad espacial, 24 de 25 contrastes favorables y significativos y ninguno adverso con significancia; en fidelidad a las fuentes, 17 de 20 adversos y significativos (Wilcoxon–Holm).</a:t>
            </a:r>
          </a:p>
          <a:p>
            <a:pPr>
              <a:spcAft>
                <a:spcPts val="500"/>
              </a:spcAft>
            </a:pPr>
            <a:r>
              <a:rPr sz="1150" b="1">
                <a:solidFill>
                  <a:srgbClr val="1A1A1A"/>
                </a:solidFill>
                <a:latin typeface="Times New Roman"/>
              </a:rPr>
              <a:t>H2 SE SOSTIENE — </a:t>
            </a:r>
            <a:r>
              <a:rPr sz="1150" b="0">
                <a:solidFill>
                  <a:srgbClr val="1A1A1A"/>
                </a:solidFill>
                <a:latin typeface="Times New Roman"/>
              </a:rPr>
              <a:t>1.ª de 7 con las nueve métricas (3,394) y 3.ª con las diecisiete (3,459), donde el primer lugar pasa a la pirámide de Laplace (3,147). No cambió ninguna imagen fusionada; cambió el conjunto de métricas.</a:t>
            </a:r>
          </a:p>
          <a:p>
            <a:pPr>
              <a:spcAft>
                <a:spcPts val="500"/>
              </a:spcAft>
            </a:pPr>
            <a:r>
              <a:rPr sz="1150" b="1">
                <a:solidFill>
                  <a:srgbClr val="1A1A1A"/>
                </a:solidFill>
                <a:latin typeface="Times New Roman"/>
              </a:rPr>
              <a:t>H3 SE SOSTIENE — </a:t>
            </a:r>
            <a:r>
              <a:rPr sz="1150" b="0">
                <a:solidFill>
                  <a:srgbClr val="1A1A1A"/>
                </a:solidFill>
                <a:latin typeface="Times New Roman"/>
              </a:rPr>
              <a:t>La fusión artificial de ruido gaussiano con σ = 0,20 queda 3.ª de 14 y su rango mejora al aumentar σ (8,917 → 6,767), por delante de cinco de los seis comparativos. Incorporando Nabf cae al 7.º puesto; con las diecisiete, al último (10,138).</a:t>
            </a:r>
          </a:p>
          <a:p>
            <a:pPr>
              <a:spcAft>
                <a:spcPts val="500"/>
              </a:spcAft>
            </a:pPr>
            <a:r>
              <a:rPr sz="1150" b="1">
                <a:solidFill>
                  <a:srgbClr val="1A1A1A"/>
                </a:solidFill>
                <a:latin typeface="Times New Roman"/>
              </a:rPr>
              <a:t>H4 SE SOSTIENE — </a:t>
            </a:r>
            <a:r>
              <a:rPr sz="1150" b="0">
                <a:solidFill>
                  <a:srgbClr val="1A1A1A"/>
                </a:solidFill>
                <a:latin typeface="Times New Roman"/>
              </a:rPr>
              <a:t>FE es la entropía reescalada dentro de cada par: rangos idénticos en las 20 imágenes y el mismo χ² de Friedman (88,2857). Las dimensiones efectivas son ocho, no nueve.</a:t>
            </a:r>
          </a:p>
          <a:p>
            <a:pPr>
              <a:spcAft>
                <a:spcPts val="500"/>
              </a:spcAft>
            </a:pPr>
            <a:r>
              <a:rPr sz="1150" b="1">
                <a:solidFill>
                  <a:srgbClr val="1A1A1A"/>
                </a:solidFill>
                <a:latin typeface="Times New Roman"/>
              </a:rPr>
              <a:t>H5 SE SOSTIENE — </a:t>
            </a:r>
            <a:r>
              <a:rPr sz="1150" b="0">
                <a:solidFill>
                  <a:srgbClr val="1A1A1A"/>
                </a:solidFill>
                <a:latin typeface="Times New Roman"/>
              </a:rPr>
              <a:t>La optimización no determina la configuración adoptada. En 500 corridas la búsqueda no fija el radio (r = 25 en el 51,4 % y r = 1 en el 45,6 %) y el máximo de la aptitud dentro del rango está en r = 1 (1,7350), no en r = 25 (1,7057). El peso queda en el piso, 0,30, en 499 de las 500.</a:t>
            </a:r>
          </a:p>
          <a:p>
            <a:pPr>
              <a:spcAft>
                <a:spcPts val="500"/>
              </a:spcAft>
            </a:pPr>
            <a:r>
              <a:rPr sz="1150" b="1">
                <a:solidFill>
                  <a:srgbClr val="1A1A1A"/>
                </a:solidFill>
                <a:latin typeface="Times New Roman"/>
              </a:rPr>
              <a:t>H6 SE SOSTIENE — </a:t>
            </a:r>
            <a:r>
              <a:rPr sz="1150" b="0">
                <a:solidFill>
                  <a:srgbClr val="1A1A1A"/>
                </a:solidFill>
                <a:latin typeface="Times New Roman"/>
              </a:rPr>
              <a:t>Ninguna fusión supera al infrarrojo solo en LLVIP (0,971 frente a 0,952 de la mejor fusión), el orden de calidad no predice el mAP (ρ = +0,214; p = 0,645) y en el conteo por escena de M3FD la propuesta queda por debajo del visible (50,0 % frente a 53,0 %; McNemar exacto p = 0,2100; n = 232).</a:t>
            </a:r>
          </a:p>
          <a:p>
            <a:pPr>
              <a:spcAft>
                <a:spcPts val="500"/>
              </a:spcAft>
            </a:pPr>
            <a:r>
              <a:rPr sz="1150" b="1">
                <a:solidFill>
                  <a:srgbClr val="1A1A1A"/>
                </a:solidFill>
                <a:latin typeface="Times New Roman"/>
              </a:rPr>
              <a:t>H7 SE SOSTIENE — </a:t>
            </a:r>
            <a:r>
              <a:rPr sz="1150" b="0">
                <a:solidFill>
                  <a:srgbClr val="1A1A1A"/>
                </a:solidFill>
                <a:latin typeface="Times New Roman"/>
              </a:rPr>
              <a:t>Con (r, m) = (25; 0,30) fijos, la suma de ramas es la mejor de los seis brazos con las nueve métricas (3,222 frente a 3,367 del disco único), y la imagen base queda última con las diecisiete (4,359).</a:t>
            </a:r>
          </a:p>
          <a:p>
            <a:pPr>
              <a:spcAft>
                <a:spcPts val="500"/>
              </a:spcAft>
            </a:pPr>
            <a:r>
              <a:rPr sz="1150" b="1">
                <a:solidFill>
                  <a:srgbClr val="1A1A1A"/>
                </a:solidFill>
                <a:latin typeface="Times New Roman"/>
              </a:rPr>
              <a:t>Las siete se sostienen. </a:t>
            </a:r>
            <a:r>
              <a:rPr sz="1150" b="0">
                <a:solidFill>
                  <a:srgbClr val="1A1A1A"/>
                </a:solidFill>
                <a:latin typeface="Times New Roman"/>
              </a:rPr>
              <a:t>Dos son del operador (H1 y H7) y cinco del criterio (H2 a H6). Sostener H6 equivale a rechazar que la mejora de calidad se traslade a la detección: es un resultado del trabajo, no una limitación.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con la aptitud y el rango publicados, repetido 20 veces por celda —500 corridas—, converge a m* = 0,30 en el 99,8 %, el piso del rango; el máximo de la aptitud está en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Sobre el protocolo de evaluación (aporte transferible)</a:t>
            </a:r>
            <a:endParaRPr lang="en-US" sz="1350" dirty="0"/>
          </a:p>
          <a:p>
            <a:pPr>
              <a:spcAft>
                <a:spcPts val="400"/>
              </a:spcAft>
            </a:pPr>
            <a:r>
              <a:rPr sz="1100" b="0">
                <a:solidFill>
                  <a:srgbClr val="1A1A1A"/>
                </a:solidFill>
                <a:latin typeface="Times New Roman"/>
              </a:rPr>
              <a:t>Incluir al menos una métrica de dirección inversa que penalice artefactos. No alcanza con una: al sumar Nabf, el control negativo baja del 3.er al 7.º puesto de 14, pero todavía supera a Curvelet y al Top-Hat clásico. Con las diecisiete métricas queda último.</a:t>
            </a:r>
          </a:p>
          <a:p>
            <a:pPr>
              <a:spcAft>
                <a:spcPts val="400"/>
              </a:spcAft>
            </a:pPr>
            <a:r>
              <a:rPr sz="1100" b="0">
                <a:solidFill>
                  <a:srgbClr val="1A1A1A"/>
                </a:solidFill>
                <a:latin typeface="Times New Roman"/>
              </a:rPr>
              <a:t>Declarar la redundancia entre las componentes de la batería y reportar el número efectivo de dimensiones, no el nominal.</a:t>
            </a:r>
          </a:p>
          <a:p>
            <a:pPr>
              <a:spcAft>
                <a:spcPts val="400"/>
              </a:spcAft>
            </a:pPr>
            <a:r>
              <a:rPr sz="1100" b="0">
                <a:solidFill>
                  <a:srgbClr val="1A1A1A"/>
                </a:solidFill>
                <a:latin typeface="Times New Roman"/>
              </a:rPr>
              <a:t>Separar el ajuste de hiperparámetros del criterio de evaluación, o declarar la circularidad y acotarla con un ajuste simétrico de los comparativos.</a:t>
            </a:r>
          </a:p>
          <a:p>
            <a:pPr>
              <a:spcAft>
                <a:spcPts val="400"/>
              </a:spcAft>
            </a:pPr>
            <a:r>
              <a:rPr sz="1100" b="0">
                <a:solidFill>
                  <a:srgbClr val="1A1A1A"/>
                </a:solidFill>
                <a:latin typeface="Times New Roman"/>
              </a:rPr>
              <a:t>Incorporar un control negativo con degradaciones conocidas como requisito mínimo de cualquier benchmark de fusión, y reportar todo orden agregado junto a la composición del conjunto de métricas que lo produce.</a:t>
            </a:r>
          </a:p>
          <a:p>
            <a:pPr>
              <a:spcAft>
                <a:spcPts val="400"/>
              </a:spcAft>
            </a:pPr>
            <a:r>
              <a:rPr sz="1100" b="1">
                <a:solidFill>
                  <a:srgbClr val="1A1A1A"/>
                </a:solidFill>
                <a:latin typeface="Times New Roman"/>
              </a:rPr>
              <a:t>Sobre el operador</a:t>
            </a:r>
          </a:p>
          <a:p>
            <a:pPr>
              <a:spcAft>
                <a:spcPts val="400"/>
              </a:spcAft>
            </a:pPr>
            <a:r>
              <a:rPr sz="1100" b="0">
                <a:solidFill>
                  <a:srgbClr val="1A1A1A"/>
                </a:solidFill>
                <a:latin typeface="Times New Roman"/>
              </a:rPr>
              <a:t>Extender la evaluación de detección a otros detectores y al conjunto completo de LLVIP, con varias semillas: los experimentos actuales usan una sola.</a:t>
            </a:r>
          </a:p>
          <a:p>
            <a:pPr>
              <a:spcAft>
                <a:spcPts val="400"/>
              </a:spcAft>
            </a:pPr>
            <a:r>
              <a:rPr sz="1100" b="0">
                <a:solidFill>
                  <a:srgbClr val="1A1A1A"/>
                </a:solidFill>
                <a:latin typeface="Times New Roman"/>
              </a:rPr>
              <a:t>Explorar reglas de fusión adaptativas para la rama Black Top-Hat, que es donde se concentran los artefactos (Nabf 0,374 frente a 0,185 del disco único).</a:t>
            </a:r>
          </a:p>
          <a:p>
            <a:pPr>
              <a:spcAft>
                <a:spcPts val="400"/>
              </a:spcAft>
            </a:pPr>
            <a:r>
              <a:rPr sz="1100" b="0">
                <a:solidFill>
                  <a:srgbClr val="1A1A1A"/>
                </a:solidFill>
                <a:latin typeface="Times New Roman"/>
              </a:rPr>
              <a:t>Complementar las métricas objetivas con una validación perceptual por observadores: es el único criterio que el control negativo no puede engañar.</a:t>
            </a:r>
          </a:p>
          <a:p>
            <a:pPr>
              <a:spcAft>
                <a:spcPts val="400"/>
              </a:spcAft>
            </a:pPr>
            <a:r>
              <a:rPr sz="1100" b="0">
                <a:solidFill>
                  <a:srgbClr val="1A1A1A"/>
                </a:solidFill>
                <a:latin typeface="Times New Roman"/>
              </a:rPr>
              <a:t>Evaluar la transferencia a otros dominios; los resultados corresponden a escenas de vigilancia nocturna.</a:t>
            </a:r>
          </a:p>
          <a:p>
            <a:pPr>
              <a:spcAft>
                <a:spcPts val="400"/>
              </a:spcAft>
            </a:pPr>
            <a:r>
              <a:rPr sz="1100" b="0">
                <a:solidFill>
                  <a:srgbClr val="1A1A1A"/>
                </a:solidFill>
                <a:latin typeface="Times New Roman"/>
              </a:rPr>
              <a:t>Uso recomendado: el operador es recomendable cuando el requisito explícito es maximizar actividad espacial y contraste local, y se acepta el costo en fidelidad y artefactos. Donde prima la fidelidad a las fuentes, la pirámide de Laplace domina la información mutua (1,924 / 0,918) y la tasa de artefactos (Nabf 0,114), DTCWT el SSIM (0,725) y la aproximación CVT el PSNR (17,65). Para alimentar un detector, ninguna fusión de este estudio antes que la mejor modalidad individual.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