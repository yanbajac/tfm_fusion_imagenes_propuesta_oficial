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COMUNERA — UCOM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Ciencias de Datos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Fusión de Imágenes Infrarrojas y Visibles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Morfología Matemática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propuesta basada en la Torre Top-Hat multiescala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6118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Autores: Lic. Juan Pablo Bazán  ·  Ing. Yan Bajac</a:t>
            </a:r>
            <a:endParaRPr lang="en-US" sz="13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D.Sc. Julio César Mello</a:t>
            </a:r>
            <a:endParaRPr lang="en-US" sz="13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seguimiento — Asunción, junio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cámaras, dos formas de ver la misma escena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4" name="Image 0" descr="assets/v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51560"/>
            <a:ext cx="3291840" cy="2468880"/>
          </a:xfrm>
          <a:prstGeom prst="rect">
            <a:avLst/>
          </a:prstGeom>
        </p:spPr>
      </p:pic>
      <p:pic>
        <p:nvPicPr>
          <p:cNvPr id="5" name="Image 1" descr="assets/i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12080" y="1051560"/>
            <a:ext cx="3291840" cy="24688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1051560"/>
            <a:ext cx="3291840" cy="2468880"/>
          </a:xfrm>
          <a:prstGeom prst="rect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212080" y="1051560"/>
            <a:ext cx="3291840" cy="2468880"/>
          </a:xfrm>
          <a:prstGeom prst="rect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visible (VIS)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21208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infrarroja (IR)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cámara visible funciona como el ojo humano: capta la luz. El humo cubre la escena y el soldado resulta invisible.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cámara infrarroja detecta el calor: el soldado aparece con claridad, aunque la imagen pierde textura y detalle.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fusión de imágenes?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es combinar ambas tomas en una sola imagen que conserve lo mejor de cada una: el contexto de la cámara visible y los objetos cálidos que detecta la térmica.</a:t>
            </a:r>
            <a:endParaRPr lang="en-US" sz="1400" dirty="0"/>
          </a:p>
        </p:txBody>
      </p:sp>
      <p:pic>
        <p:nvPicPr>
          <p:cNvPr id="5" name="Image 0" descr="assets/v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2377440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91640"/>
            <a:ext cx="2377440" cy="1783080"/>
          </a:xfrm>
          <a:prstGeom prst="rect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3566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</a:t>
            </a:r>
            <a:endParaRPr lang="en-US" sz="1200" dirty="0"/>
          </a:p>
        </p:txBody>
      </p:sp>
      <p:pic>
        <p:nvPicPr>
          <p:cNvPr id="8" name="Image 1" descr="assets/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691640"/>
            <a:ext cx="2377440" cy="1783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83280" y="1691640"/>
            <a:ext cx="2377440" cy="1783080"/>
          </a:xfrm>
          <a:prstGeom prst="rect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91840" y="3566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Infrarroja</a:t>
            </a:r>
            <a:endParaRPr lang="en-US" sz="1200" dirty="0"/>
          </a:p>
        </p:txBody>
      </p:sp>
      <p:pic>
        <p:nvPicPr>
          <p:cNvPr id="11" name="Image 2" descr="assets/fus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2377440" cy="17830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263640" y="1691640"/>
            <a:ext cx="2377440" cy="1783080"/>
          </a:xfrm>
          <a:prstGeom prst="rect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172200" y="3566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fusionada (método propuesto)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2880360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5760720" y="2331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Aplicaciones: vigilancia, búsqueda y rescate, conducción nocturna, inspección industrial.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propuesto: la Torre Top-Hat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es similar a una serie de tamices: cada nivel separa detalles de un tamaño distinto (finos, medios, gruesos), hasta dejar solo el fondo.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nivel se comparan ambas cámaras y se conserva, zona por zona, la que aporta más información.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final, la imagen se reconstruye sumando todas las capas seleccionadas.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basa en morfología matemática: analiza formas y tamaños. Es un método transparente, interpretable y de bajo costo computacional (no requiere entrenamiento).</a:t>
            </a:r>
            <a:endParaRPr lang="en-US" sz="1350" dirty="0"/>
          </a:p>
        </p:txBody>
      </p:sp>
      <p:pic>
        <p:nvPicPr>
          <p:cNvPr id="5" name="Image 0" descr="assets/fig_esquema_torre_top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325880"/>
            <a:ext cx="3886200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00600" y="1325880"/>
            <a:ext cx="3886200" cy="2057400"/>
          </a:xfrm>
          <a:prstGeom prst="rect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00600" y="3474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1. Esquema de la descomposición y fusión por niveles.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mide la calidad de una fusión?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imagen “correcta” de referencia, por lo que se utilizan métricas que evalúan la imagen por sí misma: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(EN, FE): cuánto contenido tiene la imagen resultante.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(SD) y nitidez (MG): zonas claras/oscuras y bordes.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Fidelidad a las fuentes (MI, SSIM, SCD): cuánto conserva de cada cámara.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 y artefactos (Qabf, Nabf, VIF): la calidad real de la fusión.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experimental: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pares de imágenes VIS/IR del dataset público TNO.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métodos comparados (3 clásicos + 8 variantes Top-Hat) y 36 configuraciones del método propuesto.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métricas de calidad por imagen, validadas con pruebas estadísticas.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comparación visual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4" name="Image 0" descr="assets/fig_qualitativ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05840"/>
            <a:ext cx="6949440" cy="3090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97280" y="1005840"/>
            <a:ext cx="6949440" cy="3090672"/>
          </a:xfrm>
          <a:prstGeom prst="rect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2. Cada fila es una escena. Las dos primeras columnas son las tomas originales (VIS e IR); las restantes, los métodos de fusión evaluados. La Torre Top-Hat mantiene visibles los objetos cálidos sin perder el detalle del fondo.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ranking global de los métodos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propuesto es el mejor entre los morfológicos y 2° en el ranking general.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las métricas estándar de calidad supera a la Pirámide de Laplace en fidelidad estructural (SSIM, SCD): cada método gana en aspectos distintos.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estadísticamente significativas (Friedman, p &lt; 0,001 en las 12 métricas).</a:t>
            </a:r>
            <a:endParaRPr lang="en-US" sz="1300" dirty="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940" y="1051560"/>
            <a:ext cx="4254120" cy="2836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Refinamiento metodológico durante el desarrollo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revisar el código se detectó que una regla interna favorecía artificialmente al método propuesto. Se corrigió y se repitió todo el experimento.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inicial (sesgada)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fondo de la imagen se elegía pixel a pixel, mezclando iluminaciones.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inflaba la métrica de fidelidad (MI) del método propuesto.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Top-Hat parecía dominar la comparación.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4632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corregida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210312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fondo se promedia: ambas cámaras aportan por igual.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honestos y reproducibles.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compite legítimamente (2° lugar) en vez de “ganar” por un error.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Detectar, corregir y reportar este sesgo fortalece la validez del estudio.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Aportes de la investigación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método nuevo, transparente y de bajo costo, superior a la Pirámide de Laplace en fidelidad estructural (SSIM, SCD).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rigurosa con 12 métricas, incluyendo preservación de bordes (Qabf) y artefactos (Nabf).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metodológicos: separar la regla del fondo evita inflar las métricas; el Black Top-Hat añade contraste pero también artefactos.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reproducible: código, datos y análisis estadístico disponibles.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pasos: validar en un segundo dataset (RoadScene / M3FD), explorar un uso selectivo del Black Top-Hat y la redacción final.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Lic. Juan Pablo Bazán  ·  Ing. Yan Bajac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D.Sc. Julio César Mello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UCOM — Maestría en Ciencias de Datos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Fusion de Imagenes IR+VIS - Morfologia Matematica</dc:title>
  <dc:subject>PptxGenJS Presentation</dc:subject>
  <dc:creator>J.P. Bazan - Y. Bajac</dc:creator>
  <cp:lastModifiedBy>J.P. Bazan - Y. Bajac</cp:lastModifiedBy>
  <cp:revision>1</cp:revision>
  <dcterms:created xsi:type="dcterms:W3CDTF">2026-06-11T11:44:00Z</dcterms:created>
  <dcterms:modified xsi:type="dcterms:W3CDTF">2026-06-11T11:44:00Z</dcterms:modified>
</cp:coreProperties>
</file>