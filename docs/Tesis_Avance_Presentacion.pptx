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77240" y="1554480"/>
            <a:ext cx="1063721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Arial"/>
              </a:rPr>
              <a:t>UNIVERSIDAD COMUNERA — UCOM   ·   Maestría en Ciencias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372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Arial"/>
              </a:rPr>
              <a:t>Fusión de imágenes infrarrojas y visibles</a:t>
            </a:r>
          </a:p>
          <a:p>
            <a:r>
              <a:rPr sz="3800" b="1" i="0">
                <a:solidFill>
                  <a:srgbClr val="1A1A1A"/>
                </a:solidFill>
                <a:latin typeface="Arial"/>
              </a:rPr>
              <a:t>mediante morfología matemática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F5B7C"/>
                </a:solidFill>
                <a:latin typeface="Arial"/>
              </a:rPr>
              <a:t>Un método óptimo multiescala con elementos estructurantes circulares y lineales, optimizado por PSO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4937760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512064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Autores:  Lic. Juan Pablo Bazán   ·   Ing. Yan Bajac</a:t>
            </a:r>
          </a:p>
          <a:p>
            <a:r>
              <a:rPr sz="1300" b="0" i="0">
                <a:solidFill>
                  <a:srgbClr val="1A1A1A"/>
                </a:solidFill>
                <a:latin typeface="Arial"/>
              </a:rPr>
              <a:t>Director:  D.Sc. Julio César Mello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8A8A8A"/>
                </a:solidFill>
                <a:latin typeface="Arial"/>
              </a:rPr>
              <a:t>Avance de tesis   ·   Asunción,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372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01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Problema y objetivos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02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Marco teórico — método multiescala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03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Diseño experimental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04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Hallazgo metodológico (refinamiento)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05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Resultados cuantitativos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06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Análisis estadístico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2F5B7C"/>
                </a:solidFill>
                <a:latin typeface="Arial"/>
              </a:rPr>
              <a:t>07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Conclusiones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1 ·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Problema y contexto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3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Por qué fusionar VIS + IR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VIS: alta resolución textural y color, sensible a iluminación adversa (noche, niebla, humo).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IR: robusto a oscuridad y oclusores atmosféricos, pero baja resolución y poca textura.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La fusión integra ambas modalidades en una representación útil para vigilancia, conducción autónoma e inspección industrial.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Brecha en la literatura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La morfología matemática preserva geometría con bajo costo computacional, pero los trabajos previos suelen restringirse a una única escala o un único elemento estructurante.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No existe un estudio sistemático que articule SE × niveles × radio, contrastado contra baselines clásicos.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Esta tesis aborda esa brecha con un benchmark factorial de 36 configuraciones × 20 pares VIS/IR.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1 ·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Objetivos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Objetivo general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Proponer y evaluar un método óptimo multiescala de fusión VIS+IR (Top-Hat con elementos estructurantes circulares y lineales, optimizado por PSO), comparándolo con el método anterior (Torre Top-Hat) y con baselines clásicos, y analizando su impacto en una tarea de detección, sobre el TNO Image Fusion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Objetivos específicos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01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Formular el método óptimo multiescala: banco de 5 SE (disco + 4 líneas) y cascada de n escalas.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02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Optimizar automáticamente sus hiperparámetros (n, r, m) mediante enjambre de partículas (PSO).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03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Comparar con el método anterior (Torre Top-Hat) y los baselines con 12 métricas y pruebas no paramétricas.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04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Analizar el impacto de la fusión en una tarea de detección de objetos (YOLO).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2 · MARCO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Transformada Top-Hat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White Top-Hat (WTH)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WTH(f, b) = f − γ(f, b),  con γ = apertura morfológica = δ(ε(f, b), b).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Aísla estructuras brillantes locales menores que el elemento estructurante b.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Es siempre no-negativa; se anula donde la imagen es plana a la escala del SE.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Decisión de diseño central: el elemento estructurante (SE)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La geometría (disco, cuadrado, cruz) y el radio del SE definen qué orientaciones, simetrías y escalas se preservan o eliminan.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La Torre Top-Hat encadena varias de estas transformadas con SE de radio creciente para extraer detalles a múltiples escalas.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2 · MÉTODO PROPUESTO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Método óptimo multiescala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6 / 21</a:t>
            </a:r>
          </a:p>
        </p:txBody>
      </p:sp>
      <p:pic>
        <p:nvPicPr>
          <p:cNvPr id="7" name="Picture 6" descr="C_esquema_vec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766560" cy="23199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554480"/>
            <a:ext cx="36118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Operador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Banco de 5 SE por escala: 1 disco + 4 líneas (0/45/90/135°), combinados por máximo.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Cascada de n escalas (radios r·i); agregación por máximo entre escalas.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Regla de fusión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F5B7C"/>
                </a:solidFill>
                <a:latin typeface="Arial"/>
              </a:rPr>
              <a:t>F = I_base + m·(WTH_M+WTHS_M) − m·(BTH_M+BTHS_M)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Optimización (PSO)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Los hiperparámetros (n, r, m) se ajustan por enjambre de partículas → n=6, r≈2,89, m=0,10. La Torre Top-Hat (un disco por escala) es el método anterior de comparación.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3 · DISEÑO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Diseño experimental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F5B7C"/>
                </a:solidFill>
                <a:latin typeface="Arial"/>
              </a:rPr>
              <a:t>20</a:t>
            </a:r>
          </a:p>
          <a:p>
            <a:r>
              <a:rPr sz="1200" b="0" i="0">
                <a:solidFill>
                  <a:srgbClr val="555555"/>
                </a:solidFill>
                <a:latin typeface="Arial"/>
              </a:rPr>
              <a:t>pares VIS/IR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55848" y="1783080"/>
            <a:ext cx="0" cy="91440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0" y="164592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F5B7C"/>
                </a:solidFill>
                <a:latin typeface="Arial"/>
              </a:rPr>
              <a:t>36</a:t>
            </a:r>
          </a:p>
          <a:p>
            <a:r>
              <a:rPr sz="1200" b="0" i="0">
                <a:solidFill>
                  <a:srgbClr val="555555"/>
                </a:solidFill>
                <a:latin typeface="Arial"/>
              </a:rPr>
              <a:t>configuraciones Top-Hat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36208" y="1783080"/>
            <a:ext cx="0" cy="91440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37960" y="164592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F5B7C"/>
                </a:solidFill>
                <a:latin typeface="Arial"/>
              </a:rPr>
              <a:t>11</a:t>
            </a:r>
          </a:p>
          <a:p>
            <a:r>
              <a:rPr sz="1200" b="0" i="0">
                <a:solidFill>
                  <a:srgbClr val="555555"/>
                </a:solidFill>
                <a:latin typeface="Arial"/>
              </a:rPr>
              <a:t>métodos comparados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16568" y="1783080"/>
            <a:ext cx="0" cy="91440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18320" y="164592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2F5B7C"/>
                </a:solidFill>
                <a:latin typeface="Arial"/>
              </a:rPr>
              <a:t>12</a:t>
            </a:r>
          </a:p>
          <a:p>
            <a:r>
              <a:rPr sz="1200" b="0" i="0">
                <a:solidFill>
                  <a:srgbClr val="555555"/>
                </a:solidFill>
                <a:latin typeface="Arial"/>
              </a:rPr>
              <a:t>métricas no-reference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607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Estudio 1 — Benchmark factorial de la Torre Top-Hat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SE ∈ {disco, cuadrado, cruz} × Niveles ∈ {2,3,4,5} × r₀ ∈ {2,3,5}.  Total: 36 × 20 = 720 fusiones.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Estudio 2 — Comparación inter-método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Promedio · Pirámide Laplace · Curvelet · 4 Top-Hat WTH · 4 WTH+BTH, sobre 12 métricas (6 clásicas + 6 estándar de calidad).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3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TNO Image Fusion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TNO Multiband Image Data Collection (Toet, 2014). 20 pares seleccionados: vehículos blindados, soldados tras humo, escenas urbanas a contraluz, vegetación e interiores industriales.</a:t>
            </a:r>
          </a:p>
        </p:txBody>
      </p:sp>
      <p:pic>
        <p:nvPicPr>
          <p:cNvPr id="8" name="Picture 7" descr="fig_qualit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134" y="2468880"/>
            <a:ext cx="7175252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7424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8A8A"/>
                </a:solidFill>
                <a:latin typeface="Arial"/>
              </a:rPr>
              <a:t>Ejemplos de pares VIS / IR y comparación cualitativa de los principales métodos.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4 · REFINAMIENTO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Identificación del sesgo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9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Durante la revisión iterativa del código se identificó un sesgo metodológico en la regla de fusión.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Versión inicial (sesgada)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Max-actividad aplicada a TODAS las capas, incluida la base.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La base se elegía píxel a píxel entre VIS e IR → discontinuidades de iluminación.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La información mutua (MI) quedaba inflada artificialmente.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83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Versión corregida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Reglas distintas: detalle por max-actividad, base por PROMEDIO.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Coherente con Burt-Adelson y la fusión multiescala clásica.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Verificación: la descomposición sin BTH reconstruye f exactamente (error 0.0).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Este refinamiento cambió las conclusiones cuantitativas de la tesis.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4 · REFINAMIENTO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Impacto en las conclusiones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10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5B7C"/>
                </a:solidFill>
                <a:latin typeface="Arial"/>
              </a:rPr>
              <a:t>Lectura honesta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La Torre Top-Hat ya no domina la información mutua por construcción del sesgo. La Pirámide de Laplace pasa a liderar 5 de 6 métricas clásicas en valor medio (Curvelet gana MG).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El promedio simple, por su naturaleza lineal F=(V+I)/2, conserva información de ambas fuentes y compite en MI per-imagen. La Torre Top-Hat queda en una posición media-alta como método clásico interpretable y competitivo.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Promedios por método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11 / 21</a:t>
            </a:r>
          </a:p>
        </p:txBody>
      </p:sp>
      <p:pic>
        <p:nvPicPr>
          <p:cNvPr id="7" name="Picture 6" descr="tabla_promed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694" y="1554480"/>
            <a:ext cx="10186132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7548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La Pirámide de Laplace lidera 5 de 6 métricas clásicas; Top-Hat disco L5 encabeza entre las configuraciones morfológicas (EN, SD, FE, MG).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5B7C"/>
                </a:solidFill>
                <a:latin typeface="Arial"/>
              </a:rPr>
              <a:t>— 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Las diferencias absolutas entre las 4 configuraciones Top-Hat son modestas (&lt; 0,06 en EN).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Distribución por método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12 / 21</a:t>
            </a:r>
          </a:p>
        </p:txBody>
      </p:sp>
      <p:pic>
        <p:nvPicPr>
          <p:cNvPr id="7" name="Picture 6" descr="fig_boxplo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07" y="1508760"/>
            <a:ext cx="690750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2395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8A8A"/>
                </a:solidFill>
                <a:latin typeface="Arial"/>
              </a:rPr>
              <a:t>Diagramas de caja por método (n = 20 pares VIS/IR).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Las diferencias en EN, SD, FE y MG entre métodos son sólidas; en MI la dispersión es alta y favorece al Promedio.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6 · ANÁLISIS ESTADÍSTICO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Friedman y ranking global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13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5B7C"/>
                </a:solidFill>
                <a:latin typeface="Arial"/>
              </a:rPr>
              <a:t>Prueba de Friedman global</a:t>
            </a:r>
          </a:p>
        </p:txBody>
      </p:sp>
      <p:pic>
        <p:nvPicPr>
          <p:cNvPr id="8" name="Picture 7" descr="tabla_frie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5212080" cy="2148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48056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Las doce métricas resultan altamente significativas (p &lt;&lt; 0,001); se muestran seis.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5B7C"/>
                </a:solidFill>
                <a:latin typeface="Arial"/>
              </a:rPr>
              <a:t>Ranking global (menor es mejor)</a:t>
            </a:r>
          </a:p>
        </p:txBody>
      </p:sp>
      <p:pic>
        <p:nvPicPr>
          <p:cNvPr id="11" name="Picture 10" descr="fig_ranking_global_12metr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920240"/>
            <a:ext cx="493776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34924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Pirámide de Laplace lidera el agregado (4,42); la mejor Top-Hat WTH es disco L5 (5,00), muy próxima.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6 · ANÁLISIS ESTADÍSTICO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Benchmark exhaustivo (36 configuraciones)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14 / 21</a:t>
            </a:r>
          </a:p>
        </p:txBody>
      </p:sp>
      <p:pic>
        <p:nvPicPr>
          <p:cNvPr id="7" name="Picture 6" descr="fig_heatmap_top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238" y="1508760"/>
            <a:ext cx="5541043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2395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8A8A"/>
                </a:solidFill>
                <a:latin typeface="Arial"/>
              </a:rPr>
              <a:t>Mapas de calor de las métricas sobre las 36 configuraciones de la Torre Top-Hat.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EN/SD/FE crecen con niveles y radio; MG óptimo en disco L5 r3; MI favorece configuraciones someras. Diferencias internas modestas (robustez de hiperparámetros).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Método óptimo multiescala vs. baselines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15 / 21</a:t>
            </a:r>
          </a:p>
        </p:txBody>
      </p:sp>
      <p:pic>
        <p:nvPicPr>
          <p:cNvPr id="7" name="Picture 6" descr="fig_metodo_optimo_multi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508760"/>
            <a:ext cx="682752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2395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8A8A"/>
                </a:solidFill>
                <a:latin typeface="Arial"/>
              </a:rPr>
              <a:t>Método óptimo multiescala frente al método anterior y a los baselines en las métricas estándar de calidad.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Lidera Qabf (0,514) y SCD (1,453), menor Nabf entre métodos no triviales (0,065) y 2º en SSIM (0,775); cede en contraste (SD, EN). Óptimo PSO: n=6, r≈2,89, m=0,10.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Efecto de la variante Black Top-Hat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16 / 21</a:t>
            </a:r>
          </a:p>
        </p:txBody>
      </p:sp>
      <p:pic>
        <p:nvPicPr>
          <p:cNvPr id="7" name="Picture 6" descr="fig_efecto_black_top_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815" y="1508760"/>
            <a:ext cx="972589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14807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8A8A"/>
                </a:solidFill>
                <a:latin typeface="Arial"/>
              </a:rPr>
              <a:t>Cambio relativo al añadir BTH (verde = mejora; rojo = empeora).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Añadir Black Top-Hat sube contraste y actividad (EN, SD, SF, MG) pero degrada la calidad (Qabf, SSIM, VIF, MI) y multiplica los artefactos (Nabf ×5). No se recomienda por defecto.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6 · EVALUACIÓN ORIENTADA A TAREA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Detección con YOLO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17 / 21</a:t>
            </a:r>
          </a:p>
        </p:txBody>
      </p:sp>
      <p:pic>
        <p:nvPicPr>
          <p:cNvPr id="7" name="Picture 6" descr="fig_deteccion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53" y="1508760"/>
            <a:ext cx="9552214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14807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8A8A"/>
                </a:solidFill>
                <a:latin typeface="Arial"/>
              </a:rPr>
              <a:t>Detecciones de YOLOv8n (inferencia) por modalidad y por método.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En VIS se detecta solo 1 persona; con fusión sube a 13 (WTH) y 16 (+BTH). VIS favorece vehículos, IR/fusión personas; WTH equilibra ambas. Diferencias entre métodos no significativas (n=20); mAP pendiente con dataset etiquetado.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7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Discusión integrada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01   </a:t>
            </a:r>
            <a:r>
              <a:rPr sz="1400" b="1" i="0">
                <a:solidFill>
                  <a:srgbClr val="1A1A1A"/>
                </a:solidFill>
                <a:latin typeface="Arial"/>
              </a:rPr>
              <a:t>Método óptimo multiescala: mayor calidad de fusión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Lidera Qabf (0,514) y SCD (1,453), menor Nabf entre métodos no triviales (0,065) y 2º en SSIM (0,775). Supera al método anterior en bordes, correlación y artefactos.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02   </a:t>
            </a:r>
            <a:r>
              <a:rPr sz="1400" b="1" i="0">
                <a:solidFill>
                  <a:srgbClr val="1A1A1A"/>
                </a:solidFill>
                <a:latin typeface="Arial"/>
              </a:rPr>
              <a:t>Pirámide de Laplace y Torre Top-Hat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Laplace encabeza el ranking agregado de 12 métricas (4,42) por contraste (SD) y VIF; la Torre Top-Hat (anterior, disco L5) es 2ª (5,00).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03   </a:t>
            </a:r>
            <a:r>
              <a:rPr sz="1400" b="1" i="0">
                <a:solidFill>
                  <a:srgbClr val="1A1A1A"/>
                </a:solidFill>
                <a:latin typeface="Arial"/>
              </a:rPr>
              <a:t>Sesgo intrínseco de la métrica MI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El promedio gana MI per-imagen por su naturaleza lineal. Conviene reportar MI siempre acompañada de métricas de calidad global.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04   </a:t>
            </a:r>
            <a:r>
              <a:rPr sz="1400" b="1" i="0">
                <a:solidFill>
                  <a:srgbClr val="1A1A1A"/>
                </a:solidFill>
                <a:latin typeface="Arial"/>
              </a:rPr>
              <a:t>No hay método universalmente óptimo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La elección depende del criterio operativo: equilibrio global (Laplace), fidelidad estructural / interpretabilidad (Top-Hat) o trazabilidad lineal (Promedio).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Conclusiones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19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01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El método óptimo multiescala propuesto logra la mayor calidad de fusión: lidera Qabf (0,514), SCD (1,453) y Nabf (0,065), y es 2º en SSIM (0,775); valida los SE lineales, la cascada y el ajuste por PSO.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02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Supera al método anterior (Torre Top-Hat, modo WTH) en bordes, correlación y artefactos; la Torre, a su vez, supera a Laplace en fidelidad estructural (SSIM, SCD).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03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La Pirámide de Laplace logra el mejor ranking agregado (4,42) por contraste y VIF; Curvelet es el más débil al penalizar artefactos (Nabf).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04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Diferencias estadísticamente robustas: Friedman p &lt;&lt; 0,001 en las 12 métricas; Wilcoxon con corrección de Holm y tamaño de efecto.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05 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La variante Black Top-Hat aumenta el contraste pero degrada la calidad y multiplica los artefactos (Nabf ×5): no se recomienda por defecto.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F5B7C"/>
                </a:solidFill>
                <a:latin typeface="Arial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Próximos pasos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Método óptimo multiescala · Fusión VIS+IR — UCOM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455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20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Corto plazo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Probar reglas que usen el Black Top-Hat de forma selectiva sin introducir artefactos; cerrar la evaluación de detección con dataset etiquetado.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Mediano plazo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Reglas de fusión adaptativas (saliencia, regiones); comparación contra modelos profundos (FusionGAN, U2Fusion) como referencia.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2F5B7C"/>
                </a:solidFill>
                <a:latin typeface="Arial"/>
              </a:rPr>
              <a:t>Antes de la defensa</a:t>
            </a:r>
          </a:p>
          <a:p>
            <a:pPr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Formato definitivo según normas UCOM; revisión integral con el director; preparación de la defensa.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77240" y="2651760"/>
            <a:ext cx="1063721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2834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F5B7C"/>
                </a:solidFill>
                <a:latin typeface="Arial"/>
              </a:rPr>
              <a:t>Discusión y comentarios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Lic. Juan Pablo Bazán   ·   Ing. Yan Bajac</a:t>
            </a:r>
          </a:p>
          <a:p>
            <a:r>
              <a:rPr sz="1200" b="0" i="0">
                <a:solidFill>
                  <a:srgbClr val="1A1A1A"/>
                </a:solidFill>
                <a:latin typeface="Arial"/>
              </a:rPr>
              <a:t>Director: D.Sc. Julio César Mello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8A8A8A"/>
                </a:solidFill>
                <a:latin typeface="Arial"/>
              </a:rPr>
              <a:t>UCOM — Maestría en Ciencias de Datos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