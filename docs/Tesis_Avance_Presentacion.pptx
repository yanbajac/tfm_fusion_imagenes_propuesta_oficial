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5" r:id="rId26"/>
    <p:sldId id="276" r:id="rId27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731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UNIVERSIDAD COMUNERA — UCOM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Ciencias de Datos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Fusión de Imágenes Infrarrojas y Visibles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mediante Morfología Matemática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3931920"/>
            <a:ext cx="36576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basada en la Torre Top-Hat multiescala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D.Sc. Julio César Mello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 ·  Asunción, abril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4630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972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objetivos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2057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— Torre Top-Hat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9728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517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experimental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97280" y="3246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3246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metodológico (refinamiento)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97280" y="38404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72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840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cuantitativos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97280" y="44348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972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783080" y="44348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estadístico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97280" y="50292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972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83080" y="50292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próximos pasos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Problema y contexto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fusionar VIS + IR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VIS: alta resolución textural y color, sensible a iluminación adversa (noche, niebla, humo).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IR: robusto a oscuridad y oclusores atmosféricos, pero baja resolución y poca textura.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fusión integra ambas modalidades en una sola representación útil para vigilancia, conducción autónoma e inspección industrial.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49440" y="12801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949440" y="1280160"/>
            <a:ext cx="91440" cy="41148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22376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Brecha en la literatura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01168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morfología matemática preserva geometría con bajo costo computacional…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…pero los trabajos previos suelen restringirse a una única escala o un único elemento estructurante.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estudio sistemático que articule SE × niveles × radio, contrastado contra baselines clásicos.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tesis aborda esa brecha con un benchmark factorial de 36 configuraciones × 20 pares VIS/IR.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Objetivos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general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específicos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la Torre Top-Hat con SE disco/cuadrado/cruz, niveles 2–5 y radio base 2/3/5.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1605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exhaustivo de las 36 configuraciones sobre 20 pares VIS/IR.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Promedio, Pirámide de Laplace y Curvelet.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54406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diferencias con Friedman + Wilcoxon pareado y construir un ranking global.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Marco teórico — Transformada Top-Hat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Transformada White Top-Hat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WTH(f, b) = f − γ(f,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apertura morfológica = δ(ε(f, b),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estructuras brillantes locales menores que el SE b.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siempre no-negativa; se anula donde la imagen es plana a la escala del 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280160"/>
            <a:ext cx="5120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Decisión de diseño central: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elemento estructurante (SE)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y el radio del SE definen qué orientaciones, simetrías y escalas se preservan o eliminan.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0" y="32004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7512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95360" y="3200400"/>
            <a:ext cx="9144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424160" y="3566160"/>
            <a:ext cx="914400" cy="1828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789920" y="3200400"/>
            <a:ext cx="18288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encadena varias de estas transformadas con SE de radio creciente para extraer detalles a múltiples escalas.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Torre Top-Hat — método propuesto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esquema_torre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80960" y="1188720"/>
            <a:ext cx="40233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6384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Reglas de fusión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863840" y="1828800"/>
            <a:ext cx="3657600" cy="12801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55280" y="18745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 DETALLE (WTH)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máxima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local por pixel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 gaussiana de |WTH|)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246120"/>
            <a:ext cx="3657600" cy="128016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955280" y="32918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BASE (residual)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simple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(ambas fuentes contribuyen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a la iluminación global)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638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base_F + Σₖ WTHₖ − Σₖ BTHₖ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WTH (por defecto): el término BTH es nulo. Modo WTH+BTH: el detalle oscuro se resta. Separar detalle y base es crítico.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Diseño experimental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VIS/IR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52044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Top-Hat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40080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comparados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8116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8116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28116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no-reference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1 — Benchmark factorial de la Torre Top-Hat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∈ {disco, cuadrado, cruz}  ×  Niveles ∈ {2, 3, 4, 5}  ×  r₀ ∈ {2, 3, 5}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36 × 20 = 720 fusiones; 720 × 6 = 4.320 mediciones.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2 — Comparación inter-método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49834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Métodos: Promedio · Pirámide Laplace · Curvelet · 4 configs Top-Hat WTH · 4 variantes WTH+BTH. 12 métricas (6 clásicas + 6 estándar de calidad).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Dataset — TNO Image Fusion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TNO Multiband Image Data Collection (Toet, 2014). 20 pares seleccionados.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Escenas: vehículos blindados, soldados detrás de humo, escenas urbanas, exteriores.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ya alineados espacialmente; se cargan en escala de grises y se normalizan a [0, 1].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Resoluciones del orden de 360×270 a 768×576 píxeles.</a:t>
            </a:r>
            <a:endParaRPr lang="en-US" sz="1400" dirty="0"/>
          </a:p>
        </p:txBody>
      </p:sp>
      <p:pic>
        <p:nvPicPr>
          <p:cNvPr id="8" name="Image 0" descr="/sessions/modest-affectionate-curie/mnt/mastertesis/tesis_mciencias_datos/docs/figures/fig_qualitativ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91840"/>
            <a:ext cx="11064240" cy="3017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pares VIS / IR + comparación cualitativa de los principales métodos.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Identificación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6400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2801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la revisión iterativa del código se identificó un sesgo metodológico en la regla de fusión.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2194560"/>
            <a:ext cx="5349240" cy="45720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inicial (sesgada)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Max-actividad aplicada a TODAS las capas, incluida la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 base (componente de baja frecuencia) se elegía pixel a pixel entre VIS e 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discontinuidades de iluminación entre pixeles vecinos.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de información mutua (MI_vis, MI_ir) quedaban infladas artificialmente: la fusionada "se parecía" a una de las dos fuentes en cada zona.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5349240" cy="45720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corregida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distintas para detalles vs.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Detalles WTH: max-actividad local (preserva detalle saliente).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PROMEDIO (mantiene la iluminación global sin saltos).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Coherente con la práctica de Burt-Adelson y la literatura clásica de fusión multiescala.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Verificación: la descomposición sin BTH reconstruye f exactamente (error 0.00e+00).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refinamiento cambió las conclusiones cuantitativas de la tesis (siguiente diapositiva).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Impacto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Indicador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inicial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corregida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Pirámide 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  (más clara líder)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configuración Top-Hat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cross_L3 (rank 3.33)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disk_L5 (rank 3.28)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Ganador per-imagen en MI_ir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(artificial)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 (linealidad)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Reconstrucción exacta de 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Saltos de iluminación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31520" y="4937760"/>
            <a:ext cx="91440" cy="14630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1440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Lectura honesta: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ya no domina MI por construcción del bug. Pirámide de Laplace pasa a liderar 5 de 6 métricas en valor medio (Curvelet gana MG). El promedio simple, por su naturaleza lineal F=(V+I)/2, conserva información de ambas fuentes y compite en MI per-imagen (gana MI_ir en el ranking por bloques). La Torre Top-Hat queda en posición media-alta como método clásico interpretable competitivo.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Promedios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Método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MI_vis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MI_ir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Curvelet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Pirámide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cuadrado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6.6901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cruz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6.7217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mejor por columna en valor medio. Pirámide Laplace lidera 5 de 6 métricas (Curvelet gana MG). En ranking per-imagen, Promedio gana MI_ir y Curvelet gana MG (ver slide 13).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Top-Hat disco L=5 lidera entre las configuraciones morfológicas en EN, SD, FE y MG.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diferencias absolutas entre las 4 configuraciones Top-Hat son modestas (&lt; 0.06 en EN).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Laplace tenga MI_vis media más alta, el Promedio es más consistente per-imagen (alta varianza de Laplace en algunos pares).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Distribución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boxplot_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distribución (no solo el promedio) muestra que las diferencias en EN, SD, FE y MG entre métodos son sólidas; en MI la dispersión es alta y favorece al Promedio.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Análisis estadístico — Friedman + Ranking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 de Friedman global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Métrica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χ²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p-valor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3.1e-33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5.5e-36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MI_vis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1.3e-26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doce métricas resultan altamente significativas (p &lt;&lt; 0,001); se muestran seis.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1280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global (menor es mejor)</a:t>
            </a:r>
            <a:endParaRPr lang="en-US" sz="1800" dirty="0"/>
          </a:p>
        </p:txBody>
      </p:sp>
      <p:pic>
        <p:nvPicPr>
          <p:cNvPr id="11" name="Image 0" descr="/sessions/modest-affectionate-curie/mnt/mastertesis/tesis_mciencias_datos/docs/figures/fig_ranking_glob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28800"/>
            <a:ext cx="5577840" cy="37185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17920" y="538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Laplace lidera el agregado (4.42); la mejor Top-Hat WTH es disco L=5 (5.00), muy próxima.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Benchmark exhaustivo Top-Hat (36 configs)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1143000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EN/SD/FE crecen con niveles y radio (máx. en cuadrado L=5 r=5). MG óptimo en disco L=5 r=3. MI_vis/MI_ir favorecen configuraciones someras (L=2). Diferencias modestas: el método es robusto al hiperparámetro dentro del rango explorado.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— métricas estándar de calidad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050000"/>
            <a:ext cx="9753600" cy="5201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Figura. Qabf, Nabf, SSIM, SCD, VIF y SF por método. La Top-Hat WTH lidera SSIM y SCD y genera menos artefactos (Nabf) entre los multiescala; las variantes +BTH disparan el Nabf.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Efecto de la variante Black Top-Hat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9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Black Top-Hat sube contraste y actividad (EN, SD, SF, MG) pero degrada la calidad (Qabf, SSIM, VIF, MI) y multiplica los artefactos (Nabf +427%). No se recomienda por defecto.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Discusión integrada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Pirámide de Laplace, baseline a vencer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Encabeza el ranking agregado (4.42) por su ventaja en contraste (SD) y fidelidad perceptual (VIF). No domina en fidelidad estructural.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08660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Torre Top-Hat: fortalezas complementarias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config. disco L=5 (2° global, 5.00). Supera a Laplace en SSIM y SCD (significativo); iguala en Qabf y Nabf.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5448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Sesgo intrínseco de la métrica MI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Laplace lidera MI en media, pero el promedio gana MI_ir per-imagen por su naturaleza lineal. Conviene reportar MI siempre con desviación y acompañada de métricas de calidad global.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17220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660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hay método universalmente óptimo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4652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debe orientarse por el criterio operativo dominante: equilibrio global (Laplace), interpretabilidad morfológica (Top-Hat), o trazabilidad lineal (Promedio).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3716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(modo WTH) supera a la Pirámide de Laplace en fidelidad estructural (SSIM, SCD) e iguala en preservación de bordes (Qabf, Nabf). Mejor config.: disco L=5.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 de Laplace logra el mejor ranking agregado (4.42) por contraste y VIF; Curvelet resulta el más débil al penalizar artefactos (Nabf).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004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1089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estadísticamente robustas: Friedman p &lt;&lt; 0,001 en las 12 métricas; Wilcoxon con corrección de Holm y tamaño de efecto.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9776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variante Black Top-Hat aumenta el contraste pero degrada la calidad (Qabf, SSIM, VIF) y multiplica los artefactos (Nabf ×5): no se recomienda por defecto.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4937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8463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de reglas (max-actividad para detalles, promedio para base) es una decisión metodológica con impacto cuantitativo medible — aprendizaje transferible.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Corto plazo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2-3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Hecho: variante WTH+BTH evaluada (sube contraste, baja calidad). Probar reglas que usen el BTH de forma selectiva sin introducir artefactos.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34340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262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Mediano plazo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4-6 semanas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reglas de fusión adaptativas (saliencia, regiones).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modelos profundos preentrenados (FusionGAN, U2Fusion) como referencia complementaria.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redacción de capítulos pendientes y revisión integral del borrador.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4672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 final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defensa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7532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definitivo según normas UCOM.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Pase de revisión con el director.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defensa.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Discusión y comentarios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166360" y="4754880"/>
            <a:ext cx="18288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
</a:t>
            </a:r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D.Sc. Julio César Mello
</a:t>
            </a:r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UCOM — Maestría en Ciencias de Datos · 2026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Evaluación orientada a tarea: detección con YOLO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4087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(inferencia, sin etiquetas): en VIS se detecta solo 1 persona; con fusión sube a 13 (WTH) y 16 (+BTH). VIS favorece vehículos, IR/fusión personas; la fusión WTH equilibra ambas (13 personas, 12 vehículos). Diferencias entre métodos no significativas (n=20); mAP pendiente con dataset etiquetado.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Fusión VIS+IR — Avance de Tesis</dc:title>
  <dc:subject>PptxGenJS Presentation</dc:subject>
  <dc:creator>Lic. Juan Pablo Bazán; Ing. Yan Bajac</dc:creator>
  <cp:lastModifiedBy>Lic. Juan Pablo Bazán; Ing. Yan Bajac</cp:lastModifiedBy>
  <cp:revision>1</cp:revision>
  <dcterms:created xsi:type="dcterms:W3CDTF">2026-04-28T19:52:49Z</dcterms:created>
  <dcterms:modified xsi:type="dcterms:W3CDTF">2026-04-28T19:52:49Z</dcterms:modified>
</cp:coreProperties>
</file>