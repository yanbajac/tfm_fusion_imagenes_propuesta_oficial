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slide21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10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BE098BB-C9F7-4B55-92B2-98BDF4C1D9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A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2CB5080-50AD-4424-8C1F-234BDDEEDB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41EE64-033E-4E8B-AC5C-2E1545EC5C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FE77104-EE8B-4069-862A-E4B4BD8A3F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24363F-532A-440B-8C0C-C7B621E51E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A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54FE84-3BEC-42A8-9BD6-4F47758A01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92BEE1B-5C32-4CA9-82CC-1068CD634D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3279197-D7D2-4464-945F-068AF80D39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B916CD7-957D-4FFB-88C5-FA7AA2C29C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0B6BD34-56A5-48CB-9E6C-2324CE093E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916B87-C2EF-46CC-8DB6-F9751D4BD36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2CCB75A-2C88-435B-9D85-B4DEDDCDD8A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A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&lt;fecha/hora&gt;</a:t>
            </a:r>
            <a:endParaRPr b="0" lang="es-A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s-A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AR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A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3C6661-9A81-426B-89F7-B910DFD4489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&lt;número&gt;</a:t>
            </a:fld>
            <a:endParaRPr b="0" lang="es-A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Pulse para editar el formato del texto de título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Pulse para editar el formato de texto del esquema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Segundo nivel del esquema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Tercer nivel del esquema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Cuarto nivel del esquema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Quinto nivel del esquema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Sexto nivel del esquema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Séptimo nivel del esquema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Connector 1"/>
          <p:cNvCxnSpPr/>
          <p:nvPr/>
        </p:nvCxnSpPr>
        <p:spPr>
          <a:xfrm>
            <a:off x="777240" y="1554480"/>
            <a:ext cx="10637280" cy="360"/>
          </a:xfrm>
          <a:prstGeom prst="straightConnector1">
            <a:avLst/>
          </a:prstGeom>
          <a:ln w="15240">
            <a:solidFill>
              <a:srgbClr val="1a1a1a"/>
            </a:solidFill>
            <a:round/>
          </a:ln>
        </p:spPr>
      </p:cxnSp>
      <p:sp>
        <p:nvSpPr>
          <p:cNvPr id="42" name="TextBox 2"/>
          <p:cNvSpPr/>
          <p:nvPr/>
        </p:nvSpPr>
        <p:spPr>
          <a:xfrm>
            <a:off x="777240" y="914400"/>
            <a:ext cx="10636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555555"/>
                </a:solidFill>
                <a:latin typeface="Arial"/>
              </a:rPr>
              <a:t>UNIVERSIDAD COMUNERA — UCOM   ·   Maestría en Ciencias de Datos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77240" y="2011680"/>
            <a:ext cx="10636920" cy="11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3800" spc="-1" strike="noStrike">
                <a:solidFill>
                  <a:srgbClr val="1a1a1a"/>
                </a:solidFill>
                <a:latin typeface="Arial"/>
              </a:rPr>
              <a:t>Fusión de imágenes infrarrojas y visibles</a:t>
            </a:r>
            <a:endParaRPr b="0" lang="es-AR" sz="3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3800" spc="-1" strike="noStrike">
                <a:solidFill>
                  <a:srgbClr val="1a1a1a"/>
                </a:solidFill>
                <a:latin typeface="Arial"/>
              </a:rPr>
              <a:t>mediante morfología matemática</a:t>
            </a:r>
            <a:endParaRPr b="0" lang="es-AR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777240" y="3566160"/>
            <a:ext cx="106369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2f5b7c"/>
                </a:solidFill>
                <a:latin typeface="Arial"/>
              </a:rPr>
              <a:t>Una propuesta basada en la Torre Top-Hat multiescala</a:t>
            </a:r>
            <a:endParaRPr b="0" lang="es-AR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5" name="Connector 5"/>
          <p:cNvCxnSpPr/>
          <p:nvPr/>
        </p:nvCxnSpPr>
        <p:spPr>
          <a:xfrm>
            <a:off x="777240" y="493776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46" name="TextBox 6"/>
          <p:cNvSpPr/>
          <p:nvPr/>
        </p:nvSpPr>
        <p:spPr>
          <a:xfrm>
            <a:off x="777240" y="5120640"/>
            <a:ext cx="1063692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1a1a1a"/>
                </a:solidFill>
                <a:latin typeface="Arial"/>
              </a:rPr>
              <a:t>Autores:  Lic. Juan Pablo Bazán   ·   Ing. Yan Bajac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1a1a1a"/>
                </a:solidFill>
                <a:latin typeface="Arial"/>
              </a:rPr>
              <a:t>Director:  D.Sc. Julio César Mello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100" spc="-1" strike="noStrike">
                <a:solidFill>
                  <a:srgbClr val="8a8a8a"/>
                </a:solidFill>
                <a:latin typeface="Arial"/>
              </a:rPr>
              <a:t>Avance de tesis   ·   Asunción, 2026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CONTENIDO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Agenda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9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50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2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6"/>
          <p:cNvSpPr/>
          <p:nvPr/>
        </p:nvSpPr>
        <p:spPr>
          <a:xfrm>
            <a:off x="777240" y="1554480"/>
            <a:ext cx="10636920" cy="25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01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Problema y objetivos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02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Marco teórico — Torre Top-Hat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03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Diseño experimental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04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Hallazgo metodológico (refinamiento)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05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Resultados cuantitativos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06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Análisis estadístico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lang="en-US" sz="1600" spc="-1" strike="noStrike">
                <a:solidFill>
                  <a:srgbClr val="2f5b7c"/>
                </a:solidFill>
                <a:latin typeface="Arial"/>
              </a:rPr>
              <a:t>07   </a:t>
            </a:r>
            <a:r>
              <a:rPr b="0" lang="en-US" sz="1600" spc="-1" strike="noStrike">
                <a:solidFill>
                  <a:srgbClr val="1a1a1a"/>
                </a:solidFill>
                <a:latin typeface="Arial"/>
              </a:rPr>
              <a:t>Conclusiones y próximos pasos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1 · PROBLEMA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Problema y contexto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5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56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3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6"/>
          <p:cNvSpPr/>
          <p:nvPr/>
        </p:nvSpPr>
        <p:spPr>
          <a:xfrm>
            <a:off x="777240" y="1554480"/>
            <a:ext cx="10606680" cy="24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Por qué fusionar VIS + IR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VIS: alta resolución textural y color, sensible a iluminación adversa (noche, niebla, humo).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IR: robusto a oscuridad y oclusores atmosféricos, pero baja resolución y poca textura.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fusión integra ambas modalidades en una representación útil para vigilancia, conducción autónoma e inspección industrial.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Brecha en la literatura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morfología matemática preserva geometría con bajo costo computacional, pero los trabajos previos suelen restringirse a una única escala o un único elemento estructurante.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No existe un estudio sistemático que articule SE × niveles × radio, contrastado contra baselines clásicos.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a1a1a"/>
                </a:solidFill>
                <a:latin typeface="Arial"/>
              </a:rPr>
              <a:t>Esta tesis aborda esa brecha con un benchmark factorial de 36 configuraciones × 20 pares VIS/IR.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1 · OBJETIVOS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Objetivos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1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62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4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777240" y="1554480"/>
            <a:ext cx="10606680" cy="70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Objetivo general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Proponer y evaluar un método de fusión VIS+IR basado en una Torre Top-Hat morfológica multiescala, comparándolo cuantitativa y estadísticamente con métodos clásicos del estado del arte sobre el TNO Image Fusion Dataset.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777240" y="3200400"/>
            <a:ext cx="10606680" cy="13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Objetivos específicos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01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Implementar la Torre Top-Hat con SE disco/cuadrado/cruz, niveles 2–5 y radio base 2/3/5.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02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Realizar el benchmark exhaustivo de las 36 configuraciones sobre 20 pares VIS/IR.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03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Comparar contra Promedio, Pirámide de Laplace y Curvelet.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04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Validar diferencias con Friedman + Wilcoxon pareado y construir un ranking global.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2 · MARCO TEÓRICO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Transformada Top-Hat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8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69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5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777240" y="1554480"/>
            <a:ext cx="10606680" cy="19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White Top-Hat (WTH)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WTH(f, b) = f − γ(f, b),  con γ = apertura morfológica = δ(ε(f, b), b).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Aísla estructuras brillantes locales menores que el elemento estructurante b.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Es siempre no-negativa; se anula donde la imagen es plana a la escala del SE.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Decisión de diseño central: el elemento estructurante (SE)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geometría (disco, cuadrado, cruz) y el radio del SE definen qué orientaciones, simetrías y escalas se preservan o eliminan.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Torre Top-Hat encadena varias de estas transformadas con SE de radio creciente para extraer detalles a múltiples escalas.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2 · MÉTODO PROPUESTO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Torre Top-Hat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4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75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6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Picture 6" descr="fig_esquema_torre_tophat.png"/>
          <p:cNvPicPr/>
          <p:nvPr/>
        </p:nvPicPr>
        <p:blipFill>
          <a:blip r:embed="rId1"/>
          <a:stretch/>
        </p:blipFill>
        <p:spPr>
          <a:xfrm>
            <a:off x="777240" y="1508760"/>
            <a:ext cx="6766200" cy="3634560"/>
          </a:xfrm>
          <a:prstGeom prst="rect">
            <a:avLst/>
          </a:prstGeom>
          <a:ln w="0">
            <a:noFill/>
          </a:ln>
        </p:spPr>
      </p:pic>
      <p:sp>
        <p:nvSpPr>
          <p:cNvPr id="78" name="TextBox 7"/>
          <p:cNvSpPr/>
          <p:nvPr/>
        </p:nvSpPr>
        <p:spPr>
          <a:xfrm>
            <a:off x="7772400" y="1554480"/>
            <a:ext cx="3611520" cy="21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Reglas de fusión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300" spc="-1" strike="noStrike">
                <a:solidFill>
                  <a:srgbClr val="1a1a1a"/>
                </a:solidFill>
                <a:latin typeface="Arial"/>
              </a:rPr>
              <a:t>Detalle (WTH): selección por máxima actividad local por píxel.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300" spc="-1" strike="noStrike">
                <a:solidFill>
                  <a:srgbClr val="1a1a1a"/>
                </a:solidFill>
                <a:latin typeface="Arial"/>
              </a:rPr>
              <a:t>Base (residual): promedio simple de ambas fuentes.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4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F = base_F + Σₖ WTHₖ − Σₖ BTHₖ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Modo WTH (por defecto): el término BTH es nulo. Modo WTH+BTH: el detalle oscuro se resta. Separar detalle y base es metodológicamente crítico.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3 · DISEÑO EXPERIMENTAL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Diseño experimental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1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82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7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777240" y="1645920"/>
            <a:ext cx="24685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2f5b7c"/>
                </a:solidFill>
                <a:latin typeface="Arial"/>
              </a:rPr>
              <a:t>20</a:t>
            </a:r>
            <a:endParaRPr b="0" lang="es-AR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pares VIS/IR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5" name="Connector 7"/>
          <p:cNvCxnSpPr/>
          <p:nvPr/>
        </p:nvCxnSpPr>
        <p:spPr>
          <a:xfrm>
            <a:off x="3355560" y="1783080"/>
            <a:ext cx="360" cy="9147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86" name="TextBox 8"/>
          <p:cNvSpPr/>
          <p:nvPr/>
        </p:nvSpPr>
        <p:spPr>
          <a:xfrm>
            <a:off x="3657600" y="1645920"/>
            <a:ext cx="24685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2f5b7c"/>
                </a:solidFill>
                <a:latin typeface="Arial"/>
              </a:rPr>
              <a:t>36</a:t>
            </a:r>
            <a:endParaRPr b="0" lang="es-AR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configuraciones Top-Hat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Connector 9"/>
          <p:cNvCxnSpPr/>
          <p:nvPr/>
        </p:nvCxnSpPr>
        <p:spPr>
          <a:xfrm>
            <a:off x="6235920" y="1783080"/>
            <a:ext cx="360" cy="9147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88" name="TextBox 10"/>
          <p:cNvSpPr/>
          <p:nvPr/>
        </p:nvSpPr>
        <p:spPr>
          <a:xfrm>
            <a:off x="6537960" y="1645920"/>
            <a:ext cx="24685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2f5b7c"/>
                </a:solidFill>
                <a:latin typeface="Arial"/>
              </a:rPr>
              <a:t>11</a:t>
            </a:r>
            <a:endParaRPr b="0" lang="es-AR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métodos comparados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9" name="Connector 11"/>
          <p:cNvCxnSpPr/>
          <p:nvPr/>
        </p:nvCxnSpPr>
        <p:spPr>
          <a:xfrm>
            <a:off x="9116280" y="1783080"/>
            <a:ext cx="360" cy="9147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90" name="TextBox 12"/>
          <p:cNvSpPr/>
          <p:nvPr/>
        </p:nvSpPr>
        <p:spPr>
          <a:xfrm>
            <a:off x="9418320" y="1645920"/>
            <a:ext cx="24685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2f5b7c"/>
                </a:solidFill>
                <a:latin typeface="Arial"/>
              </a:rPr>
              <a:t>12</a:t>
            </a:r>
            <a:endParaRPr b="0" lang="es-AR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métricas no-reference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777240" y="3291840"/>
            <a:ext cx="106066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Estudio 1 — Benchmark factorial de la Torre Top-Hat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SE ∈ {disco, cuadrado, cruz} × Niveles ∈ {2,3,4,5} × r₀ ∈ {2,3,5}.  Total: 36 × 20 = 720 fusiones.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Estudio 2 — Comparación inter-método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Promedio · Pirámide Laplace · Curvelet · 4 Top-Hat WTH · 4 WTH+BTH, sobre 12 métricas (6 clásicas + 6 estándar de calidad).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3 · DATASET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TNO Image Fusion Dataset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95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8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777240" y="1508760"/>
            <a:ext cx="1060668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TNO Multiband Image Data Collection (Toet, 2014). 20 pares seleccionados: vehículos blindados, soldados tras humo, escenas urbanas a contraluz, vegetación e interiores industriales.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7" descr="fig_qualitative_comparison.png"/>
          <p:cNvPicPr/>
          <p:nvPr/>
        </p:nvPicPr>
        <p:blipFill>
          <a:blip r:embed="rId1"/>
          <a:stretch/>
        </p:blipFill>
        <p:spPr>
          <a:xfrm>
            <a:off x="2493000" y="2468880"/>
            <a:ext cx="7174800" cy="3200040"/>
          </a:xfrm>
          <a:prstGeom prst="rect">
            <a:avLst/>
          </a:prstGeom>
          <a:ln w="0">
            <a:noFill/>
          </a:ln>
        </p:spPr>
      </p:pic>
      <p:sp>
        <p:nvSpPr>
          <p:cNvPr id="99" name="TextBox 8"/>
          <p:cNvSpPr/>
          <p:nvPr/>
        </p:nvSpPr>
        <p:spPr>
          <a:xfrm>
            <a:off x="777240" y="5742360"/>
            <a:ext cx="10606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8a8a8a"/>
                </a:solidFill>
                <a:latin typeface="Arial"/>
              </a:rPr>
              <a:t>Ejemplos de pares VIS / IR y comparación cualitativa de los principales métodos.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4 · REFINAMIENTO METODOLÓGICO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Identificación del sesgo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2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03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9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6"/>
          <p:cNvSpPr/>
          <p:nvPr/>
        </p:nvSpPr>
        <p:spPr>
          <a:xfrm>
            <a:off x="777240" y="1463040"/>
            <a:ext cx="1060668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a1a1a"/>
                </a:solidFill>
                <a:latin typeface="Arial"/>
              </a:rPr>
              <a:t>Durante la revisión iterativa del código se identificó un sesgo metodológico en la regla de fusión.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7"/>
          <p:cNvSpPr/>
          <p:nvPr/>
        </p:nvSpPr>
        <p:spPr>
          <a:xfrm>
            <a:off x="777240" y="2286000"/>
            <a:ext cx="512028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Versión inicial (sesgada)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Max-actividad aplicada a TODAS las capas, incluida la base.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La base se elegía píxel a píxel entre VIS e IR → discontinuidades de iluminación.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La información mutua (MI) quedaba inflada artificialmente.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8"/>
          <p:cNvSpPr/>
          <p:nvPr/>
        </p:nvSpPr>
        <p:spPr>
          <a:xfrm>
            <a:off x="6400800" y="2286000"/>
            <a:ext cx="4983120" cy="11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Versión corregida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Reglas distintas: detalle por max-actividad, base por PROMEDIO.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Coherente con Burt-Adelson y la fusión multiescala clásica.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Verificación: la descomposición sin BTH reconstruye f exactamente (error 0.0).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9"/>
          <p:cNvSpPr/>
          <p:nvPr/>
        </p:nvSpPr>
        <p:spPr>
          <a:xfrm>
            <a:off x="777240" y="5669280"/>
            <a:ext cx="1060668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50" spc="-1" strike="noStrike">
                <a:solidFill>
                  <a:srgbClr val="555555"/>
                </a:solidFill>
                <a:latin typeface="Arial"/>
              </a:rPr>
              <a:t>Este refinamiento cambió las conclusiones cuantitativas de la tesis.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4 · REFINAMIENTO METODOLÓGICO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Impacto en las conclusiones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1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12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10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6"/>
          <p:cNvSpPr/>
          <p:nvPr/>
        </p:nvSpPr>
        <p:spPr>
          <a:xfrm>
            <a:off x="777240" y="1737360"/>
            <a:ext cx="10606680" cy="12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Lectura honesta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Torre Top-Hat ya no domina la información mutua por construcción del sesgo. La Pirámide de Laplace pasa a liderar 5 de 6 métricas clásicas en valor medio (Curvelet gana MG).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El promedio simple, por su naturaleza lineal F=(V+I)/2, conserva información de ambas fuentes y compite en MI per-imagen. La Torre Top-Hat queda en una posición media-alta como método clásico interpretable y competitivo.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5 · RESULTADOS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Promedios por método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7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18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11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" name="Picture 6" descr="tabla_promedios.png"/>
          <p:cNvPicPr/>
          <p:nvPr/>
        </p:nvPicPr>
        <p:blipFill>
          <a:blip r:embed="rId1"/>
          <a:stretch/>
        </p:blipFill>
        <p:spPr>
          <a:xfrm>
            <a:off x="987840" y="1554480"/>
            <a:ext cx="10185840" cy="2925720"/>
          </a:xfrm>
          <a:prstGeom prst="rect">
            <a:avLst/>
          </a:prstGeom>
          <a:ln w="0">
            <a:noFill/>
          </a:ln>
        </p:spPr>
      </p:pic>
      <p:sp>
        <p:nvSpPr>
          <p:cNvPr id="121" name="TextBox 7"/>
          <p:cNvSpPr/>
          <p:nvPr/>
        </p:nvSpPr>
        <p:spPr>
          <a:xfrm>
            <a:off x="777240" y="4754880"/>
            <a:ext cx="106066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La Pirámide de Laplace lidera 5 de 6 métricas clásicas; Top-Hat disco L5 encabeza entre las configuraciones morfológicas (EN, SD, FE, MG).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99"/>
              </a:spcAft>
            </a:pPr>
            <a:r>
              <a:rPr b="1" lang="en-US" sz="1250" spc="-1" strike="noStrike">
                <a:solidFill>
                  <a:srgbClr val="2f5b7c"/>
                </a:solidFill>
                <a:latin typeface="Arial"/>
              </a:rPr>
              <a:t>—  </a:t>
            </a:r>
            <a:r>
              <a:rPr b="0" lang="en-US" sz="1250" spc="-1" strike="noStrike">
                <a:solidFill>
                  <a:srgbClr val="1a1a1a"/>
                </a:solidFill>
                <a:latin typeface="Arial"/>
              </a:rPr>
              <a:t>Las diferencias absolutas entre las 4 configuraciones Top-Hat son modestas (&lt; 0,06 en EN).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5 · RESULTADOS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Distribución por método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4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25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12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Picture 6" descr="fig_boxplot_metrics.png"/>
          <p:cNvPicPr/>
          <p:nvPr/>
        </p:nvPicPr>
        <p:blipFill>
          <a:blip r:embed="rId1"/>
          <a:stretch/>
        </p:blipFill>
        <p:spPr>
          <a:xfrm>
            <a:off x="2626920" y="1508760"/>
            <a:ext cx="6907320" cy="3657240"/>
          </a:xfrm>
          <a:prstGeom prst="rect">
            <a:avLst/>
          </a:prstGeom>
          <a:ln w="0">
            <a:noFill/>
          </a:ln>
        </p:spPr>
      </p:pic>
      <p:sp>
        <p:nvSpPr>
          <p:cNvPr id="128" name="TextBox 7"/>
          <p:cNvSpPr/>
          <p:nvPr/>
        </p:nvSpPr>
        <p:spPr>
          <a:xfrm>
            <a:off x="777240" y="5239440"/>
            <a:ext cx="10606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8a8a8a"/>
                </a:solidFill>
                <a:latin typeface="Arial"/>
              </a:rPr>
              <a:t>Diagramas de caja por método (n = 20 pares VIS/IR).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777240" y="5623560"/>
            <a:ext cx="10606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Las diferencias en EN, SD, FE y MG entre métodos son sólidas; en MI la dispersión es alta y favorece al Promedio.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6 · ANÁLISIS ESTADÍSTICO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Friedman y ranking global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2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33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13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777240" y="1508760"/>
            <a:ext cx="52117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Prueba de Friedman global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Picture 7" descr="tabla_friedman.png"/>
          <p:cNvPicPr/>
          <p:nvPr/>
        </p:nvPicPr>
        <p:blipFill>
          <a:blip r:embed="rId1"/>
          <a:stretch/>
        </p:blipFill>
        <p:spPr>
          <a:xfrm>
            <a:off x="777240" y="1920240"/>
            <a:ext cx="5211720" cy="2147760"/>
          </a:xfrm>
          <a:prstGeom prst="rect">
            <a:avLst/>
          </a:prstGeom>
          <a:ln w="0">
            <a:noFill/>
          </a:ln>
        </p:spPr>
      </p:pic>
      <p:sp>
        <p:nvSpPr>
          <p:cNvPr id="137" name="TextBox 8"/>
          <p:cNvSpPr/>
          <p:nvPr/>
        </p:nvSpPr>
        <p:spPr>
          <a:xfrm>
            <a:off x="777240" y="4480560"/>
            <a:ext cx="521172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150" spc="-1" strike="noStrike">
                <a:solidFill>
                  <a:srgbClr val="555555"/>
                </a:solidFill>
                <a:latin typeface="Arial"/>
              </a:rPr>
              <a:t>Las doce métricas resultan altamente significativas (p &lt;&lt; 0,001); se muestran seis.</a:t>
            </a:r>
            <a:endParaRPr b="0" lang="es-A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9"/>
          <p:cNvSpPr/>
          <p:nvPr/>
        </p:nvSpPr>
        <p:spPr>
          <a:xfrm>
            <a:off x="6309360" y="1508760"/>
            <a:ext cx="50288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2f5b7c"/>
                </a:solidFill>
                <a:latin typeface="Arial"/>
              </a:rPr>
              <a:t>Ranking global (menor es mejor)</a:t>
            </a:r>
            <a:endParaRPr b="0" lang="es-A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" name="Picture 10" descr="fig_ranking_global_12metricas.png"/>
          <p:cNvPicPr/>
          <p:nvPr/>
        </p:nvPicPr>
        <p:blipFill>
          <a:blip r:embed="rId2"/>
          <a:stretch/>
        </p:blipFill>
        <p:spPr>
          <a:xfrm>
            <a:off x="6378120" y="1920240"/>
            <a:ext cx="4937400" cy="3291480"/>
          </a:xfrm>
          <a:prstGeom prst="rect">
            <a:avLst/>
          </a:prstGeom>
          <a:ln w="0">
            <a:noFill/>
          </a:ln>
        </p:spPr>
      </p:pic>
      <p:sp>
        <p:nvSpPr>
          <p:cNvPr id="140" name="TextBox 11"/>
          <p:cNvSpPr/>
          <p:nvPr/>
        </p:nvSpPr>
        <p:spPr>
          <a:xfrm>
            <a:off x="6309360" y="5349240"/>
            <a:ext cx="502884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150" spc="-1" strike="noStrike">
                <a:solidFill>
                  <a:srgbClr val="555555"/>
                </a:solidFill>
                <a:latin typeface="Arial"/>
              </a:rPr>
              <a:t>Pirámide de Laplace lidera el agregado (4,42); la mejor Top-Hat WTH es disco L5 (5,00), muy próxima.</a:t>
            </a:r>
            <a:endParaRPr b="0" lang="es-A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6 · ANÁLISIS ESTADÍSTICO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Benchmark exhaustivo (36 configuraciones)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43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44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14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" name="Picture 6" descr="fig_heatmap_tophat.png"/>
          <p:cNvPicPr/>
          <p:nvPr/>
        </p:nvPicPr>
        <p:blipFill>
          <a:blip r:embed="rId1"/>
          <a:stretch/>
        </p:blipFill>
        <p:spPr>
          <a:xfrm>
            <a:off x="2818080" y="1148760"/>
            <a:ext cx="6525360" cy="4307040"/>
          </a:xfrm>
          <a:prstGeom prst="rect">
            <a:avLst/>
          </a:prstGeom>
          <a:ln w="0">
            <a:noFill/>
          </a:ln>
        </p:spPr>
      </p:pic>
      <p:sp>
        <p:nvSpPr>
          <p:cNvPr id="147" name="TextBox 7"/>
          <p:cNvSpPr/>
          <p:nvPr/>
        </p:nvSpPr>
        <p:spPr>
          <a:xfrm>
            <a:off x="777240" y="5455440"/>
            <a:ext cx="10606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8a8a8a"/>
                </a:solidFill>
                <a:latin typeface="Arial"/>
              </a:rPr>
              <a:t>Mapas de calor de las métricas sobre las 36 configuraciones de la Torre Top-Hat.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8"/>
          <p:cNvSpPr/>
          <p:nvPr/>
        </p:nvSpPr>
        <p:spPr>
          <a:xfrm>
            <a:off x="777240" y="5803560"/>
            <a:ext cx="1060668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EN/SD/FE crecen con niveles y radio; MG óptimo en disco L5 r3; MI favorece configuraciones someras. Diferencias internas modestas (robustez de hiperparámetros).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5 · RESULTADOS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Métricas estándar de calidad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1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52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15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" name="Picture 6" descr="fig_boxplot_metricas_calidad.png"/>
          <p:cNvPicPr/>
          <p:nvPr/>
        </p:nvPicPr>
        <p:blipFill>
          <a:blip r:embed="rId1"/>
          <a:stretch/>
        </p:blipFill>
        <p:spPr>
          <a:xfrm>
            <a:off x="2651760" y="1508760"/>
            <a:ext cx="6857640" cy="3657240"/>
          </a:xfrm>
          <a:prstGeom prst="rect">
            <a:avLst/>
          </a:prstGeom>
          <a:ln w="0">
            <a:noFill/>
          </a:ln>
        </p:spPr>
      </p:pic>
      <p:sp>
        <p:nvSpPr>
          <p:cNvPr id="155" name="TextBox 7"/>
          <p:cNvSpPr/>
          <p:nvPr/>
        </p:nvSpPr>
        <p:spPr>
          <a:xfrm>
            <a:off x="777240" y="5239440"/>
            <a:ext cx="10606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8a8a8a"/>
                </a:solidFill>
                <a:latin typeface="Arial"/>
              </a:rPr>
              <a:t>Qabf, Nabf, SSIM, SCD, VIF y SF por método (n = 20).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777240" y="5623560"/>
            <a:ext cx="10606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La Top-Hat WTH lidera SSIM y SCD y genera menos artefactos (Nabf) entre los multiescala; las variantes +BTH disparan el Nabf.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5 · RESULTADOS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Efecto de la variante Black Top-Hat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9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60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16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Picture 6" descr="fig_efecto_black_top_hat.png"/>
          <p:cNvPicPr/>
          <p:nvPr/>
        </p:nvPicPr>
        <p:blipFill>
          <a:blip r:embed="rId1"/>
          <a:stretch/>
        </p:blipFill>
        <p:spPr>
          <a:xfrm>
            <a:off x="1217880" y="1508760"/>
            <a:ext cx="9725400" cy="3565800"/>
          </a:xfrm>
          <a:prstGeom prst="rect">
            <a:avLst/>
          </a:prstGeom>
          <a:ln w="0">
            <a:noFill/>
          </a:ln>
        </p:spPr>
      </p:pic>
      <p:sp>
        <p:nvSpPr>
          <p:cNvPr id="163" name="TextBox 7"/>
          <p:cNvSpPr/>
          <p:nvPr/>
        </p:nvSpPr>
        <p:spPr>
          <a:xfrm>
            <a:off x="777240" y="5148000"/>
            <a:ext cx="10606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8a8a8a"/>
                </a:solidFill>
                <a:latin typeface="Arial"/>
              </a:rPr>
              <a:t>Cambio relativo al añadir BTH (verde = mejora; rojo = empeora).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8"/>
          <p:cNvSpPr/>
          <p:nvPr/>
        </p:nvSpPr>
        <p:spPr>
          <a:xfrm>
            <a:off x="777240" y="5532120"/>
            <a:ext cx="1060668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Añadir Black Top-Hat sube contraste y actividad (EN, SD, SF, MG) pero degrada la calidad (Qabf, SSIM, VIF, MI) y multiplica los artefactos (Nabf ×5). No se recomienda por defecto.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6 · EVALUACIÓN ORIENTADA A TAREA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Detección con YOLO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7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68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17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Picture 6" descr="fig_deteccion_yolo.png"/>
          <p:cNvPicPr/>
          <p:nvPr/>
        </p:nvPicPr>
        <p:blipFill>
          <a:blip r:embed="rId1"/>
          <a:stretch/>
        </p:blipFill>
        <p:spPr>
          <a:xfrm>
            <a:off x="1458000" y="1508760"/>
            <a:ext cx="9245160" cy="3565800"/>
          </a:xfrm>
          <a:prstGeom prst="rect">
            <a:avLst/>
          </a:prstGeom>
          <a:ln w="0">
            <a:noFill/>
          </a:ln>
        </p:spPr>
      </p:pic>
      <p:sp>
        <p:nvSpPr>
          <p:cNvPr id="171" name="TextBox 7"/>
          <p:cNvSpPr/>
          <p:nvPr/>
        </p:nvSpPr>
        <p:spPr>
          <a:xfrm>
            <a:off x="777240" y="5148000"/>
            <a:ext cx="10606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8a8a8a"/>
                </a:solidFill>
                <a:latin typeface="Arial"/>
              </a:rPr>
              <a:t>Detecciones de YOLOv8n (inferencia) por modalidad y por método.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8"/>
          <p:cNvSpPr/>
          <p:nvPr/>
        </p:nvSpPr>
        <p:spPr>
          <a:xfrm>
            <a:off x="777240" y="5532120"/>
            <a:ext cx="1060668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555555"/>
                </a:solidFill>
                <a:latin typeface="Arial"/>
              </a:rPr>
              <a:t>En VIS se detecta solo 1 persona; con fusión sube a 13 (WTH) y 16 (+BTH). VIS favorece vehículos, IR/fusión personas; WTH equilibra ambas. Diferencias entre métodos no significativas (n=20); mAP pendiente con dataset etiquetado.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7 · DISCUSIÓN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Discusión integrada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5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76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18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6"/>
          <p:cNvSpPr/>
          <p:nvPr/>
        </p:nvSpPr>
        <p:spPr>
          <a:xfrm>
            <a:off x="777240" y="1554480"/>
            <a:ext cx="10606680" cy="21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01   </a:t>
            </a:r>
            <a:r>
              <a:rPr b="1" lang="en-US" sz="1400" spc="-1" strike="noStrike">
                <a:solidFill>
                  <a:srgbClr val="1a1a1a"/>
                </a:solidFill>
                <a:latin typeface="Arial"/>
              </a:rPr>
              <a:t>Pirámide de Laplace, baseline a vencer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250" spc="-1" strike="noStrike">
                <a:solidFill>
                  <a:srgbClr val="555555"/>
                </a:solidFill>
                <a:latin typeface="Arial"/>
              </a:rPr>
              <a:t>Encabeza el ranking agregado (4,42) por su ventaja en contraste (SD) y fidelidad perceptual (VIF). No domina en fidelidad estructural.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1"/>
              </a:spcBef>
              <a:spcAft>
                <a:spcPts val="2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02   </a:t>
            </a:r>
            <a:r>
              <a:rPr b="1" lang="en-US" sz="1400" spc="-1" strike="noStrike">
                <a:solidFill>
                  <a:srgbClr val="1a1a1a"/>
                </a:solidFill>
                <a:latin typeface="Arial"/>
              </a:rPr>
              <a:t>Torre Top-Hat: fortalezas complementarias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250" spc="-1" strike="noStrike">
                <a:solidFill>
                  <a:srgbClr val="555555"/>
                </a:solidFill>
                <a:latin typeface="Arial"/>
              </a:rPr>
              <a:t>Mejor configuración disco L5 (2° global, 5,00). Supera a Laplace en SSIM y SCD (significativo); iguala en Qabf y Nabf.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1"/>
              </a:spcBef>
              <a:spcAft>
                <a:spcPts val="2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03   </a:t>
            </a:r>
            <a:r>
              <a:rPr b="1" lang="en-US" sz="1400" spc="-1" strike="noStrike">
                <a:solidFill>
                  <a:srgbClr val="1a1a1a"/>
                </a:solidFill>
                <a:latin typeface="Arial"/>
              </a:rPr>
              <a:t>Sesgo intrínseco de la métrica MI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250" spc="-1" strike="noStrike">
                <a:solidFill>
                  <a:srgbClr val="555555"/>
                </a:solidFill>
                <a:latin typeface="Arial"/>
              </a:rPr>
              <a:t>El promedio gana MI per-imagen por su naturaleza lineal. Conviene reportar MI siempre acompañada de métricas de calidad global.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1"/>
              </a:spcBef>
              <a:spcAft>
                <a:spcPts val="2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04   </a:t>
            </a:r>
            <a:r>
              <a:rPr b="1" lang="en-US" sz="1400" spc="-1" strike="noStrike">
                <a:solidFill>
                  <a:srgbClr val="1a1a1a"/>
                </a:solidFill>
                <a:latin typeface="Arial"/>
              </a:rPr>
              <a:t>No hay método universalmente óptimo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250" spc="-1" strike="noStrike">
                <a:solidFill>
                  <a:srgbClr val="555555"/>
                </a:solidFill>
                <a:latin typeface="Arial"/>
              </a:rPr>
              <a:t>La elección depende del criterio operativo: equilibrio global (Laplace), fidelidad estructural / interpretabilidad (Top-Hat) o trazabilidad lineal (Promedio).</a:t>
            </a:r>
            <a:endParaRPr b="0" lang="es-A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CIERRE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Conclusiones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81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82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19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777240" y="1554480"/>
            <a:ext cx="10606680" cy="24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01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Torre Top-Hat (modo WTH) supera a la Pirámide de Laplace en fidelidad estructural (SSIM, SCD) e iguala en preservación de bordes (Qabf, Nabf).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02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Pirámide de Laplace logra el mejor ranking agregado (4,42) por contraste y VIF; Curvelet resulta el más débil al penalizar artefactos (Nabf).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03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Diferencias estadísticamente robustas: Friedman p &lt;&lt; 0,001 en las 12 métricas; Wilcoxon con corrección de Holm y tamaño de efecto.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04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La variante Black Top-Hat aumenta el contraste pero degrada la calidad y multiplica los artefactos (Nabf ×5): no se recomienda por defecto.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05   </a:t>
            </a:r>
            <a:r>
              <a:rPr b="0" lang="en-US" sz="1400" spc="-1" strike="noStrike">
                <a:solidFill>
                  <a:srgbClr val="1a1a1a"/>
                </a:solidFill>
                <a:latin typeface="Arial"/>
              </a:rPr>
              <a:t>Separar las reglas de fusión (detalle vs. base) es una decisión metodológica con impacto cuantitativo medible y transferible.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777240" y="475560"/>
            <a:ext cx="10636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2f5b7c"/>
                </a:solidFill>
                <a:latin typeface="Arial"/>
              </a:rPr>
              <a:t>CIERRE</a:t>
            </a:r>
            <a:endParaRPr b="0" lang="es-A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777240" y="786240"/>
            <a:ext cx="106369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1a1a1a"/>
                </a:solidFill>
                <a:latin typeface="Arial"/>
              </a:rPr>
              <a:t>Próximos pasos</a:t>
            </a:r>
            <a:endParaRPr b="0" lang="es-AR" sz="2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87" name="Connector 3"/>
          <p:cNvCxnSpPr/>
          <p:nvPr/>
        </p:nvCxnSpPr>
        <p:spPr>
          <a:xfrm>
            <a:off x="777240" y="6418800"/>
            <a:ext cx="10637280" cy="360"/>
          </a:xfrm>
          <a:prstGeom prst="straightConnector1">
            <a:avLst/>
          </a:prstGeom>
          <a:ln w="9525">
            <a:solidFill>
              <a:srgbClr val="cfcfcf"/>
            </a:solidFill>
            <a:round/>
          </a:ln>
        </p:spPr>
      </p:cxnSp>
      <p:sp>
        <p:nvSpPr>
          <p:cNvPr id="188" name="TextBox 4"/>
          <p:cNvSpPr/>
          <p:nvPr/>
        </p:nvSpPr>
        <p:spPr>
          <a:xfrm>
            <a:off x="777240" y="6473880"/>
            <a:ext cx="73148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Torre Top-Hat · Fusión VIS+IR — UCOM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9128520" y="6473880"/>
            <a:ext cx="228564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00" spc="-1" strike="noStrike">
                <a:solidFill>
                  <a:srgbClr val="8a8a8a"/>
                </a:solidFill>
                <a:latin typeface="Arial"/>
              </a:rPr>
              <a:t>20 / 21</a:t>
            </a:r>
            <a:endParaRPr b="0" lang="es-A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6"/>
          <p:cNvSpPr/>
          <p:nvPr/>
        </p:nvSpPr>
        <p:spPr>
          <a:xfrm>
            <a:off x="777240" y="1645920"/>
            <a:ext cx="10606680" cy="19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Corto plazo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350" spc="-1" strike="noStrike">
                <a:solidFill>
                  <a:srgbClr val="1a1a1a"/>
                </a:solidFill>
                <a:latin typeface="Arial"/>
              </a:rPr>
              <a:t>Probar reglas que usen el Black Top-Hat de forma selectiva sin introducir artefactos; cerrar la evaluación de detección con dataset etiquetado.</a:t>
            </a:r>
            <a:endParaRPr b="0" lang="es-A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spcAft>
                <a:spcPts val="3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Mediano plazo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350" spc="-1" strike="noStrike">
                <a:solidFill>
                  <a:srgbClr val="1a1a1a"/>
                </a:solidFill>
                <a:latin typeface="Arial"/>
              </a:rPr>
              <a:t>Reglas de fusión adaptativas (saliencia, regiones); comparación contra modelos profundos (FusionGAN, U2Fusion) como referencia.</a:t>
            </a:r>
            <a:endParaRPr b="0" lang="es-AR" sz="13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spcAft>
                <a:spcPts val="300"/>
              </a:spcAft>
            </a:pPr>
            <a:r>
              <a:rPr b="1" lang="en-US" sz="1400" spc="-1" strike="noStrike">
                <a:solidFill>
                  <a:srgbClr val="2f5b7c"/>
                </a:solidFill>
                <a:latin typeface="Arial"/>
              </a:rPr>
              <a:t>Antes de la defensa</a:t>
            </a:r>
            <a:endParaRPr b="0" lang="es-A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b="0" lang="en-US" sz="1350" spc="-1" strike="noStrike">
                <a:solidFill>
                  <a:srgbClr val="1a1a1a"/>
                </a:solidFill>
                <a:latin typeface="Arial"/>
              </a:rPr>
              <a:t>Formato definitivo según normas UCOM; revisión integral con el director; preparación de la defensa.</a:t>
            </a:r>
            <a:endParaRPr b="0" lang="es-A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" name="Connector 1"/>
          <p:cNvCxnSpPr/>
          <p:nvPr/>
        </p:nvCxnSpPr>
        <p:spPr>
          <a:xfrm>
            <a:off x="777240" y="2651760"/>
            <a:ext cx="10637280" cy="360"/>
          </a:xfrm>
          <a:prstGeom prst="straightConnector1">
            <a:avLst/>
          </a:prstGeom>
          <a:ln w="15240">
            <a:solidFill>
              <a:srgbClr val="1a1a1a"/>
            </a:solidFill>
            <a:round/>
          </a:ln>
        </p:spPr>
      </p:cxnSp>
      <p:sp>
        <p:nvSpPr>
          <p:cNvPr id="192" name="TextBox 2"/>
          <p:cNvSpPr/>
          <p:nvPr/>
        </p:nvSpPr>
        <p:spPr>
          <a:xfrm>
            <a:off x="777240" y="2834640"/>
            <a:ext cx="106369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1a1a1a"/>
                </a:solidFill>
                <a:latin typeface="Arial"/>
              </a:rPr>
              <a:t>Gracias</a:t>
            </a:r>
            <a:endParaRPr b="0" lang="es-A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3"/>
          <p:cNvSpPr/>
          <p:nvPr/>
        </p:nvSpPr>
        <p:spPr>
          <a:xfrm>
            <a:off x="777240" y="3840480"/>
            <a:ext cx="1063692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2f5b7c"/>
                </a:solidFill>
                <a:latin typeface="Arial"/>
              </a:rPr>
              <a:t>Discusión y comentarios</a:t>
            </a:r>
            <a:endParaRPr b="0" lang="es-A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777240" y="4754880"/>
            <a:ext cx="10636920" cy="5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1a1a1a"/>
                </a:solidFill>
                <a:latin typeface="Arial"/>
              </a:rPr>
              <a:t>Lic. Juan Pablo Bazán   ·   Ing. Yan Bajac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1a1a1a"/>
                </a:solidFill>
                <a:latin typeface="Arial"/>
              </a:rPr>
              <a:t>Director: D.Sc. Julio César Mello</a:t>
            </a:r>
            <a:endParaRPr b="0" lang="es-A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050" spc="-1" strike="noStrike">
                <a:solidFill>
                  <a:srgbClr val="8a8a8a"/>
                </a:solidFill>
                <a:latin typeface="Arial"/>
              </a:rPr>
              <a:t>UCOM — Maestría en Ciencias de Datos · 2026</a:t>
            </a:r>
            <a:endParaRPr b="0" lang="es-A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Application>LibreOffice/7.5.0.3$Windows_X86_64 LibreOffice_project/c21113d003cd3efa8c53188764377a8272d9d6de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es-AR</dc:language>
  <cp:lastModifiedBy/>
  <dcterms:modified xsi:type="dcterms:W3CDTF">2026-06-15T17:31:31Z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