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4" r:id="rId25"/>
    <p:sldId id="275" r:id="rId26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731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UNIVERSIDAD COMUNERA — UCOM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Ciencias de Datos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Fusión de Imágenes Infrarrojas y Visibles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mediante Morfología Matemática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914400" y="3931920"/>
            <a:ext cx="3657600" cy="0"/>
          </a:xfrm>
          <a:prstGeom prst="line">
            <a:avLst/>
          </a:prstGeom>
          <a:noFill/>
          <a:ln w="38100">
            <a:solidFill>
              <a:srgbClr val="D4A01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propuesta basada en la Torre Top-Hat multiescala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51206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Lic. Juan Pablo Bazán   ·   Ing. Yan Bajac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486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D.Sc. Julio César Mello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62179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tesis  ·  Asunción, abril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97280" y="14630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9728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83080" y="14630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y objetivos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97280" y="205740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783080" y="20574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 — Torre Top-Hat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97280" y="265176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97280" y="2651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783080" y="265176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experimental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97280" y="324612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9728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83080" y="32461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metodológico (refinamiento)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097280" y="384048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9728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783080" y="38404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cuantitativos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97280" y="44348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097280" y="4434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783080" y="44348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estadístico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097280" y="502920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097280" y="5029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783080" y="50292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próximos pasos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Problema y contexto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qué fusionar VIS + IR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5943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VIS: alta resolución textural y color, sensible a iluminación adversa (noche, niebla, humo).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IR: robusto a oscuridad y oclusores atmosféricos, pero baja resolución y poca textura.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fusión integra ambas modalidades en una sola representación útil para vigilancia, conducción autónoma e inspección industrial.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949440" y="1280160"/>
            <a:ext cx="45720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949440" y="1280160"/>
            <a:ext cx="91440" cy="41148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223760" y="1463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Brecha en la literatura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23760" y="201168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morfología matemática preserva geometría con bajo costo computacional…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…pero los trabajos previos suelen restringirse a una única escala o un único elemento estructurante.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estudio sistemático que articule SE × niveles × radio, contrastado contra baselines clásicos.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tesis aborda esa brecha con un benchmark factorial de 36 configuraciones × 20 pares VIS/IR.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Objetivos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280160"/>
            <a:ext cx="10881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1280160"/>
            <a:ext cx="91440" cy="1371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1417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 general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17830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Proponer y evaluar un método de fusión VIS+IR basado en una Torre Top-Hat morfológica multiescala, comparándolo cuantitativa y estadísticamente con métodos clásicos del estado del arte sobre el TNO Image Fusion Dataset.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Objetivos específicos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3520440"/>
            <a:ext cx="640080" cy="45720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3520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45920" y="35204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la Torre Top-Hat con SE disco/cuadrado/cruz, niveles 2–5 y radio base 2/3/5.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4160520"/>
            <a:ext cx="640080" cy="45720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41605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exhaustivo de las 36 configuraciones sobre 20 pares VIS/IR.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4800600"/>
            <a:ext cx="640080" cy="45720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2960" y="4800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45920" y="48006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contra Promedio, Pirámide de Laplace y Curvelet.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22960" y="5440680"/>
            <a:ext cx="640080" cy="45720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22960" y="5440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645920" y="54406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diferencias con Friedman + Wilcoxon pareado y construir un ranking global.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Marco teórico — Transformada Top-Hat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Transformada White Top-Hat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WTH(f, b) = f − γ(f, b)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= apertura morfológica = δ(ε(f, b), b)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Aísla estructuras brillantes locales menores que el SE b.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siempre no-negativa; se anula donde la imagen es plana a la escala del SE.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280160"/>
            <a:ext cx="51206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83680" y="14173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Decisión de diseño central: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elemento estructurante (SE)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1945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geometría y el radio del SE definen qué orientaciones, simetrías y escalas se preservan o eliminan.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0" y="320040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67512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95360" y="3200400"/>
            <a:ext cx="914400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41248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Cuadrado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424160" y="3566160"/>
            <a:ext cx="914400" cy="1828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0789920" y="3200400"/>
            <a:ext cx="182880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24128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Torre Top-Hat encadena varias de estas transformadas con SE de radio creciente para extraer detalles a múltiples escalas.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Torre Top-Hat — método propuesto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1000" dirty="0"/>
          </a:p>
        </p:txBody>
      </p:sp>
      <p:pic>
        <p:nvPicPr>
          <p:cNvPr id="7" name="Image 0" descr="/sessions/modest-affectionate-curie/mnt/mastertesis/tesis_mciencias_datos/docs/figures/fig_esquema_torre_top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858000" cy="4114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680960" y="1188720"/>
            <a:ext cx="40233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786384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Reglas de fusión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863840" y="1828800"/>
            <a:ext cx="3657600" cy="128016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955280" y="187452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 DE DETALLE (WTH)
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por máxima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local por pixel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(media gaussiana de |WTH|)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863840" y="3246120"/>
            <a:ext cx="3657600" cy="128016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955280" y="329184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BASE (residual)
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Promedio simple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(ambas fuentes contribuyen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a la iluminación global)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863840" y="4617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base_F + Σₖ WTHₖ − Σₖ BTHₖ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WTH (por defecto): el término BTH es nulo. Modo WTH+BTH: el detalle oscuro se resta. Separar detalle y base es crítico.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Diseño experimental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28016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4173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VIS/IR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520440" y="128016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20440" y="14173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3520440" y="2331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configuraciones Top-Hat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0" y="128016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0" y="14173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6400800" y="2331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comparados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281160" y="128016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281160" y="14173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9281160" y="2331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no-reference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108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Estudio 1 — Benchmark factorial de la Torre Top-Hat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35204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∈ {disco, cuadrado, cruz}  ×  Niveles ∈ {2, 3, 4, 5}  ×  r₀ ∈ {2, 3, 5}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36 × 20 = 720 fusiones; 720 × 6 = 4.320 mediciones.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572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Estudio 2 — Comparación inter-método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" y="498348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Métodos: Promedio · Pirámide Laplace · Curvelet · 4 configs Top-Hat WTH · 4 variantes WTH+BTH. 12 métricas (6 clásicas + 6 estándar de calidad).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Dataset — TNO Image Fusion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TNO Multiband Image Data Collection (Toet, 2014). 20 pares seleccionados.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Escenas: vehículos blindados, soldados detrás de humo, escenas urbanas, exteriores.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ya alineados espacialmente; se cargan en escala de grises y se normalizan a [0, 1].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Resoluciones del orden de 360×270 a 768×576 píxeles.</a:t>
            </a:r>
            <a:endParaRPr lang="en-US" sz="1400" dirty="0"/>
          </a:p>
        </p:txBody>
      </p:sp>
      <p:pic>
        <p:nvPicPr>
          <p:cNvPr id="8" name="Image 0" descr="/sessions/modest-affectionate-curie/mnt/mastertesis/tesis_mciencias_datos/docs/figures/fig_qualitative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91840"/>
            <a:ext cx="11064240" cy="30175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 pares VIS / IR + comparación cualitativa de los principales métodos.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Refinamiento metodológico — Identificación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280160"/>
            <a:ext cx="10881360" cy="6400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12801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Durante la revisión iterativa del código se identificó un sesgo metodológico en la regla de fusión.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194560"/>
            <a:ext cx="5349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" y="2194560"/>
            <a:ext cx="5349240" cy="457200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24028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91B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Versión inicial (sesgada)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743200"/>
            <a:ext cx="5166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Max-actividad aplicada a TODAS las capas, incluida la base.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 base (componente de baja frecuencia) se elegía pixel a pixel entre VIS e IR.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discontinuidades de iluminación entre pixeles vecinos.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métricas de información mutua (MI_vis, MI_ir) quedaban infladas artificialmente: la fusionada "se parecía" a una de las dos fuentes en cada zona.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2194560"/>
            <a:ext cx="5349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172200" y="2194560"/>
            <a:ext cx="5349240" cy="457200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355080" y="224028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F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Versión corregida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55080" y="2743200"/>
            <a:ext cx="5166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distintas para detalles vs. base.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Detalles WTH: max-actividad local (preserva detalle saliente).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Base: PROMEDIO (mantiene la iluminación global sin saltos).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Coherente con la práctica de Burt-Adelson y la literatura clásica de fusión multiescala.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Verificación: la descomposición sin BTH reconstruye f exactamente (error 0.00e+00).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refinamiento cambió las conclusiones cuantitativas de la tesis (siguiente diapositiva).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Refinamiento metodológico — Impacto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34440"/>
          <a:ext cx="10698480" cy="914400"/>
        </p:xfrm>
        <a:graphic>
          <a:graphicData uri="http://schemas.openxmlformats.org/drawingml/2006/table">
            <a:tbl>
              <a:tblPr/>
              <a:tblGrid>
                <a:gridCol w="4297680"/>
                <a:gridCol w="3200400"/>
                <a:gridCol w="3200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Indicador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Versión inicial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Versión corregida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Ranking Pirámide de Laplace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2.03  (más clara líder)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 configuración Top-Hat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cross_L3 (rank 3.33)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disk_L5 (rank 3.28)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Ganador per-imagen en MI_ir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Top-Hat (artificial)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Promedio (linealidad)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Reconstrucción exacta de 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Sí, telescoping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Sí, telescoping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Saltos de iluminación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9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31520" y="4937760"/>
            <a:ext cx="106984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31520" y="4937760"/>
            <a:ext cx="91440" cy="14630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14400" y="50292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Lectura honesta: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53949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Torre Top-Hat ya no domina MI por construcción del bug. Pirámide de Laplace pasa a liderar 5 de 6 métricas en valor medio (Curvelet gana MG). El promedio simple, por su naturaleza lineal F=(V+I)/2, conserva información de ambas fuentes y compite en MI per-imagen (gana MI_ir en el ranking por bloques). La Torre Top-Hat queda en posición media-alta como método clásico interpretable competitivo.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Resultados — Promedios por método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881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Método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EN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MI_vis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MI_ir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Promedio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Curvelet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6.6645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Pirámide Laplace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Top-Hat disco L=3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6.6765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Top-Hat cuadrado L=3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6.6901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Top-Hat cruz L=3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6.6632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Top-Hat disco L=5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6.7217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074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= mejor por columna en valor medio. Pirámide Laplace lidera 5 de 6 métricas (Curvelet gana MG). En ranking per-imagen, Promedio gana MI_ir y Curvelet gana MG (ver slide 13).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5577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Top-Hat disco L=5 lidera entre las configuraciones morfológicas en EN, SD, FE y MG.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diferencias absolutas entre las 4 configuraciones Top-Hat son modestas (&lt; 0.06 en EN).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Aunque Laplace tenga MI_vis media más alta, el Promedio es más consistente per-imagen (alta varianza de Laplace en algunos pares).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Resultados — Distribución por método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1000" dirty="0"/>
          </a:p>
        </p:txBody>
      </p:sp>
      <p:pic>
        <p:nvPicPr>
          <p:cNvPr id="7" name="Image 0" descr="/sessions/modest-affectionate-curie/mnt/mastertesis/tesis_mciencias_datos/docs/figures/fig_boxplot_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124712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distribución (no solo el promedio) muestra que las diferencias en EN, SD, FE y MG entre métodos son sólidas; en MI la dispersión es alta y favorece al Promedio.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 Análisis estadístico — Friedman + Ranking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Prueba de Friedman global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Métrica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χ²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p-valor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8.4e-29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3.1e-33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8.4e-29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5.5e-36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MI_vis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159.67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3.8e-29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MI_ir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1.3e-26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4937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doce métricas resultan altamente significativas (p &lt;&lt; 0,001); se muestran seis.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0" y="12801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Ranking global (menor es mejor)</a:t>
            </a:r>
            <a:endParaRPr lang="en-US" sz="1800" dirty="0"/>
          </a:p>
        </p:txBody>
      </p:sp>
      <p:pic>
        <p:nvPicPr>
          <p:cNvPr id="11" name="Image 0" descr="/sessions/modest-affectionate-curie/mnt/mastertesis/tesis_mciencias_datos/docs/figures/fig_ranking_glob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828800"/>
            <a:ext cx="5577840" cy="37185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217920" y="5380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Pirámide de Laplace lidera el agregado (4.42); la mejor Top-Hat WTH es disco L=5 (5.00), muy próxima.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 Benchmark exhaustivo Top-Hat (36 configs)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1000" dirty="0"/>
          </a:p>
        </p:txBody>
      </p:sp>
      <p:pic>
        <p:nvPicPr>
          <p:cNvPr id="7" name="Image 0" descr="/sessions/modest-affectionate-curie/mnt/mastertesis/tesis_mciencias_datos/docs/figures/fig_heatmap_top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88720"/>
            <a:ext cx="11430000" cy="5029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EN/SD/FE crecen con niveles y radio (máx. en cuadrado L=5 r=5). MG óptimo en disco L=5 r=3. MI_vis/MI_ir favorecen configuraciones someras (L=2). Diferencias modestas: el método es robusto al hiperparámetro dentro del rango explorado.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Resultados — métricas estándar de calidad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1000" dirty="0"/>
          </a:p>
        </p:txBody>
      </p:sp>
      <p:pic>
        <p:nvPicPr>
          <p:cNvPr id="7" name="Image 0" descr="/sessions/modest-affectionate-curie/mnt/mastertesis/tesis_mciencias_datos/docs/figures/fig_heatmap_top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050000"/>
            <a:ext cx="9753600" cy="5201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Figura. Qabf, Nabf, SSIM, SCD, VIF y SF por método. La Top-Hat WTH lidera SSIM y SCD y genera menos artefactos (Nabf) entre los multiescala; las variantes +BTH disparan el Nabf.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Efecto de la variante Black Top-Hat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1000" dirty="0"/>
          </a:p>
        </p:txBody>
      </p:sp>
      <p:pic>
        <p:nvPicPr>
          <p:cNvPr id="7" name="Image 0" descr="/sessions/modest-affectionate-curie/mnt/mastertesis/tesis_mciencias_datos/docs/figures/fig_heatmap_top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430000" cy="4191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 Black Top-Hat sube contraste y actividad (EN, SD, SF, MG) pero degrada la calidad (Qabf, SSIM, VIF, MI) y multiplica los artefactos (Nabf +427%). No se recomienda por defecto.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 Discusión integrada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280160"/>
            <a:ext cx="53492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1280160"/>
            <a:ext cx="91440" cy="21488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68680" y="14173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554480" y="1417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Pirámide de Laplace, baseline a vencer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Encabeza el ranking agregado (4.42) por su ventaja en contraste (SD) y fidelidad perceptual (VIF). No domina en fidelidad estructural.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280160"/>
            <a:ext cx="53492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72200" y="1280160"/>
            <a:ext cx="91440" cy="21488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0" y="14173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086600" y="1417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Torre Top-Hat: fortalezas complementarias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4652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config. disco L=5 (2° global, 5.00). Supera a Laplace en SSIM y SCD (significativo); iguala en Qabf y Nabf.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611880"/>
            <a:ext cx="53492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3611880"/>
            <a:ext cx="91440" cy="21488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68680" y="37490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554480" y="37490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Sesgo intrínseco de la métrica MI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" y="43891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Pirámide Laplace lidera MI en media, pero el promedio gana MI_ir per-imagen por su naturaleza lineal. Conviene reportar MI siempre con desviación y acompañada de métricas de calidad global.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72200" y="3611880"/>
            <a:ext cx="53492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172200" y="3611880"/>
            <a:ext cx="91440" cy="21488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400800" y="37490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086600" y="37490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hay método universalmente óptimo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46520" y="43891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elección debe orientarse por el criterio operativo dominante: equilibrio global (Laplace), interpretabilidad morfológica (Top-Hat), o trazabilidad lineal (Promedio).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22960" y="14630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13716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Torre Top-Hat (modo WTH) supera a la Pirámide de Laplace en fidelidad estructural (SSIM, SCD) e iguala en preservación de bordes (Qabf, Nabf). Mejor config.: disco L=5.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3317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224028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Pirámide de Laplace logra el mejor ranking agregado (4.42) por contraste y VIF; Curvelet resulta el más débil al penalizar artefactos (Nabf).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32004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54480" y="310896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Diferencias estadísticamente robustas: Friedman p &lt;&lt; 0,001 en las 12 métricas; Wilcoxon con corrección de Holm y tamaño de efecto.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" y="40690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2296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39776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variante Black Top-Hat aumenta el contraste pero degrada la calidad (Qabf, SSIM, VIF) y multiplica los artefactos (Nabf ×5): no se recomienda por defecto.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" y="49377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2960" y="4937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54480" y="48463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separación de reglas (max-actividad para detalles, promedio para base) es una decisión metodológica con impacto cuantitativo medible — aprendizaje transferible.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Próximos pasos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280160"/>
            <a:ext cx="352044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1280160"/>
            <a:ext cx="3520440" cy="7315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Corto plazo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Próximas 2-3 semanas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2194560"/>
            <a:ext cx="32461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Hecho: variante WTH+BTH evaluada (sube contraste, baja calidad). Probar reglas que usen el BTH de forma selectiva sin introducir artefactos.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43400" y="1280160"/>
            <a:ext cx="352044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343400" y="1280160"/>
            <a:ext cx="3520440" cy="7315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2628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Mediano plazo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Próximas 4-6 semanas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0" y="2194560"/>
            <a:ext cx="32461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 reglas de fusión adaptativas (saliencia, regiones).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contra modelos profundos preentrenados (FusionGAN, U2Fusion) como referencia complementaria.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redacción de capítulos pendientes y revisión integral del borrador.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46720" y="1280160"/>
            <a:ext cx="352044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046720" y="1280160"/>
            <a:ext cx="3520440" cy="7315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2960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Apertura final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defensa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75320" y="2194560"/>
            <a:ext cx="32461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definitivo según normas UCOM.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Pase de revisión con el director.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de defensa.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¡Gracias!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Discusión y comentarios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166360" y="4754880"/>
            <a:ext cx="1828800" cy="0"/>
          </a:xfrm>
          <a:prstGeom prst="line">
            <a:avLst/>
          </a:prstGeom>
          <a:noFill/>
          <a:ln w="38100">
            <a:solidFill>
              <a:srgbClr val="D4A01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51206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Lic. Juan Pablo Bazán   ·   Ing. Yan Bajac
</a:t>
            </a:r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Director: D.Sc. Julio César Mello
</a:t>
            </a:r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UCOM — Maestría en Ciencias de Datos · 2026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Fusión VIS+IR — Avance de Tesis</dc:title>
  <dc:subject>PptxGenJS Presentation</dc:subject>
  <dc:creator>Lic. Juan Pablo Bazán; Ing. Yan Bajac</dc:creator>
  <cp:lastModifiedBy>Lic. Juan Pablo Bazán; Ing. Yan Bajac</cp:lastModifiedBy>
  <cp:revision>1</cp:revision>
  <dcterms:created xsi:type="dcterms:W3CDTF">2026-04-28T19:52:49Z</dcterms:created>
  <dcterms:modified xsi:type="dcterms:W3CDTF">2026-04-28T19:52:49Z</dcterms:modified>
</cp:coreProperties>
</file>